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99" r:id="rId3"/>
    <p:sldId id="257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86" r:id="rId18"/>
    <p:sldId id="287" r:id="rId19"/>
    <p:sldId id="288" r:id="rId20"/>
    <p:sldId id="271" r:id="rId21"/>
    <p:sldId id="272" r:id="rId22"/>
    <p:sldId id="282" r:id="rId23"/>
    <p:sldId id="285" r:id="rId24"/>
    <p:sldId id="289" r:id="rId25"/>
    <p:sldId id="290" r:id="rId26"/>
    <p:sldId id="291" r:id="rId27"/>
    <p:sldId id="292" r:id="rId28"/>
    <p:sldId id="283" r:id="rId29"/>
    <p:sldId id="284" r:id="rId3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tags" Target="tags/tag1.xml" /><Relationship Id="rId32" Type="http://schemas.openxmlformats.org/officeDocument/2006/relationships/presProps" Target="presProps.xml" /><Relationship Id="rId33" Type="http://schemas.openxmlformats.org/officeDocument/2006/relationships/viewProps" Target="viewProps.xml" /><Relationship Id="rId34" Type="http://schemas.openxmlformats.org/officeDocument/2006/relationships/theme" Target="theme/theme1.xml" /><Relationship Id="rId35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备注占位符 2"/>
          <p:cNvSpPr txBox="1"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r>
              <a:rPr lang="zh-CN" altLang="en-US" smtClean="0"/>
              <a:t>首页外框字体为：方正呐喊体</a:t>
            </a:r>
          </a:p>
          <a:p>
            <a:pPr>
              <a:spcBef>
                <a:spcPct val="0"/>
              </a:spcBef>
            </a:pPr>
            <a:r>
              <a:rPr lang="zh-CN" altLang="en-US" smtClean="0"/>
              <a:t>另外使用：方正静蕾简体</a:t>
            </a: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defTabSz="1217930" fontAlgn="base">
              <a:spcBef>
                <a:spcPct val="0"/>
              </a:spcBef>
              <a:spcAft>
                <a:spcPct val="0"/>
              </a:spcAft>
            </a:pPr>
            <a:fld id="{179F6475-94D3-427C-8F05-E537162B2147}" type="slidenum">
              <a:rPr lang="zh-CN" altLang="en-US">
                <a:cs typeface="方正静蕾简体"/>
              </a:rPr>
              <a:t>1</a:t>
            </a:fld>
            <a:endParaRPr lang="zh-CN" altLang="en-US">
              <a:cs typeface="方正静蕾简体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</a:ln>
        </p:spPr>
      </p:pic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image" Target="file:///D:\qq&#25991;&#20214;\712321467\Image\C2C\Image2\%7b75232B38-A165-1FB7-499C-2E1C792CACB5%7d.png" TargetMode="External" /><Relationship Id="rId32" Type="http://schemas.openxmlformats.org/officeDocument/2006/relationships/image" Target="../media/image2.png" /><Relationship Id="rId33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32" r:link="rId31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Relationship Id="rId3" Type="http://schemas.openxmlformats.org/officeDocument/2006/relationships/image" Target="../media/image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4.png" /><Relationship Id="rId3" Type="http://schemas.openxmlformats.org/officeDocument/2006/relationships/image" Target="../media/image6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Relationship Id="rId3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image" Target="../media/image4.png" /><Relationship Id="rId3" Type="http://schemas.openxmlformats.org/officeDocument/2006/relationships/image" Target="../media/image8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4.png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4.png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image" Target="../media/image4.png" /><Relationship Id="rId3" Type="http://schemas.openxmlformats.org/officeDocument/2006/relationships/image" Target="../media/image21.png" /><Relationship Id="rId4" Type="http://schemas.openxmlformats.org/officeDocument/2006/relationships/image" Target="../media/image2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4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4.png" /><Relationship Id="rId3" Type="http://schemas.openxmlformats.org/officeDocument/2006/relationships/image" Target="../media/image26.png" /><Relationship Id="rId4" Type="http://schemas.openxmlformats.org/officeDocument/2006/relationships/image" Target="../media/image2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4.png" /><Relationship Id="rId4" Type="http://schemas.openxmlformats.org/officeDocument/2006/relationships/image" Target="../media/image28.png" /><Relationship Id="rId5" Type="http://schemas.openxmlformats.org/officeDocument/2006/relationships/image" Target="../media/image29.png" /><Relationship Id="rId6" Type="http://schemas.openxmlformats.org/officeDocument/2006/relationships/image" Target="../media/image3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4.png" /><Relationship Id="rId3" Type="http://schemas.openxmlformats.org/officeDocument/2006/relationships/image" Target="../media/image31.png" /><Relationship Id="rId4" Type="http://schemas.openxmlformats.org/officeDocument/2006/relationships/image" Target="../media/image32.png" /><Relationship Id="rId5" Type="http://schemas.openxmlformats.org/officeDocument/2006/relationships/image" Target="../media/image3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4.png" /><Relationship Id="rId3" Type="http://schemas.openxmlformats.org/officeDocument/2006/relationships/image" Target="../media/image34.png" /><Relationship Id="rId4" Type="http://schemas.openxmlformats.org/officeDocument/2006/relationships/image" Target="../media/image35.png" /><Relationship Id="rId5" Type="http://schemas.openxmlformats.org/officeDocument/2006/relationships/image" Target="../media/image33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36.png" /><Relationship Id="rId4" Type="http://schemas.openxmlformats.org/officeDocument/2006/relationships/image" Target="../media/image37.png" /><Relationship Id="rId5" Type="http://schemas.openxmlformats.org/officeDocument/2006/relationships/image" Target="../media/image33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38.png" /><Relationship Id="rId4" Type="http://schemas.openxmlformats.org/officeDocument/2006/relationships/image" Target="../media/image39.png" /><Relationship Id="rId5" Type="http://schemas.openxmlformats.org/officeDocument/2006/relationships/image" Target="../media/image40.png" /><Relationship Id="rId6" Type="http://schemas.openxmlformats.org/officeDocument/2006/relationships/image" Target="../media/image41.png" /><Relationship Id="rId7" Type="http://schemas.openxmlformats.org/officeDocument/2006/relationships/image" Target="../media/image42.png" /><Relationship Id="rId8" Type="http://schemas.openxmlformats.org/officeDocument/2006/relationships/image" Target="../media/image4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image" Target="../media/image4.png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image" Target="../media/image4.png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7.png" /><Relationship Id="rId6" Type="http://schemas.openxmlformats.org/officeDocument/2006/relationships/image" Target="../media/image4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image" Target="../media/image4.png" /><Relationship Id="rId3" Type="http://schemas.openxmlformats.org/officeDocument/2006/relationships/image" Target="../media/image50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5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image" Target="../media/image4.png" /><Relationship Id="rId3" Type="http://schemas.openxmlformats.org/officeDocument/2006/relationships/image" Target="../media/image58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" name="图片 2" title=""/>
          <p:cNvPicPr>
            <a:picLocks noChangeAspect="1"/>
          </p:cNvPicPr>
          <p:nvPr/>
        </p:nvPicPr>
        <p:blipFill>
          <a:blip r:embed="rId3"/>
          <a:srcRect l="584" r="584" b="9232"/>
          <a:stretch>
            <a:fillRect/>
          </a:stretch>
        </p:blipFill>
        <p:spPr bwMode="auto">
          <a:xfrm>
            <a:off x="0" y="5586413"/>
            <a:ext cx="12192000" cy="1271587"/>
          </a:xfrm>
          <a:prstGeom prst="rect">
            <a:avLst/>
          </a:prstGeom>
          <a:noFill/>
          <a:ln w="9525">
            <a:noFill/>
            <a:miter lim="800000"/>
          </a:ln>
        </p:spPr>
      </p:pic>
      <p:grpSp>
        <p:nvGrpSpPr>
          <p:cNvPr id="12" name="组合 11" title=""/>
          <p:cNvGrpSpPr/>
          <p:nvPr/>
        </p:nvGrpSpPr>
        <p:grpSpPr>
          <a:xfrm>
            <a:off x="3444872" y="3083599"/>
            <a:ext cx="5686631" cy="2095786"/>
            <a:chOff x="6048" y="5127"/>
            <a:chExt cx="7381" cy="2885"/>
          </a:xfrm>
        </p:grpSpPr>
        <p:sp>
          <p:nvSpPr>
            <p:cNvPr id="4" name="文本1"/>
            <p:cNvSpPr txBox="1"/>
            <p:nvPr/>
          </p:nvSpPr>
          <p:spPr>
            <a:xfrm>
              <a:off x="6048" y="6190"/>
              <a:ext cx="7052" cy="1822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4000" b="0" i="0">
                  <a:solidFill>
                    <a:schemeClr val="bg1">
                      <a:alpha val="100000"/>
                    </a:schemeClr>
                  </a:solidFill>
                  <a:latin typeface="隶书" panose="02010509060101010101" charset="-122"/>
                  <a:ea typeface="隶书" panose="02010509060101010101" charset="-122"/>
                </a:rPr>
                <a:t>湘教版数学必修第二册 </a:t>
              </a:r>
              <a:endParaRPr lang="zh-CN" altLang="en-US" sz="4000" b="0" i="0">
                <a:solidFill>
                  <a:schemeClr val="bg1">
                    <a:alpha val="100000"/>
                  </a:schemeClr>
                </a:solidFill>
                <a:latin typeface="隶书" panose="02010509060101010101" charset="-122"/>
                <a:ea typeface="隶书" panose="02010509060101010101" charset="-122"/>
              </a:endParaRPr>
            </a:p>
          </p:txBody>
        </p:sp>
        <p:sp>
          <p:nvSpPr>
            <p:cNvPr id="8" name="文本2"/>
            <p:cNvSpPr txBox="1"/>
            <p:nvPr/>
          </p:nvSpPr>
          <p:spPr>
            <a:xfrm>
              <a:off x="6242" y="5127"/>
              <a:ext cx="7187" cy="118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200"/>
                </a:lnSpc>
              </a:pPr>
              <a:r>
                <a:rPr lang="en-US" altLang="zh-CN" sz="3600" b="0" i="0">
                  <a:solidFill>
                    <a:schemeClr val="bg1">
                      <a:alpha val="100000"/>
                    </a:schemeClr>
                  </a:solidFill>
                  <a:latin typeface="隶书" panose="02010509060101010101" charset="-122"/>
                  <a:ea typeface="隶书" panose="02010509060101010101" charset="-122"/>
                </a:rPr>
                <a:t>     </a:t>
              </a:r>
              <a:r>
                <a:rPr lang="zh-CN" altLang="en-US" sz="4000" b="0" i="0">
                  <a:solidFill>
                    <a:schemeClr val="bg1">
                      <a:alpha val="100000"/>
                    </a:schemeClr>
                  </a:solidFill>
                  <a:latin typeface="隶书" panose="02010509060101010101" charset="-122"/>
                  <a:ea typeface="隶书" panose="02010509060101010101" charset="-122"/>
                </a:rPr>
                <a:t>第</a:t>
              </a:r>
              <a:r>
                <a:rPr lang="en-US" altLang="zh-CN" sz="4000" b="0" i="0">
                  <a:solidFill>
                    <a:schemeClr val="bg1">
                      <a:alpha val="100000"/>
                    </a:schemeClr>
                  </a:solidFill>
                  <a:latin typeface="隶书" panose="02010509060101010101" charset="-122"/>
                  <a:ea typeface="隶书" panose="02010509060101010101" charset="-122"/>
                </a:rPr>
                <a:t>3</a:t>
              </a:r>
              <a:r>
                <a:rPr lang="zh-CN" altLang="en-US" sz="4000" b="0" i="0">
                  <a:solidFill>
                    <a:schemeClr val="bg1">
                      <a:alpha val="100000"/>
                    </a:schemeClr>
                  </a:solidFill>
                  <a:latin typeface="隶书" panose="02010509060101010101" charset="-122"/>
                  <a:ea typeface="隶书" panose="02010509060101010101" charset="-122"/>
                </a:rPr>
                <a:t>章 复数</a:t>
              </a:r>
              <a:endParaRPr lang="zh-CN" altLang="en-US" sz="4000" b="0" i="0">
                <a:solidFill>
                  <a:schemeClr val="bg1">
                    <a:alpha val="100000"/>
                  </a:schemeClr>
                </a:solidFill>
                <a:latin typeface="隶书" panose="02010509060101010101" charset="-122"/>
                <a:ea typeface="隶书" panose="02010509060101010101" charset="-122"/>
              </a:endParaRPr>
            </a:p>
          </p:txBody>
        </p:sp>
      </p:grpSp>
      <p:sp>
        <p:nvSpPr>
          <p:cNvPr id="5" name="形状1" title=""/>
          <p:cNvSpPr txBox="1"/>
          <p:nvPr/>
        </p:nvSpPr>
        <p:spPr>
          <a:xfrm>
            <a:off x="1909883" y="1875606"/>
            <a:ext cx="8372151" cy="83099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  <p:txBody>
          <a:bodyPr anchor="t"/>
          <a:lstStyle/>
          <a:p>
            <a:pPr marL="0" algn="ctr">
              <a:lnSpc>
                <a:spcPts val="6000"/>
              </a:lnSpc>
            </a:pPr>
            <a:r>
              <a:rPr lang="zh-CN" altLang="en-US" sz="6000">
                <a:solidFill>
                  <a:schemeClr val="bg1">
                    <a:alpha val="100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3.3 复数的几何表示</a:t>
            </a:r>
            <a:endParaRPr lang="zh-CN" altLang="en-US" sz="6000">
              <a:solidFill>
                <a:schemeClr val="bg1">
                  <a:alpha val="100000"/>
                </a:schemeClr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问题引入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6" name="文本2" title=""/>
          <p:cNvSpPr txBox="1"/>
          <p:nvPr/>
        </p:nvSpPr>
        <p:spPr>
          <a:xfrm>
            <a:off x="542925" y="704717"/>
            <a:ext cx="10202675" cy="98835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62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问题1：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实数与什么一一对应？</a:t>
            </a:r>
            <a:endParaRPr lang="zh-CN" altLang="en-US" sz="2800" b="0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3" title=""/>
          <p:cNvSpPr txBox="1"/>
          <p:nvPr/>
        </p:nvSpPr>
        <p:spPr>
          <a:xfrm>
            <a:off x="543420" y="3147632"/>
            <a:ext cx="10202675" cy="98835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62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问题2：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复数应该与什么建立一一对应的联系呢？         </a:t>
            </a:r>
            <a:endParaRPr lang="zh-CN" altLang="en-US" sz="2800" b="0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3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92" y="1923831"/>
            <a:ext cx="3790950" cy="10763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6" name="文本2" title=""/>
          <p:cNvSpPr txBox="1"/>
          <p:nvPr/>
        </p:nvSpPr>
        <p:spPr>
          <a:xfrm>
            <a:off x="596989" y="501586"/>
            <a:ext cx="2728373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复数的几何意义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形状2" title=""/>
          <p:cNvSpPr txBox="1"/>
          <p:nvPr/>
        </p:nvSpPr>
        <p:spPr>
          <a:xfrm>
            <a:off x="7485380" y="3204845"/>
            <a:ext cx="4253230" cy="635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3" title=""/>
          <p:cNvSpPr txBox="1"/>
          <p:nvPr/>
        </p:nvSpPr>
        <p:spPr>
          <a:xfrm flipV="1">
            <a:off x="733425" y="3691890"/>
            <a:ext cx="4979670" cy="127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文本框 12" title=""/>
          <p:cNvSpPr txBox="1"/>
          <p:nvPr/>
        </p:nvSpPr>
        <p:spPr>
          <a:xfrm>
            <a:off x="332105" y="1188085"/>
            <a:ext cx="11491595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根据复数相等的定义，任何一个复数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z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＝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err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i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∈</a:t>
            </a:r>
            <a:r>
              <a:rPr lang="en-US" altLang="zh-CN" sz="2400" b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R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9_41aaa,isEnd"/>
              </a:rPr>
              <a:t>，都可以由一个有序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实数对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28_0064c,isEnd"/>
              </a:rPr>
              <a:t>唯一确定，并且任给一个复数也可以唯一确定一个有序实数对，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所以复数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z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＝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err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i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与有序实数对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是一一对应的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.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而有序实数对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_⨹_1_7cbc5,isEnd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36_01d7e,isEnd"/>
              </a:rPr>
              <a:t>与平面直角坐标系中的点是一一对应的，所以复数集与平面直角坐标系中的点集之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间可以建立一一对应关系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,isEnd"/>
              </a:rPr>
              <a:t>.</a:t>
            </a:r>
            <a:endParaRPr lang="en-US" altLang="zh-CN" sz="2400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  <a:sym typeface=",isEnd"/>
            </a:endParaRPr>
          </a:p>
        </p:txBody>
      </p:sp>
      <p:sp>
        <p:nvSpPr>
          <p:cNvPr id="14" name="文本框 13" title=""/>
          <p:cNvSpPr txBox="1"/>
          <p:nvPr/>
        </p:nvSpPr>
        <p:spPr>
          <a:xfrm>
            <a:off x="733425" y="4242435"/>
            <a:ext cx="5469255" cy="2001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如图，点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Z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的横坐标是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，纵坐标是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，复数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z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＝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err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i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∈</a:t>
            </a:r>
            <a:r>
              <a:rPr lang="en-US" altLang="zh-CN" sz="2400" b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R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可用点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Z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_⨹_1_fe7d7,isEnd"/>
              </a:rPr>
              <a:t> </a:t>
            </a:r>
            <a:b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</a:b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a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b</a:t>
            </a:r>
            <a:r>
              <a:rPr lang="en-US" altLang="zh-CN" sz="1500" i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lang="zh-CN" altLang="zh-CN" sz="24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zh-CN" sz="2400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+mn-ea"/>
              </a:rPr>
              <a:t>表示</a:t>
            </a:r>
            <a:r>
              <a:rPr lang="en-US" altLang="zh-CN" sz="24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  <a:sym typeface="+mn-ea"/>
              </a:rPr>
              <a:t>.</a:t>
            </a:r>
            <a:endParaRPr lang="en-US" altLang="zh-CN" sz="2400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15300" name="yt_image_15300" title="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94830" y="3603625"/>
            <a:ext cx="3442335" cy="287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7" name="文本2" title=""/>
          <p:cNvSpPr txBox="1"/>
          <p:nvPr/>
        </p:nvSpPr>
        <p:spPr>
          <a:xfrm>
            <a:off x="276292" y="1979428"/>
            <a:ext cx="6740347" cy="295808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400"/>
              </a:lnSpc>
            </a:pP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按上述方式与全体复数建立一一对应关系的平面叫作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复平面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x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轴叫作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实轴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b="0" i="1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轴叫作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虚轴</a:t>
            </a:r>
            <a:r>
              <a:rPr lang="zh-CN" altLang="en-US" sz="28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。实轴上的点都表示实数，除原点外，虚轴上的点都表示纯虚数。</a:t>
            </a:r>
            <a:endParaRPr lang="zh-CN" altLang="en-US" sz="2800" b="0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3" title=""/>
          <p:cNvSpPr txBox="1"/>
          <p:nvPr/>
        </p:nvSpPr>
        <p:spPr>
          <a:xfrm>
            <a:off x="276606" y="917219"/>
            <a:ext cx="2728373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复数的几何意义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02" name="yt_shape_15302" title=""/>
          <p:cNvSpPr txBox="1"/>
          <p:nvPr/>
        </p:nvSpPr>
        <p:spPr>
          <a:xfrm>
            <a:off x="1131770" y="5333366"/>
            <a:ext cx="8899231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041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复数集</a:t>
            </a:r>
            <a:r>
              <a:rPr lang="en-US" altLang="zh-CN" sz="2400" b="1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中的数与复平面内的点按如下方式建立了一一对应关系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mc:AlternateContent>
        <mc:Choice Requires="a14">
          <p:sp>
            <p:nvSpPr>
              <p:cNvPr id="15303" name="yt_shape_15303" title=""/>
              <p:cNvSpPr txBox="1"/>
              <p:nvPr/>
            </p:nvSpPr>
            <p:spPr>
              <a:xfrm>
                <a:off x="3346116" y="5812669"/>
                <a:ext cx="6897721" cy="661720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ctr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复数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ox>
                        <m:boxPr>
                          <m:noBreak m:val="off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pos m:val="bot"/>
                              <m:vertJc m:val="bot"/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一一对应</m:t>
                              </m:r>
                            </m:e>
                          </m:groupChr>
                        </m:e>
                      </m:box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复平面内的点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hlinkClick action="ppaction://macro?name={&quot;type&quot;:&quot;ImageText&quot;,&quot;item&quot;:&quot;RunBorder&quot;,&quot;fontColor&quot;:&quot;000000&quot;,&quot;borderColor&quot;:&quot;000000&quot;}"/>
                </a:endParaRPr>
              </a:p>
            </p:txBody>
          </p:sp>
        </mc:Choice>
        <mc:Fallback>
          <p:sp>
            <p:nvSpPr>
              <p:cNvPr id="15303" name="yt_shape_153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6" y="5812669"/>
                <a:ext cx="6897721" cy="661720"/>
              </a:xfrm>
              <a:prstGeom prst="rect">
                <a:avLst/>
              </a:prstGeom>
              <a:blipFill rotWithShape="1">
                <a:blip r:embed="rId3"/>
                <a:stretch>
                  <a:fillRect l="-4" t="-78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yt_shape_矩形_2" title=""/>
          <p:cNvSpPr/>
          <p:nvPr/>
        </p:nvSpPr>
        <p:spPr>
          <a:xfrm>
            <a:off x="3345816" y="5902204"/>
            <a:ext cx="6799881" cy="649008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300" name="yt_image_15300" title="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637780" y="1537970"/>
            <a:ext cx="3663315" cy="305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典例剖析</a:t>
            </a:r>
            <a:r>
              <a:rPr lang="en-US" altLang="zh-CN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复数与复平面内的点一一对应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15378" name="yt_shape_15378" title=""/>
          <p:cNvSpPr txBox="1"/>
          <p:nvPr/>
        </p:nvSpPr>
        <p:spPr>
          <a:xfrm>
            <a:off x="432000" y="972214"/>
            <a:ext cx="10913244" cy="85087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en-US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宋体" panose="02010600030101010101" pitchFamily="2" charset="-122"/>
              </a:rPr>
              <a:t>典例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在复平面内，若复数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对应的点：</a:t>
            </a:r>
            <a:endParaRPr lang="zh-CN" altLang="zh-CN" sz="2400" b="0" i="0" u="none">
              <a:solidFill>
                <a:srgbClr val="000000"/>
              </a:solidFill>
              <a:effectLst/>
              <a:latin typeface="白正" pitchFamily="24"/>
              <a:ea typeface="宋体" panose="02010600030101010101" pitchFamily="2" charset="-122"/>
            </a:endParaRPr>
          </a:p>
          <a:p>
            <a:pPr marL="761365" indent="-761365" algn="l" eaLnBrk="1" latinLnBrk="0" hangingPunct="0">
              <a:lnSpc>
                <a:spcPct val="12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在第二象限；</a:t>
            </a:r>
            <a:endParaRPr lang="zh-CN" altLang="zh-CN" sz="2400" b="0" i="0" u="none">
              <a:solidFill>
                <a:srgbClr val="000000"/>
              </a:solidFill>
              <a:effectLst/>
              <a:latin typeface="白正" pitchFamily="24"/>
              <a:ea typeface="宋体" panose="02010600030101010101" pitchFamily="2" charset="-122"/>
            </a:endParaRPr>
          </a:p>
        </p:txBody>
      </p:sp>
      <mc:AlternateContent>
        <mc:Choice Requires="a14">
          <p:sp>
            <p:nvSpPr>
              <p:cNvPr id="15380" name="yt_shape_15380" title=""/>
              <p:cNvSpPr txBox="1"/>
              <p:nvPr/>
            </p:nvSpPr>
            <p:spPr>
              <a:xfrm>
                <a:off x="432000" y="2708957"/>
                <a:ext cx="5022209" cy="282122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761365" indent="-761365" algn="l" eaLnBrk="1" latinLnBrk="0" hangingPunct="0">
                  <a:lnSpc>
                    <a:spcPct val="12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由题意得</a:t>
                </a:r>
                <a14:m>
                  <m:oMathPara>
                    <m:oMathParaPr>
                      <m:jc/>
                    </m:oMathParaPr>
                    <m:oMath>
                      <m:d>
                        <m:dPr>
                          <m:begChr m:val="{"/>
                          <m:sepChr m:val="|"/>
                          <m:endChr/>
                          <m:grow m:val="on"/>
                          <m:shp m:val="centered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maxDist m:val="off"/>
                              <m:objDist m:val="off"/>
                              <m:rSpRule m:val="0"/>
                              <m:rSp m:val="0"/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marL="761365" indent="-761365" algn="l" eaLnBrk="1" latinLnBrk="0" hangingPunct="0">
                  <a:lnSpc>
                    <a:spcPct val="12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14:m>
                  <m:oMathPara>
                    <m:oMathParaPr>
                      <m:jc/>
                    </m:oMathParaPr>
                    <m:oMath>
                      <m:d>
                        <m:dPr>
                          <m:begChr m:val="{"/>
                          <m:sepChr m:val="|"/>
                          <m:endChr/>
                          <m:grow m:val="on"/>
                          <m:shp m:val="centered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maxDist m:val="off"/>
                              <m:objDist m:val="off"/>
                              <m:rSpRule m:val="0"/>
                              <m:rSp m:val="0"/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&gt;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或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FF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761365" indent="-761365" algn="l" eaLnBrk="1" latinLnBrk="0" hangingPunct="0">
                  <a:lnSpc>
                    <a:spcPct val="12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761365" indent="-761365" algn="l" eaLnBrk="1" latinLnBrk="0" hangingPunct="0">
                  <a:lnSpc>
                    <a:spcPct val="12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的取值范围是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{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1}.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80" name="yt_shape_153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2708957"/>
                <a:ext cx="5022209" cy="2821222"/>
              </a:xfrm>
              <a:prstGeom prst="rect">
                <a:avLst/>
              </a:prstGeom>
              <a:blipFill rotWithShape="1">
                <a:blip r:embed="rId3"/>
                <a:stretch>
                  <a:fillRect l="-4" t="-2" r="-69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82" name="yt_shape_15382" title=""/>
          <p:cNvSpPr txBox="1"/>
          <p:nvPr/>
        </p:nvSpPr>
        <p:spPr>
          <a:xfrm>
            <a:off x="432000" y="5530226"/>
            <a:ext cx="6554679" cy="4008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2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在直线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y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x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上，分别求实数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的取值范围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5383" name="yt_shape_15383" title=""/>
          <p:cNvSpPr txBox="1"/>
          <p:nvPr/>
        </p:nvSpPr>
        <p:spPr>
          <a:xfrm>
            <a:off x="432000" y="1996163"/>
            <a:ext cx="11707329" cy="8440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400" b="0" i="0" u="none">
                <a:effectLst/>
                <a:latin typeface="白正" pitchFamily="24"/>
                <a:ea typeface="黑体" panose="02010609060101010101" pitchFamily="49" charset="-122"/>
              </a:rPr>
              <a:t>解：</a:t>
            </a:r>
            <a:r>
              <a:rPr lang="zh-CN" altLang="zh-CN" sz="2400" b="0" i="0" u="none">
                <a:effectLst/>
                <a:latin typeface="白正" pitchFamily="24"/>
                <a:ea typeface="宋体" panose="02010600030101010101" pitchFamily="2" charset="-122"/>
              </a:rPr>
              <a:t>复数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 err="1"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effectLst/>
                <a:latin typeface="白正" pitchFamily="24"/>
                <a:ea typeface="宋体" panose="02010600030101010101" pitchFamily="2" charset="-122"/>
              </a:rPr>
              <a:t>的实部为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白正" pitchFamily="24"/>
                <a:ea typeface="宋体" panose="02010600030101010101" pitchFamily="2" charset="-122"/>
              </a:rPr>
              <a:t>，虚部为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  <a:sym typeface="_⨹_1_cc4f2"/>
              </a:rPr>
              <a:t> </a:t>
            </a:r>
            <a:b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</a:b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2.</a:t>
            </a:r>
            <a:endParaRPr lang="en-US" altLang="zh-CN" sz="2400" b="0" i="0" u="none"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yt_shape_15384" title=""/>
          <p:cNvSpPr txBox="1"/>
          <p:nvPr/>
        </p:nvSpPr>
        <p:spPr>
          <a:xfrm>
            <a:off x="432095" y="6107618"/>
            <a:ext cx="7263207" cy="4008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20000"/>
              </a:lnSpc>
            </a:pP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effectLst/>
                <a:latin typeface="白正" pitchFamily="24"/>
                <a:ea typeface="宋体" panose="02010600030101010101" pitchFamily="2" charset="-122"/>
              </a:rPr>
              <a:t>由已知得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effectLst/>
                <a:latin typeface="白正" pitchFamily="24"/>
                <a:ea typeface="宋体" panose="02010600030101010101" pitchFamily="2" charset="-122"/>
              </a:rPr>
              <a:t>，解得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effectLst/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500" b="0" i="1" u="none"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effectLst/>
                <a:latin typeface="Times New Roman" panose="02020603050405020304"/>
                <a:ea typeface="Times New Roman" panose="02020603050405020304"/>
              </a:rPr>
              <a:t>2.</a:t>
            </a:r>
            <a:endParaRPr lang="en-US" altLang="zh-CN" sz="2400" b="0" i="0" u="none">
              <a:effectLst/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0" grpId="0" uiExpand="1" build="allAtOnce"/>
      <p:bldP spid="15383" grpId="0" build="allAtOnce"/>
      <p:bldP spid="9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9" name="图片3" title=""/>
          <p:cNvPicPr>
            <a:picLocks noChangeAspect="1"/>
          </p:cNvPicPr>
          <p:nvPr/>
        </p:nvPicPr>
        <p:blipFill>
          <a:blip r:embed="rId3"/>
          <a:srcRect r="10410" b="18681"/>
          <a:stretch>
            <a:fillRect/>
          </a:stretch>
        </p:blipFill>
        <p:spPr>
          <a:xfrm>
            <a:off x="3737610" y="940435"/>
            <a:ext cx="3716020" cy="2276475"/>
          </a:xfrm>
          <a:prstGeom prst="rect">
            <a:avLst/>
          </a:prstGeom>
          <a:effectLst>
            <a:outerShdw blurRad="76200" sx="101000" sy="101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0" name="文本2" title=""/>
          <p:cNvSpPr txBox="1"/>
          <p:nvPr/>
        </p:nvSpPr>
        <p:spPr>
          <a:xfrm>
            <a:off x="276606" y="917219"/>
            <a:ext cx="2728373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复数的几何意义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>
        <mc:Choice Requires="a14">
          <p:sp>
            <p:nvSpPr>
              <p:cNvPr id="11" name="文本框 10" title=""/>
              <p:cNvSpPr txBox="1"/>
              <p:nvPr/>
            </p:nvSpPr>
            <p:spPr>
              <a:xfrm>
                <a:off x="128905" y="3534410"/>
                <a:ext cx="11845290" cy="332295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400"/>
                  <a:t>特别地，如图，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数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用沿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轴正方向的单位向量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r>
                  <a:rPr lang="zh-CN" altLang="en-US" sz="2400">
                    <a:solidFill>
                      <a:srgbClr val="FF0000"/>
                    </a:solidFill>
                  </a:rPr>
                  <a:t>表示，数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i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用沿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y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轴正方向的单位向量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r>
                  <a:rPr lang="zh-CN" altLang="en-US" sz="2400">
                    <a:solidFill>
                      <a:srgbClr val="FF0000"/>
                    </a:solidFill>
                  </a:rPr>
                  <a:t>表示</a:t>
                </a:r>
                <a:r>
                  <a:rPr lang="en-US" altLang="zh-CN" sz="2400"/>
                  <a:t>.</a:t>
                </a:r>
                <a:endParaRPr lang="en-US" altLang="zh-CN" sz="2400"/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400"/>
                  <a:t>设复平面上的向量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𝑂𝑍</m:t>
                          </m:r>
                        </m:e>
                      </m:acc>
                    </m:oMath>
                  </m:oMathPara>
                </a14:m>
                <a:r>
                  <a:rPr lang="zh-CN" altLang="en-US" sz="2400"/>
                  <a:t>的坐标为</a:t>
                </a:r>
                <a:r>
                  <a:rPr lang="en-US" altLang="zh-CN" sz="2400"/>
                  <a:t>(a</a:t>
                </a:r>
                <a:r>
                  <a:rPr lang="zh-CN" altLang="en-US" sz="2400"/>
                  <a:t>，</a:t>
                </a:r>
                <a:r>
                  <a:rPr lang="en-US" altLang="zh-CN" sz="2400"/>
                  <a:t>b)</a:t>
                </a:r>
                <a:r>
                  <a:rPr lang="zh-CN" altLang="en-US" sz="2400"/>
                  <a:t>，则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𝑂𝑍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r>
                  <a:rPr lang="zh-CN" altLang="en-US" sz="2400"/>
                  <a:t>，将这个表达式中的</a:t>
                </a:r>
                <a14:m>
                  <m:oMathPara>
                    <m:oMathParaPr>
                      <m:jc/>
                    </m:oMathParaPr>
                    <m:oMath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altLang="zh-CN" sz="2400" b="1" i="1">
                          <a:latin typeface="Cambria Math" panose="02040503050406030204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altLang="zh-CN" sz="2400" b="1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r>
                  <a:rPr lang="zh-CN" altLang="en-US" sz="2400"/>
                  <a:t>分别换成</a:t>
                </a:r>
                <a:r>
                  <a:rPr lang="en-US" altLang="zh-CN" sz="2400"/>
                  <a:t>1</a:t>
                </a:r>
                <a:r>
                  <a:rPr lang="zh-CN" altLang="en-US" sz="2400"/>
                  <a:t>，</a:t>
                </a:r>
                <a:r>
                  <a:rPr lang="en-US" altLang="zh-CN" sz="2400"/>
                  <a:t>i</a:t>
                </a:r>
                <a:r>
                  <a:rPr lang="zh-CN" altLang="en-US" sz="2400"/>
                  <a:t>，就得到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/>
                              <a:cs typeface="Cambria Math" panose="02040503050406030204" charset="0"/>
                            </a:rPr>
                            <m:t>𝑂𝑍</m:t>
                          </m:r>
                        </m:e>
                      </m:acc>
                    </m:oMath>
                  </m:oMathPara>
                </a14:m>
                <a:r>
                  <a:rPr lang="zh-CN" altLang="en-US" sz="2400"/>
                  <a:t>所对应的复数为</a:t>
                </a:r>
                <a14:m>
                  <m:oMathPara>
                    <m:oMathParaPr>
                      <m:jc/>
                    </m:oMathParaPr>
                    <m:oMath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/>
                          <a:cs typeface="Cambria Math" panose="02040503050406030204" charset="0"/>
                        </a:rPr>
                        <m:t>𝑏𝑖</m:t>
                      </m:r>
                    </m:oMath>
                  </m:oMathPara>
                </a14:m>
                <a:r>
                  <a:rPr lang="en-US" altLang="zh-CN" sz="2400"/>
                  <a:t>.</a:t>
                </a:r>
                <a:endParaRPr lang="en-US" altLang="zh-CN" sz="2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5" y="3534410"/>
                <a:ext cx="11845290" cy="33229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  <a:buClrTx/>
              <a:buSzTx/>
              <a:buFontTx/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复数与平面向量的对应关系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387" name="yt_shape_15387" title=""/>
              <p:cNvSpPr txBox="1"/>
              <p:nvPr/>
            </p:nvSpPr>
            <p:spPr>
              <a:xfrm>
                <a:off x="432000" y="612590"/>
                <a:ext cx="10708060" cy="144520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典例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已知在复平面内，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三点对应的复数分别为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求向量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𝐵𝐶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对应的复数；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387" name="yt_shape_153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612590"/>
                <a:ext cx="10708060" cy="1445204"/>
              </a:xfrm>
              <a:prstGeom prst="rect">
                <a:avLst/>
              </a:prstGeom>
              <a:blipFill rotWithShape="1">
                <a:blip r:embed="rId3"/>
                <a:stretch>
                  <a:fillRect l="-2" t="-31" r="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5389" name="yt_shape_15389" title=""/>
              <p:cNvSpPr txBox="1"/>
              <p:nvPr/>
            </p:nvSpPr>
            <p:spPr>
              <a:xfrm>
                <a:off x="432000" y="1782951"/>
                <a:ext cx="8743804" cy="3123740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由复数的几何意义，知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𝐵𝐶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𝐵𝐶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对应的复数分别为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 err="1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 err="1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89" name="yt_shape_153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1782951"/>
                <a:ext cx="8743804" cy="3123740"/>
              </a:xfrm>
              <a:prstGeom prst="rect">
                <a:avLst/>
              </a:prstGeom>
              <a:blipFill rotWithShape="1">
                <a:blip r:embed="rId4"/>
                <a:stretch>
                  <a:fillRect l="-2" t="-16" r="1" b="-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91" name="yt_shape_15391" title=""/>
          <p:cNvSpPr txBox="1"/>
          <p:nvPr/>
        </p:nvSpPr>
        <p:spPr>
          <a:xfrm>
            <a:off x="432000" y="4867090"/>
            <a:ext cx="3318216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判断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△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ABC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的形状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mc:AlternateContent>
        <mc:Choice Requires="a14">
          <p:sp>
            <p:nvSpPr>
              <p:cNvPr id="15392" name="yt_shape_15392" title=""/>
              <p:cNvSpPr txBox="1"/>
              <p:nvPr/>
            </p:nvSpPr>
            <p:spPr>
              <a:xfrm>
                <a:off x="520900" y="5346393"/>
                <a:ext cx="8807347" cy="151150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∵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𝐵𝐶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2400" b="0" i="0" u="none" baseline="30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2400" b="0" i="0" u="none" baseline="30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𝐵𝐶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2400" b="0" i="0" u="none" baseline="30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∴△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ABC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是以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BC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为斜边的直角三角形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92" name="yt_shape_153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00" y="5346393"/>
                <a:ext cx="8807347" cy="1511504"/>
              </a:xfrm>
              <a:prstGeom prst="rect">
                <a:avLst/>
              </a:prstGeom>
              <a:blipFill rotWithShape="1">
                <a:blip r:embed="rId5"/>
                <a:stretch>
                  <a:fillRect l="-2" t="-22" r="-698" b="-1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9" grpId="0" uiExpand="1" build="allAtOnce"/>
      <p:bldP spid="15392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7" name="图片4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783" y="3886483"/>
            <a:ext cx="3676650" cy="2933700"/>
          </a:xfrm>
          <a:prstGeom prst="rect">
            <a:avLst/>
          </a:prstGeom>
        </p:spPr>
      </p:pic>
      <p:sp>
        <p:nvSpPr>
          <p:cNvPr id="8" name="文本2" title=""/>
          <p:cNvSpPr txBox="1"/>
          <p:nvPr/>
        </p:nvSpPr>
        <p:spPr>
          <a:xfrm>
            <a:off x="596884" y="695868"/>
            <a:ext cx="2728373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复数的模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>
        <mc:Choice Requires="a14">
          <p:sp>
            <p:nvSpPr>
              <p:cNvPr id="9" name="文本框 8" title=""/>
              <p:cNvSpPr txBox="1"/>
              <p:nvPr/>
            </p:nvSpPr>
            <p:spPr>
              <a:xfrm>
                <a:off x="403860" y="1498600"/>
                <a:ext cx="11621135" cy="23876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04165" indent="0" algn="l" fontAlgn="auto" hangingPunct="0">
                  <a:lnSpc>
                    <a:spcPct val="150000"/>
                  </a:lnSpc>
                </a:pP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对任意复数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＋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b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i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（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b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∈</a:t>
                </a:r>
                <a:r>
                  <a:rPr lang="en-US" altLang="zh-CN" sz="2400" b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R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）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，将它在复平面上所对应的向量的模</a:t>
                </a:r>
                <a:r>
                  <a:rPr lang="en-US" altLang="zh-CN" sz="150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+mn-ea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zh-CN" sz="2400" b="0" i="0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en-US" altLang="zh-CN" sz="150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_⨹_1_6485a,isEnd"/>
                  </a:rPr>
                  <a:t> </a:t>
                </a:r>
                <a:br>
                  <a:rPr lang="en-US" altLang="zh-CN" sz="150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+mn-ea"/>
                  </a:rPr>
                </a:b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称为复数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的</a:t>
                </a:r>
                <a:r>
                  <a:rPr lang="zh-CN" altLang="zh-CN" sz="2400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模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，也称为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的绝对值，记作｜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en-US" altLang="zh-CN" sz="24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.</a:t>
                </a:r>
                <a:endParaRPr lang="en-US" altLang="zh-CN" sz="2400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  <a:sym typeface="+mn-ea"/>
                </a:endParaRPr>
              </a:p>
              <a:p>
                <a:pPr marL="304165" indent="0" algn="l" fontAlgn="auto" hangingPunct="0">
                  <a:lnSpc>
                    <a:spcPct val="150000"/>
                  </a:lnSpc>
                </a:pP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如果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b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24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0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，那么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＋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b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i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2_8a5d9,isEnd"/>
                  </a:rPr>
                  <a:t>是一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个实数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，它的模等于｜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（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的绝对值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）</a:t>
                </a:r>
                <a:r>
                  <a:rPr lang="en-US" altLang="zh-CN" sz="24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.</a:t>
                </a:r>
                <a:endParaRPr lang="en-US" altLang="zh-CN" sz="2400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  <a:sym typeface="+mn-ea"/>
                </a:endParaRPr>
              </a:p>
              <a:p>
                <a:pPr marL="304165" indent="0" algn="l" fontAlgn="auto" hangingPunct="0">
                  <a:lnSpc>
                    <a:spcPct val="150000"/>
                  </a:lnSpc>
                </a:pP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由模的定义，可知｜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z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+mn-ea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𝑂𝑍</m:t>
                          </m:r>
                        </m:e>
                      </m:acc>
                    </m:oMath>
                  </m:oMathPara>
                </a14:m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1_ac98f,isEnd"/>
                  </a:rPr>
                  <a:t>｜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a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＋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b</a:t>
                </a:r>
                <a:r>
                  <a:rPr lang="en-US" altLang="zh-CN" sz="1500" i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 </a:t>
                </a:r>
                <a:r>
                  <a:rPr lang="en-US" altLang="zh-CN" sz="2400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+mn-ea"/>
                  </a:rPr>
                  <a:t>i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+mn-ea"/>
                  </a:rPr>
                  <a:t>｜</a:t>
                </a:r>
                <a:r>
                  <a:rPr lang="zh-CN" altLang="zh-CN" sz="24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＝</a:t>
                </a:r>
                <a:r>
                  <a:rPr sz="2400" u="sng">
                    <a:uFill>
                      <a:solidFill>
                        <a:srgbClr val="000000"/>
                      </a:solidFill>
                    </a:uFill>
                    <a:latin typeface="Times New Roman" panose="02020603050405020304"/>
                    <a:sym typeface="+mn-ea"/>
                  </a:rPr>
                  <a:t> </a:t>
                </a:r>
                <a:r>
                  <a:rPr sz="2000" u="sng">
                    <a:uFill>
                      <a:solidFill>
                        <a:srgbClr val="000000"/>
                      </a:solidFill>
                    </a:uFill>
                    <a:latin typeface="Times New Roman" panose="02020603050405020304"/>
                    <a:sym typeface="+mn-ea"/>
                  </a:rPr>
                  <a:t>                           </a:t>
                </a:r>
                <a:r>
                  <a:rPr sz="1700" u="sng">
                    <a:uFill>
                      <a:solidFill>
                        <a:srgbClr val="000000"/>
                      </a:solidFill>
                    </a:uFill>
                    <a:latin typeface="Times New Roman" panose="02020603050405020304"/>
                    <a:sym typeface="+mn-ea"/>
                  </a:rPr>
                  <a:t> </a:t>
                </a:r>
                <a:r>
                  <a:rPr sz="100" spc="-100">
                    <a:latin typeface="Times New Roman" panose="02020603050405020304"/>
                    <a:sym typeface="+mn-ea"/>
                  </a:rPr>
                  <a:t>⁠</a:t>
                </a:r>
                <a:r>
                  <a:rPr lang="en-US" altLang="zh-CN" sz="24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,isEnd"/>
                  </a:rPr>
                  <a:t>.</a:t>
                </a:r>
                <a:endParaRPr lang="en-US" altLang="zh-CN" sz="2400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  <a:sym typeface=",isEnd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" y="1498600"/>
                <a:ext cx="11621135" cy="23876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0" name="文本框 9" title=""/>
              <p:cNvSpPr txBox="1"/>
              <p:nvPr/>
            </p:nvSpPr>
            <p:spPr>
              <a:xfrm>
                <a:off x="7707132" y="3186077"/>
                <a:ext cx="1671955" cy="567068"/>
              </a:xfrm>
              <a:prstGeom prst="rect">
                <a:avLst/>
              </a:prstGeom>
              <a:noFill/>
            </p:spPr>
            <p:txBody>
              <a:bodyPr vert="horz" wrap="none" rtlCol="0" anchor="ctr"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kumimoji="0" lang="en-US" altLang="zh-CN" sz="2400" b="0" i="1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kumimoji="0" lang="zh-CN" altLang="zh-CN" sz="2400" b="0" i="0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kumimoji="0" lang="en-US" altLang="zh-CN" sz="24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kumimoji="0" lang="en-US" altLang="zh-CN" sz="1500" b="0" i="1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kumimoji="0" lang="zh-CN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白正" pitchFamily="24"/>
                    <a:ea typeface="宋体" panose="02010600030101010101" pitchFamily="2" charset="-122"/>
                  </a:rPr>
                  <a:t>　</a:t>
                </a:r>
                <a:endParaRPr lang="zh-CN" altLang="en-US" sz="28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132" y="3186077"/>
                <a:ext cx="1671955" cy="567068"/>
              </a:xfrm>
              <a:prstGeom prst="rect">
                <a:avLst/>
              </a:prstGeom>
              <a:blipFill rotWithShape="1">
                <a:blip r:embed="rId5"/>
                <a:stretch>
                  <a:fillRect l="-8" t="-50" r="-4208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17" name="yt_shape_15317" title=""/>
          <p:cNvSpPr txBox="1"/>
          <p:nvPr/>
        </p:nvSpPr>
        <p:spPr>
          <a:xfrm>
            <a:off x="597735" y="4386778"/>
            <a:ext cx="2769989" cy="43537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黑体" panose="02010609060101010101" pitchFamily="49" charset="-122"/>
              </a:rPr>
              <a:t>复数模的几何意义</a:t>
            </a:r>
            <a:endParaRPr lang="zh-CN" altLang="zh-CN" sz="2400" b="0" i="0" u="none">
              <a:solidFill>
                <a:srgbClr val="000000"/>
              </a:solidFill>
              <a:effectLst/>
              <a:latin typeface="白正" pitchFamily="24"/>
              <a:ea typeface="黑体" panose="02010609060101010101" pitchFamily="49" charset="-122"/>
            </a:endParaRPr>
          </a:p>
        </p:txBody>
      </p:sp>
      <mc:AlternateContent>
        <mc:Choice Requires="a14">
          <p:sp>
            <p:nvSpPr>
              <p:cNvPr id="15318" name="yt_shape_15318" title=""/>
              <p:cNvSpPr txBox="1"/>
              <p:nvPr/>
            </p:nvSpPr>
            <p:spPr>
              <a:xfrm>
                <a:off x="597100" y="4872942"/>
                <a:ext cx="7414337" cy="4776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𝑂𝑍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｜，即点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到原点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的距离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18" name="yt_shape_15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00" y="4872942"/>
                <a:ext cx="7414337" cy="477631"/>
              </a:xfrm>
              <a:prstGeom prst="rect">
                <a:avLst/>
              </a:prstGeom>
              <a:blipFill rotWithShape="1">
                <a:blip r:embed="rId6"/>
                <a:stretch>
                  <a:fillRect l="-3" t="-123" r="-48" b="-1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20" name="yt_shape_15320" title=""/>
          <p:cNvSpPr txBox="1"/>
          <p:nvPr/>
        </p:nvSpPr>
        <p:spPr>
          <a:xfrm>
            <a:off x="597100" y="5401361"/>
            <a:ext cx="6994864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041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一般地，｜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｜为复平面上点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的距离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  <a:buClrTx/>
              <a:buSzTx/>
              <a:buFontTx/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复数的模及其应用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03" name="yt_shape_15403" title=""/>
              <p:cNvSpPr txBox="1"/>
              <p:nvPr/>
            </p:nvSpPr>
            <p:spPr>
              <a:xfrm>
                <a:off x="432000" y="738709"/>
                <a:ext cx="6312818" cy="71974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典例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已知复数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f>
                        <m:fPr>
                          <m:type m:val="bar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f>
                        <m:fPr>
                          <m:type m:val="bar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403" name="yt_shape_154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738709"/>
                <a:ext cx="6312818" cy="719749"/>
              </a:xfrm>
              <a:prstGeom prst="rect">
                <a:avLst/>
              </a:prstGeom>
              <a:blipFill rotWithShape="1">
                <a:blip r:embed="rId3"/>
                <a:stretch>
                  <a:fillRect l="-3" t="-28" r="8" b="-13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05" name="yt_shape_15405" title=""/>
          <p:cNvSpPr txBox="1"/>
          <p:nvPr/>
        </p:nvSpPr>
        <p:spPr>
          <a:xfrm>
            <a:off x="432000" y="1574016"/>
            <a:ext cx="5100755" cy="43537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求｜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｜及｜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｜并比较大小；</a:t>
            </a:r>
            <a:endParaRPr lang="zh-CN" altLang="zh-CN" sz="2400" b="0" i="0" u="none">
              <a:solidFill>
                <a:srgbClr val="000000"/>
              </a:solidFill>
              <a:effectLst/>
              <a:latin typeface="白正" pitchFamily="24"/>
              <a:ea typeface="宋体" panose="02010600030101010101" pitchFamily="2" charset="-122"/>
            </a:endParaRPr>
          </a:p>
        </p:txBody>
      </p:sp>
      <mc:AlternateContent>
        <mc:Choice Requires="a14">
          <p:sp>
            <p:nvSpPr>
              <p:cNvPr id="15406" name="yt_shape_15406" title=""/>
              <p:cNvSpPr txBox="1"/>
              <p:nvPr/>
            </p:nvSpPr>
            <p:spPr>
              <a:xfrm>
                <a:off x="432000" y="2060180"/>
                <a:ext cx="8230266" cy="202574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 err="1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zh-CN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（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）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zh-CN" sz="2400" b="0" i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zh-CN" altLang="zh-CN" sz="2400" b="0" i="0" u="none">
                  <a:solidFill>
                    <a:srgbClr val="FF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sepChr m:val="|"/>
                                  <m:endChr m:val=")"/>
                                  <m:grow m:val="on"/>
                                  <m:shp m:val="centered"/>
                                  <m:ctrlP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US" altLang="zh-CN" sz="2400" b="0" i="1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zh-CN" sz="2400" b="0" i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sepChr m:val="|"/>
                                  <m:endChr m:val=")"/>
                                  <m:grow m:val="on"/>
                                  <m:shp m:val="centered"/>
                                  <m:ctrlPr>
                                    <a:rPr lang="en-US" altLang="zh-CN" sz="2400" b="0" i="1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US" altLang="zh-CN" sz="2400" b="0" i="1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sz="2400" b="0" i="1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/>
                                              <a:ea typeface="Cambria Math" panose="02040503050406030204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sz="2400" b="0" i="1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/>
                                              <a:ea typeface="Cambria Math" panose="02040503050406030204" charset="0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zh-CN" sz="2400" b="0" i="1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＞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406" name="yt_shape_154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2060180"/>
                <a:ext cx="8230266" cy="2025747"/>
              </a:xfrm>
              <a:prstGeom prst="rect">
                <a:avLst/>
              </a:prstGeom>
              <a:blipFill rotWithShape="1">
                <a:blip r:embed="rId4"/>
                <a:stretch>
                  <a:fillRect l="-2" t="-12" r="3" b="-4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08" name="yt_shape_15408" title=""/>
          <p:cNvSpPr txBox="1"/>
          <p:nvPr/>
        </p:nvSpPr>
        <p:spPr>
          <a:xfrm>
            <a:off x="596465" y="4254315"/>
            <a:ext cx="10315324" cy="43537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设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b="1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，满足条件｜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｜的点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的轨迹是什么图形？</a:t>
            </a:r>
            <a:endParaRPr lang="zh-CN" altLang="zh-CN" sz="2400" b="0" i="0" u="none">
              <a:solidFill>
                <a:srgbClr val="000000"/>
              </a:solidFill>
              <a:effectLst/>
              <a:latin typeface="白正" pitchFamily="24"/>
              <a:ea typeface="宋体" panose="02010600030101010101" pitchFamily="2" charset="-122"/>
            </a:endParaRPr>
          </a:p>
        </p:txBody>
      </p:sp>
      <p:sp>
        <p:nvSpPr>
          <p:cNvPr id="15409" name="yt_shape_15409" title=""/>
          <p:cNvSpPr txBox="1"/>
          <p:nvPr/>
        </p:nvSpPr>
        <p:spPr>
          <a:xfrm>
            <a:off x="596465" y="5042739"/>
            <a:ext cx="8431795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761365" indent="-761365"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黑体" panose="02010609060101010101" pitchFamily="49" charset="-122"/>
              </a:rPr>
              <a:t>解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由｜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｜及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知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2.</a:t>
            </a:r>
            <a:endParaRPr lang="en-US" altLang="zh-CN" sz="2400" b="0" i="0" u="none">
              <a:solidFill>
                <a:srgbClr val="FF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5410" name="yt_image_15410" title="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9767044" y="4254768"/>
            <a:ext cx="2217502" cy="228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6" grpId="0" uiExpand="1" build="allAtOnce"/>
      <p:bldP spid="15409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8" name="图片5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638" y="4663088"/>
            <a:ext cx="3686175" cy="1866900"/>
          </a:xfrm>
          <a:prstGeom prst="rect">
            <a:avLst/>
          </a:prstGeom>
        </p:spPr>
      </p:pic>
      <p:sp>
        <p:nvSpPr>
          <p:cNvPr id="9" name="文本2" title=""/>
          <p:cNvSpPr txBox="1"/>
          <p:nvPr/>
        </p:nvSpPr>
        <p:spPr>
          <a:xfrm>
            <a:off x="700907" y="583463"/>
            <a:ext cx="173777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共轭复数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>
        <mc:Choice Requires="a14">
          <p:sp>
            <p:nvSpPr>
              <p:cNvPr id="15322" name="yt_shape_15322" title=""/>
              <p:cNvSpPr txBox="1"/>
              <p:nvPr/>
            </p:nvSpPr>
            <p:spPr>
              <a:xfrm>
                <a:off x="304800" y="1273810"/>
                <a:ext cx="11707495" cy="45192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indent="-304165" algn="l" fontAlgn="auto" hangingPunct="0">
                  <a:lnSpc>
                    <a:spcPct val="150000"/>
                  </a:lnSpc>
                  <a:spcAft>
                    <a:spcPts val="2400"/>
                  </a:spcAft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 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对任意复数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∈</a:t>
                </a:r>
                <a:r>
                  <a:rPr lang="en-US" altLang="zh-CN" sz="2400" b="1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R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，如果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保持它的实部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不变，将虚部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3_a4e06"/>
                  </a:rPr>
                  <a:t>变成它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的相反数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，得到的复数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称为原复数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共轭复数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304165" indent="-304165" algn="l" fontAlgn="auto" hangingPunct="0">
                  <a:lnSpc>
                    <a:spcPct val="150000"/>
                  </a:lnSpc>
                  <a:spcAft>
                    <a:spcPts val="2400"/>
                  </a:spcAft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虚部不等于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4_4a375"/>
                  </a:rPr>
                  <a:t>的两个共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轭复数也叫作共轭虚数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的共轭复数用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��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表示，即如果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，那么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_⨹_1_d1e0e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304165" indent="-304165" algn="l" fontAlgn="auto" hangingPunct="0">
                  <a:lnSpc>
                    <a:spcPct val="15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于是，例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1</a:t>
                </a:r>
                <a:r>
                  <a:rPr lang="zh-CN" altLang="en-US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中（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3</a:t>
                </a:r>
                <a:r>
                  <a:rPr lang="zh-CN" altLang="en-US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）的结论可以推广为：</a:t>
                </a:r>
                <a:endParaRPr lang="zh-CN" altLang="en-US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marL="304165" indent="-304165" algn="l" fontAlgn="auto" hangingPunct="0">
                  <a:lnSpc>
                    <a:spcPct val="15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复平面上两点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P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Q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关于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x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轴对称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Cambria Math" panose="02040503050406030204" pitchFamily="24"/>
                    <a:ea typeface="Cambria Math" panose="02040503050406030204" pitchFamily="24"/>
                  </a:rPr>
                  <a:t>⇔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它们对应的复数相互共轭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22" name="yt_shape_153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73810"/>
                <a:ext cx="11707495" cy="45192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en-US" altLang="zh-CN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共轭复数的求解与应用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37" name="yt_shape_15437" title=""/>
              <p:cNvSpPr txBox="1"/>
              <p:nvPr/>
            </p:nvSpPr>
            <p:spPr>
              <a:xfrm>
                <a:off x="432000" y="972000"/>
                <a:ext cx="10086544" cy="42851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典例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已知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，则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）＝（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en-US" altLang="zh-CN" sz="2400" b="0" i="0" u="none">
                    <a:solidFill>
                      <a:srgbClr val="FF0000">
                        <a:alpha val="0"/>
                      </a:srgbClr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437" name="yt_shape_154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972000"/>
                <a:ext cx="10086544" cy="428515"/>
              </a:xfrm>
              <a:prstGeom prst="rect">
                <a:avLst/>
              </a:prstGeom>
              <a:blipFill rotWithShape="1">
                <a:blip r:embed="rId3"/>
                <a:stretch>
                  <a:fillRect l="-2" t="-105" r="4" b="-10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39" name="yt_table_15439" title=""/>
          <p:cNvGraphicFramePr>
            <a:graphicFrameLocks noGrp="1"/>
          </p:cNvGraphicFramePr>
          <p:nvPr/>
        </p:nvGraphicFramePr>
        <p:xfrm>
          <a:off x="432047" y="1451303"/>
          <a:ext cx="4234180" cy="950976"/>
        </p:xfrm>
        <a:graphic>
          <a:graphicData uri="http://schemas.openxmlformats.org/drawingml/2006/table">
            <a:tbl>
              <a:tblPr/>
              <a:tblGrid>
                <a:gridCol w="2583180"/>
                <a:gridCol w="1651000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6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4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6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4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441" name="yt_shape_15441" title=""/>
              <p:cNvSpPr txBox="1"/>
              <p:nvPr/>
            </p:nvSpPr>
            <p:spPr>
              <a:xfrm>
                <a:off x="432096" y="2452857"/>
                <a:ext cx="11707329" cy="138877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利用复数的乘法和共轭复数的定义可求得结果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因为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，故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，故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）＝（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）（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4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4i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en-US" altLang="zh-CN" sz="2400" b="0" i="0" u="none" baseline="30000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6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b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2i.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故选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C. 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441" name="yt_shape_154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6" y="2452857"/>
                <a:ext cx="11707329" cy="1388778"/>
              </a:xfrm>
              <a:prstGeom prst="rect">
                <a:avLst/>
              </a:prstGeom>
              <a:blipFill rotWithShape="1">
                <a:blip r:embed="rId4"/>
                <a:stretch>
                  <a:fillRect l="-3" t="-35" r="1" b="-2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 title=""/>
          <p:cNvSpPr txBox="1"/>
          <p:nvPr/>
        </p:nvSpPr>
        <p:spPr>
          <a:xfrm>
            <a:off x="6093276" y="933332"/>
            <a:ext cx="383285" cy="517983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C</a:t>
            </a:r>
            <a:endParaRPr kumimoji="0" lang="en-US" altLang="zh-CN" sz="2400" b="0" i="0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+mn-cs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2687300" y="125095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1" grpId="0" uiExpand="1" build="allAtOnce"/>
      <p:bldP spid="7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9" name="文本2" title=""/>
          <p:cNvSpPr txBox="1"/>
          <p:nvPr/>
        </p:nvSpPr>
        <p:spPr>
          <a:xfrm>
            <a:off x="431667" y="656488"/>
            <a:ext cx="579542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复数加减法几何意义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>
        <mc:Choice Requires="a14">
          <p:sp>
            <p:nvSpPr>
              <p:cNvPr id="15327" name="yt_shape_15327" title=""/>
              <p:cNvSpPr txBox="1"/>
              <p:nvPr/>
            </p:nvSpPr>
            <p:spPr>
              <a:xfrm>
                <a:off x="462575" y="1269815"/>
                <a:ext cx="11707329" cy="397352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indent="-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复数加法的几何意义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黑体" panose="02010609060101010101" pitchFamily="49" charset="-122"/>
                </a:endParaRPr>
              </a:p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设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分别与复数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∈</a:t>
                </a:r>
                <a:r>
                  <a:rPr lang="en-US" altLang="zh-CN" sz="2400" b="1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R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对应，则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_⨹_1_f5790"/>
                  </a:rPr>
                  <a:t>＝</a:t>
                </a:r>
                <a:b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由平面向量的坐标运算法则，得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endParaRPr lang="en-US" altLang="zh-CN" sz="1500" b="0" i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mbria Math" panose="02040503050406030204" charset="0"/>
                </a:endParaRPr>
              </a:p>
              <a:p>
                <a:pPr marL="304165" algn="ctr" eaLnBrk="1" latinLnBrk="0" hangingPunct="0">
                  <a:lnSpc>
                    <a:spcPct val="130000"/>
                  </a:lnSpc>
                </a:pP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_⨹_1_7b572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这说明两个向量</a:t>
                </a:r>
                <a:r>
                  <a:rPr lang="en-US" altLang="zh-CN" sz="1500" b="0" i="1" spc="15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 spc="15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 spc="15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 spc="15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与</a:t>
                </a:r>
                <a:r>
                  <a:rPr lang="en-US" altLang="zh-CN" sz="1500" b="0" i="1" spc="15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 spc="15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 spc="15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spc="150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 spc="15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的和就是与复数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en-US" altLang="zh-CN" sz="1500" b="0" i="1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 spc="150" err="1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3_9dc88"/>
                  </a:rPr>
                  <a:t>对应的</a:t>
                </a:r>
                <a:b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向量</a:t>
                </a:r>
                <a:r>
                  <a:rPr lang="en-US" altLang="zh-CN" sz="2400" b="0" i="0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因此，复数的加法可以按照向量的加法来进行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如图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7_9b49a"/>
                  </a:rPr>
                  <a:t>，这就是复数加</a:t>
                </a:r>
                <a:b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 spc="150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法的几何意义</a:t>
                </a:r>
                <a:r>
                  <a:rPr lang="en-US" altLang="zh-CN" sz="2400" b="0" i="0" u="none" spc="15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 spc="150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27" name="yt_shape_153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75" y="1269815"/>
                <a:ext cx="11707329" cy="3973524"/>
              </a:xfrm>
              <a:prstGeom prst="rect">
                <a:avLst/>
              </a:prstGeom>
              <a:blipFill rotWithShape="1">
                <a:blip r:embed="rId3"/>
                <a:stretch>
                  <a:fillRect l="-3" t="-11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yt_image_15331" title="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991354" y="4725144"/>
            <a:ext cx="2206118" cy="194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新知学习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6" name="图片3" title=""/>
          <p:cNvPicPr>
            <a:picLocks noChangeAspect="1"/>
          </p:cNvPicPr>
          <p:nvPr/>
        </p:nvPicPr>
        <p:blipFill>
          <a:blip r:embed="rId4"/>
          <a:srcRect l="34528" t="25048" r="37904" b="13980"/>
          <a:stretch>
            <a:fillRect/>
          </a:stretch>
        </p:blipFill>
        <p:spPr>
          <a:xfrm>
            <a:off x="8865775" y="1025490"/>
            <a:ext cx="3013967" cy="2415561"/>
          </a:xfrm>
          <a:prstGeom prst="rect">
            <a:avLst/>
          </a:prstGeom>
        </p:spPr>
      </p:pic>
      <p:pic>
        <p:nvPicPr>
          <p:cNvPr id="7" name="图片4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24" y="1498171"/>
            <a:ext cx="8894502" cy="1983667"/>
          </a:xfrm>
          <a:prstGeom prst="rect">
            <a:avLst/>
          </a:prstGeom>
        </p:spPr>
      </p:pic>
      <p:pic>
        <p:nvPicPr>
          <p:cNvPr id="8" name="图片5" titl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572" y="3718239"/>
            <a:ext cx="11423856" cy="2437086"/>
          </a:xfrm>
          <a:prstGeom prst="rect">
            <a:avLst/>
          </a:prstGeom>
        </p:spPr>
      </p:pic>
      <p:sp>
        <p:nvSpPr>
          <p:cNvPr id="9" name="文本2" title=""/>
          <p:cNvSpPr txBox="1"/>
          <p:nvPr/>
        </p:nvSpPr>
        <p:spPr>
          <a:xfrm>
            <a:off x="279267" y="656488"/>
            <a:ext cx="579542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复数加减法几何意义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复数加减法的几何意义</a:t>
            </a:r>
            <a:endParaRPr lang="en-US" altLang="zh-CN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57" name="yt_shape_15457" title=""/>
              <p:cNvSpPr txBox="1"/>
              <p:nvPr/>
            </p:nvSpPr>
            <p:spPr>
              <a:xfrm>
                <a:off x="432095" y="972000"/>
                <a:ext cx="11326413" cy="144520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en-US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宋体" panose="02010600030101010101" pitchFamily="2" charset="-122"/>
                  </a:rPr>
                  <a:t>典例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如图所示，平行四边形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OABC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的顶点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分别表示为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4i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，求：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表示的复数；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457" name="yt_shape_154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5" y="972000"/>
                <a:ext cx="11326413" cy="1445204"/>
              </a:xfrm>
              <a:prstGeom prst="rect">
                <a:avLst/>
              </a:prstGeom>
              <a:blipFill rotWithShape="1">
                <a:blip r:embed="rId3"/>
                <a:stretch>
                  <a:fillRect l="-3" t="-31" r="2" b="-2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8" name="yt_shape_15459" title=""/>
              <p:cNvSpPr txBox="1"/>
              <p:nvPr/>
            </p:nvSpPr>
            <p:spPr>
              <a:xfrm>
                <a:off x="432096" y="2626388"/>
                <a:ext cx="8718851" cy="9700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解：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因为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，所以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𝐴𝑂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表示的复数为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_⨹_1_3806e"/>
                  </a:rPr>
                  <a:t>3</a:t>
                </a:r>
                <a:b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</a:b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8" name="yt_shape_154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6" y="2626388"/>
                <a:ext cx="8718851" cy="970009"/>
              </a:xfrm>
              <a:prstGeom prst="rect">
                <a:avLst/>
              </a:prstGeom>
              <a:blipFill rotWithShape="1">
                <a:blip r:embed="rId4"/>
                <a:stretch>
                  <a:fillRect l="-3" t="-3" r="7" b="-3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61" name="yt_image_15461" title="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805935" y="2626388"/>
            <a:ext cx="2952478" cy="290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63" name="yt_shape_15463" title=""/>
              <p:cNvSpPr txBox="1"/>
              <p:nvPr/>
            </p:nvSpPr>
            <p:spPr>
              <a:xfrm>
                <a:off x="432000" y="972000"/>
                <a:ext cx="4018536" cy="48494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对角线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𝐶𝐴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表示的复数；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463" name="yt_shape_154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972000"/>
                <a:ext cx="4018536" cy="484941"/>
              </a:xfrm>
              <a:prstGeom prst="rect">
                <a:avLst/>
              </a:prstGeom>
              <a:blipFill rotWithShape="1">
                <a:blip r:embed="rId3"/>
                <a:stretch>
                  <a:fillRect l="-5" t="-93" r="-3465" b="-9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8" name="yt_shape_15465" title=""/>
              <p:cNvSpPr txBox="1"/>
              <p:nvPr/>
            </p:nvSpPr>
            <p:spPr>
              <a:xfrm>
                <a:off x="432095" y="1660093"/>
                <a:ext cx="8718851" cy="9700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解：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因为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𝐶𝐴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，所以对角线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𝐶𝐴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6_d7736"/>
                  </a:rPr>
                  <a:t>表示的复数为</a:t>
                </a:r>
                <a:b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）－（－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4i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5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8" name="yt_shape_154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5" y="1660093"/>
                <a:ext cx="8718851" cy="970009"/>
              </a:xfrm>
              <a:prstGeom prst="rect">
                <a:avLst/>
              </a:prstGeom>
              <a:blipFill rotWithShape="1">
                <a:blip r:embed="rId4"/>
                <a:stretch>
                  <a:fillRect l="-3" t="-21" r="7" b="-3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67" name="yt_image_15467" title="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805935" y="1660093"/>
            <a:ext cx="2952478" cy="290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复数加减法的几何意义</a:t>
            </a:r>
            <a:endParaRPr lang="en-US" altLang="zh-CN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69" name="yt_shape_15469" title=""/>
              <p:cNvSpPr txBox="1"/>
              <p:nvPr/>
            </p:nvSpPr>
            <p:spPr>
              <a:xfrm>
                <a:off x="432000" y="972000"/>
                <a:ext cx="3823419" cy="4776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761365" indent="-7613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对角线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表示的复数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469" name="yt_shape_154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972000"/>
                <a:ext cx="3823419" cy="477631"/>
              </a:xfrm>
              <a:prstGeom prst="rect">
                <a:avLst/>
              </a:prstGeom>
              <a:blipFill rotWithShape="1">
                <a:blip r:embed="rId3"/>
                <a:stretch>
                  <a:fillRect l="-5" t="-94" r="-1022" b="-1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2" name="yt_shape_15471" title=""/>
              <p:cNvSpPr txBox="1"/>
              <p:nvPr/>
            </p:nvSpPr>
            <p:spPr>
              <a:xfrm>
                <a:off x="432095" y="1652783"/>
                <a:ext cx="8718851" cy="9700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解：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因为对角线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𝑂𝐶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，所以对角线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3_3b131"/>
                  </a:rPr>
                  <a:t>表示的</a:t>
                </a:r>
                <a:b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复数为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4i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6i.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2" name="yt_shape_154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5" y="1652783"/>
                <a:ext cx="8718851" cy="970009"/>
              </a:xfrm>
              <a:prstGeom prst="rect">
                <a:avLst/>
              </a:prstGeom>
              <a:blipFill rotWithShape="1">
                <a:blip r:embed="rId4"/>
                <a:stretch>
                  <a:fillRect l="-3" t="-53" r="7" b="-3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73" name="yt_image_15473" title="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805935" y="1652783"/>
            <a:ext cx="2952478" cy="290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典例剖析</a:t>
            </a:r>
            <a:r>
              <a:rPr lang="en-US" altLang="zh-CN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800" b="1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复数加减法的几何意义</a:t>
            </a:r>
            <a:endParaRPr lang="en-US" altLang="zh-CN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易错提醒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515" name="yt_shape_15515" title=""/>
              <p:cNvSpPr txBox="1"/>
              <p:nvPr/>
            </p:nvSpPr>
            <p:spPr>
              <a:xfrm>
                <a:off x="366055" y="656564"/>
                <a:ext cx="11326413" cy="15606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示例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设向量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表示的复数是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为坐标原点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，将向量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向上平移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1_ece7e"/>
                  </a:rPr>
                  <a:t>个</a:t>
                </a:r>
                <a:b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单位长度，再向左平移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个单位长度，得到向量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，求向量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、点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和向量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  <a:sym typeface="_⨹_1_4259f"/>
                  </a:rPr>
                  <a:t> </a:t>
                </a:r>
                <a:b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</a:b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分别表示的复数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15" name="yt_shape_155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5" y="656564"/>
                <a:ext cx="11326413" cy="1560620"/>
              </a:xfrm>
              <a:prstGeom prst="rect">
                <a:avLst/>
              </a:prstGeom>
              <a:blipFill rotWithShape="1">
                <a:blip r:embed="rId3"/>
                <a:stretch>
                  <a:fillRect l="-3" t="-39" r="2" b="-6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5517" name="yt_shape_15517" title=""/>
              <p:cNvSpPr txBox="1"/>
              <p:nvPr/>
            </p:nvSpPr>
            <p:spPr>
              <a:xfrm>
                <a:off x="365960" y="2267972"/>
                <a:ext cx="7903767" cy="48494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错解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表示的复数为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5i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</p:txBody>
          </p:sp>
        </mc:Choice>
        <mc:Fallback>
          <p:sp>
            <p:nvSpPr>
              <p:cNvPr id="15517" name="yt_shape_155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" y="2267972"/>
                <a:ext cx="7903767" cy="484941"/>
              </a:xfrm>
              <a:prstGeom prst="rect">
                <a:avLst/>
              </a:prstGeom>
              <a:blipFill rotWithShape="1">
                <a:blip r:embed="rId4"/>
                <a:stretch>
                  <a:fillRect l="-3" t="-80" r="-1686" b="-16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19" name="yt_shape_15519" title=""/>
          <p:cNvSpPr txBox="1"/>
          <p:nvPr/>
        </p:nvSpPr>
        <p:spPr>
          <a:xfrm>
            <a:off x="365960" y="2803701"/>
            <a:ext cx="6823984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O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点对应的复数为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2i.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mc:AlternateContent>
        <mc:Choice Requires="a14">
          <p:sp>
            <p:nvSpPr>
              <p:cNvPr id="15520" name="yt_shape_15520" title=""/>
              <p:cNvSpPr txBox="1"/>
              <p:nvPr/>
            </p:nvSpPr>
            <p:spPr>
              <a:xfrm>
                <a:off x="366055" y="3283004"/>
                <a:ext cx="11707329" cy="9700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∵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＝－（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1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5i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7i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_⨹_1_1947c"/>
                  </a:rPr>
                  <a:t>）</a:t>
                </a:r>
                <a:b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7i.</a:t>
                </a:r>
                <a:endParaRPr lang="en-US" altLang="zh-CN" sz="2400" b="0" i="0" u="none">
                  <a:solidFill>
                    <a:srgbClr val="00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20" name="yt_shape_155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55" y="3283004"/>
                <a:ext cx="11707329" cy="970009"/>
              </a:xfrm>
              <a:prstGeom prst="rect">
                <a:avLst/>
              </a:prstGeom>
              <a:blipFill rotWithShape="1">
                <a:blip r:embed="rId5"/>
                <a:stretch>
                  <a:fillRect l="-3" t="-6" r="1" b="-7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5524" name="yt_shape_15524" title=""/>
              <p:cNvSpPr txBox="1"/>
              <p:nvPr/>
            </p:nvSpPr>
            <p:spPr>
              <a:xfrm>
                <a:off x="365960" y="4398309"/>
                <a:ext cx="10556736" cy="4776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正解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由题意得，向量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对应的复数是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点对应的复数是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24" name="yt_shape_155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" y="4398309"/>
                <a:ext cx="10556736" cy="477631"/>
              </a:xfrm>
              <a:prstGeom prst="rect">
                <a:avLst/>
              </a:prstGeom>
              <a:blipFill rotWithShape="1">
                <a:blip r:embed="rId6"/>
                <a:stretch>
                  <a:fillRect l="-2" t="-63" r="-60" b="-3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5526" name="yt_shape_15526" title=""/>
              <p:cNvSpPr txBox="1"/>
              <p:nvPr/>
            </p:nvSpPr>
            <p:spPr>
              <a:xfrm>
                <a:off x="365960" y="4926728"/>
                <a:ext cx="10302116" cy="4776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＝－（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）＝－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[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3i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]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5i.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26" name="yt_shape_155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" y="4926728"/>
                <a:ext cx="10302116" cy="477631"/>
              </a:xfrm>
              <a:prstGeom prst="rect">
                <a:avLst/>
              </a:prstGeom>
              <a:blipFill rotWithShape="1">
                <a:blip r:embed="rId7"/>
                <a:stretch>
                  <a:fillRect l="-2" t="-83" r="-215" b="-18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5528" name="yt_shape_15528" title=""/>
              <p:cNvSpPr txBox="1"/>
              <p:nvPr/>
            </p:nvSpPr>
            <p:spPr>
              <a:xfrm>
                <a:off x="365960" y="5455147"/>
                <a:ext cx="4498347" cy="477631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故向量</a:t>
                </a:r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对应的复数为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FF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5i.</a:t>
                </a:r>
                <a:endParaRPr lang="en-US" altLang="zh-CN" sz="2400" b="0" i="0" u="none">
                  <a:solidFill>
                    <a:srgbClr val="FF0000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28" name="yt_shape_155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" y="5455147"/>
                <a:ext cx="4498347" cy="477631"/>
              </a:xfrm>
              <a:prstGeom prst="rect">
                <a:avLst/>
              </a:prstGeom>
              <a:blipFill rotWithShape="1">
                <a:blip r:embed="rId8"/>
                <a:stretch>
                  <a:fillRect l="-4" t="-104" r="-885" b="-1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24" grpId="0" build="allAtOnce"/>
      <p:bldP spid="15526" grpId="0" build="allAtOnce"/>
      <p:bldP spid="15528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15536" name="yt_shape_15536" title=""/>
          <p:cNvSpPr txBox="1"/>
          <p:nvPr/>
        </p:nvSpPr>
        <p:spPr>
          <a:xfrm>
            <a:off x="432096" y="726976"/>
            <a:ext cx="11326413" cy="8921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黑体" panose="02010609060101010101" pitchFamily="49" charset="-122"/>
              </a:rPr>
              <a:t>示例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2]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若复数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满足｜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，则复数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对应的点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4_18639"/>
              </a:rPr>
              <a:t>的轨迹是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400" b="0" i="0" u="non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537" name="yt_table_15537" title=""/>
          <p:cNvGraphicFramePr>
            <a:graphicFrameLocks noGrp="1"/>
          </p:cNvGraphicFramePr>
          <p:nvPr/>
        </p:nvGraphicFramePr>
        <p:xfrm>
          <a:off x="432047" y="1669931"/>
          <a:ext cx="4354830" cy="950976"/>
        </p:xfrm>
        <a:graphic>
          <a:graphicData uri="http://schemas.openxmlformats.org/drawingml/2006/table">
            <a:tbl>
              <a:tblPr/>
              <a:tblGrid>
                <a:gridCol w="2643505"/>
                <a:gridCol w="1711325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个点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个圆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个圆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4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个点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539" name="yt_shape_15539" title=""/>
          <p:cNvSpPr txBox="1"/>
          <p:nvPr/>
        </p:nvSpPr>
        <p:spPr>
          <a:xfrm>
            <a:off x="432095" y="2671485"/>
            <a:ext cx="11326413" cy="13887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黑体" panose="02010609060101010101" pitchFamily="49" charset="-122"/>
              </a:rPr>
              <a:t>错解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由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，可得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_⨹_1_8bfb6"/>
              </a:rPr>
              <a:t>＋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＞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，所以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，于是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±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，因此点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的轨迹是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个点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和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  <a:sym typeface="_⨹_1_25319"/>
              </a:rPr>
              <a:t>，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</a:b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，故选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A. </a:t>
            </a:r>
            <a:endParaRPr lang="en-US" altLang="zh-CN" sz="2400" b="0" i="0" u="none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5540" name="yt_shape_15540" title=""/>
          <p:cNvSpPr txBox="1"/>
          <p:nvPr/>
        </p:nvSpPr>
        <p:spPr>
          <a:xfrm>
            <a:off x="432095" y="4111051"/>
            <a:ext cx="11707329" cy="9086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黑体" panose="02010609060101010101" pitchFamily="49" charset="-122"/>
              </a:rPr>
              <a:t>易错分析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仿宋" panose="02010609060101010101" pitchFamily="24" charset="-122"/>
              </a:rPr>
              <a:t>本题错解在于由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仿宋" panose="02010609060101010101" pitchFamily="24" charset="-122"/>
              </a:rPr>
              <a:t>得出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±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仿宋" panose="02010609060101010101" pitchFamily="24" charset="-122"/>
              </a:rPr>
              <a:t>，其实质是混淆了实数的绝对值与</a:t>
            </a:r>
            <a:br>
              <a:rPr lang="zh-CN" altLang="zh-CN" sz="2400" b="0" i="0" u="none">
                <a:effectLst/>
                <a:latin typeface="白正" pitchFamily="24"/>
                <a:ea typeface="仿宋" panose="02010609060101010101" pitchFamily="24" charset="-122"/>
              </a:rPr>
            </a:b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仿宋" panose="02010609060101010101" pitchFamily="24" charset="-122"/>
              </a:rPr>
              <a:t>复数的模之间的区别，导致错误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endParaRPr lang="en-US" altLang="zh-CN" sz="2400" b="0" i="0" u="none">
              <a:solidFill>
                <a:srgbClr val="0000FF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易错提醒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41" name="yt_shape_15541" title=""/>
          <p:cNvSpPr txBox="1"/>
          <p:nvPr/>
        </p:nvSpPr>
        <p:spPr>
          <a:xfrm>
            <a:off x="432096" y="4989010"/>
            <a:ext cx="11707329" cy="18689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黑体" panose="02010609060101010101" pitchFamily="49" charset="-122"/>
              </a:rPr>
              <a:t>答案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B</a:t>
            </a:r>
            <a:endParaRPr lang="en-US" altLang="zh-CN" sz="2400" b="0" i="0" u="none">
              <a:solidFill>
                <a:srgbClr val="FF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  <a:p>
            <a:pPr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[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黑体" panose="02010609060101010101" pitchFamily="49" charset="-122"/>
              </a:rPr>
              <a:t>正解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]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由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2400" b="0" i="0" u="none" baseline="30000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，可得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）（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）＝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，而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_⨹_1_19eda"/>
              </a:rPr>
              <a:t>＋</a:t>
            </a:r>
            <a:b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＞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，所以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宋体" panose="02010600030101010101" pitchFamily="2" charset="-122"/>
              </a:rPr>
              <a:t>｜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，由复数模的几何意义可知，复数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  <a:sym typeface="_⨹_12_6f5f5"/>
              </a:rPr>
              <a:t>对应的点到原点的距离等于</a:t>
            </a:r>
            <a:b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</a:b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，即点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的轨迹是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个圆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.</a:t>
            </a:r>
            <a:r>
              <a:rPr lang="zh-CN" altLang="zh-CN" sz="2400" b="0" i="0" u="none">
                <a:solidFill>
                  <a:srgbClr val="FF0000"/>
                </a:solidFill>
                <a:effectLst/>
                <a:latin typeface="白正" pitchFamily="24"/>
                <a:ea typeface="楷体" panose="02010609060101010101" pitchFamily="24" charset="-122"/>
              </a:rPr>
              <a:t>故选</a:t>
            </a:r>
            <a:r>
              <a:rPr lang="en-US" altLang="zh-CN" sz="2400" b="0" i="0" u="none">
                <a:solidFill>
                  <a:srgbClr val="FF0000"/>
                </a:solidFill>
                <a:effectLst/>
                <a:latin typeface="Times New Roman" panose="02020603050405020304"/>
                <a:ea typeface="Times New Roman" panose="02020603050405020304"/>
              </a:rPr>
              <a:t>B. </a:t>
            </a:r>
            <a:endParaRPr lang="en-US" altLang="zh-CN" sz="2400" b="0" i="0" u="none">
              <a:solidFill>
                <a:srgbClr val="FF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40" grpId="0" build="allAtOnce"/>
      <p:bldP spid="15541" grpId="0" uiExpand="1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高考真题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6" name="图片3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16" y="873385"/>
            <a:ext cx="9144000" cy="2265281"/>
          </a:xfrm>
          <a:prstGeom prst="rect">
            <a:avLst/>
          </a:prstGeom>
        </p:spPr>
      </p:pic>
      <p:pic>
        <p:nvPicPr>
          <p:cNvPr id="7" name="图片4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25" y="3636369"/>
            <a:ext cx="9307535" cy="1914525"/>
          </a:xfrm>
          <a:prstGeom prst="rect">
            <a:avLst/>
          </a:prstGeom>
        </p:spPr>
      </p:pic>
      <p:pic>
        <p:nvPicPr>
          <p:cNvPr id="8" name="公式1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65" y="737083"/>
            <a:ext cx="787591" cy="838200"/>
          </a:xfrm>
          <a:prstGeom prst="rect">
            <a:avLst/>
          </a:prstGeom>
        </p:spPr>
      </p:pic>
      <p:pic>
        <p:nvPicPr>
          <p:cNvPr id="9" name="公式2" titl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434" y="3445412"/>
            <a:ext cx="835009" cy="838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高考真题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6" name="图片3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2" y="962377"/>
            <a:ext cx="9144000" cy="2001996"/>
          </a:xfrm>
          <a:prstGeom prst="rect">
            <a:avLst/>
          </a:prstGeom>
        </p:spPr>
      </p:pic>
      <p:pic>
        <p:nvPicPr>
          <p:cNvPr id="7" name="图片4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89" y="3674964"/>
            <a:ext cx="9621936" cy="2001507"/>
          </a:xfrm>
          <a:prstGeom prst="rect">
            <a:avLst/>
          </a:prstGeom>
        </p:spPr>
      </p:pic>
      <p:pic>
        <p:nvPicPr>
          <p:cNvPr id="8" name="公式1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985" y="892607"/>
            <a:ext cx="835009" cy="838200"/>
          </a:xfrm>
          <a:prstGeom prst="rect">
            <a:avLst/>
          </a:prstGeom>
        </p:spPr>
      </p:pic>
      <p:pic>
        <p:nvPicPr>
          <p:cNvPr id="9" name="公式2" titl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686" y="3572466"/>
            <a:ext cx="787591" cy="838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15350" name="yt_shape_15350" title=""/>
          <p:cNvSpPr txBox="1"/>
          <p:nvPr/>
        </p:nvSpPr>
        <p:spPr>
          <a:xfrm>
            <a:off x="241595" y="724985"/>
            <a:ext cx="11326413" cy="13887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1.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在复平面内，复数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对应的点在虚轴上，则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2_46b5b"/>
              </a:rPr>
              <a:t>的值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为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en-US" altLang="zh-CN" sz="2400" b="0" i="0" u="none">
                <a:solidFill>
                  <a:srgbClr val="FF0000">
                    <a:alpha val="0"/>
                  </a:srgbClr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400" b="0" i="0" u="non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352" name="yt_table_15352" title=""/>
          <p:cNvGraphicFramePr>
            <a:graphicFrameLocks noGrp="1"/>
          </p:cNvGraphicFramePr>
          <p:nvPr/>
        </p:nvGraphicFramePr>
        <p:xfrm>
          <a:off x="520832" y="1806094"/>
          <a:ext cx="5894706" cy="950976"/>
        </p:xfrm>
        <a:graphic>
          <a:graphicData uri="http://schemas.openxmlformats.org/drawingml/2006/table">
            <a:tbl>
              <a:tblPr/>
              <a:tblGrid>
                <a:gridCol w="3413443"/>
                <a:gridCol w="2481263"/>
              </a:tblGrid>
              <a:tr h="47498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且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354" name="yt_shape_15354" title=""/>
          <p:cNvSpPr txBox="1"/>
          <p:nvPr/>
        </p:nvSpPr>
        <p:spPr>
          <a:xfrm>
            <a:off x="241595" y="2974653"/>
            <a:ext cx="11707329" cy="9086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041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黑体" panose="02010609060101010101" pitchFamily="49" charset="-122"/>
              </a:rPr>
              <a:t>解析：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∵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复数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对应的点在虚轴上，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∴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b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，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∴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或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2.</a:t>
            </a:r>
            <a:endParaRPr lang="en-US" altLang="zh-CN" sz="2400" b="0" i="0" u="none">
              <a:solidFill>
                <a:srgbClr val="0000FF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1370330" y="1250950"/>
            <a:ext cx="400685" cy="55499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A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55" name="yt_shape_15355" title=""/>
          <p:cNvSpPr txBox="1"/>
          <p:nvPr/>
        </p:nvSpPr>
        <p:spPr>
          <a:xfrm>
            <a:off x="432635" y="3981900"/>
            <a:ext cx="8372485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2.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在复平面内，复数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sin 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i cos 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对应的点位于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en-US" altLang="zh-CN" sz="2400" b="0" i="0" u="none">
                <a:solidFill>
                  <a:srgbClr val="FF0000">
                    <a:alpha val="0"/>
                  </a:srgbClr>
                </a:solidFill>
                <a:effectLst/>
                <a:latin typeface="Times New Roman" panose="02020603050405020304"/>
                <a:ea typeface="Times New Roman" panose="02020603050405020304"/>
              </a:rPr>
              <a:t>D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400" b="0" i="0" u="non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356" name="yt_table_15356" title=""/>
          <p:cNvGraphicFramePr>
            <a:graphicFrameLocks noGrp="1"/>
          </p:cNvGraphicFramePr>
          <p:nvPr/>
        </p:nvGraphicFramePr>
        <p:xfrm>
          <a:off x="737367" y="4461203"/>
          <a:ext cx="5648643" cy="950976"/>
        </p:xfrm>
        <a:graphic>
          <a:graphicData uri="http://schemas.openxmlformats.org/drawingml/2006/table">
            <a:tbl>
              <a:tblPr/>
              <a:tblGrid>
                <a:gridCol w="3480118"/>
                <a:gridCol w="2168525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第一象限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第二象限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第三象限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第四象限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358" name="yt_shape_15358" title=""/>
              <p:cNvSpPr txBox="1"/>
              <p:nvPr/>
            </p:nvSpPr>
            <p:spPr>
              <a:xfrm>
                <a:off x="432731" y="5462757"/>
                <a:ext cx="11707329" cy="10654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因为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f>
                        <m:fPr>
                          <m:type m:val="bar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π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π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，所以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sin 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＞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cos 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0.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所以复数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sin 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 cos 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在复平面</a:t>
                </a:r>
                <a:b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</a:b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内对应的点位于第四象限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358" name="yt_shape_153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31" y="5462757"/>
                <a:ext cx="11707329" cy="1065420"/>
              </a:xfrm>
              <a:prstGeom prst="rect">
                <a:avLst/>
              </a:prstGeom>
              <a:blipFill rotWithShape="1">
                <a:blip r:embed="rId3"/>
                <a:stretch>
                  <a:fillRect l="-3" t="-46" r="1" b="-2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 title=""/>
          <p:cNvSpPr txBox="1"/>
          <p:nvPr/>
        </p:nvSpPr>
        <p:spPr>
          <a:xfrm>
            <a:off x="7803873" y="3935094"/>
            <a:ext cx="400748" cy="517983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D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54" grpId="0" build="allAtOnce"/>
      <p:bldP spid="6" grpId="0" build="allAtOnce"/>
      <p:bldP spid="15358" grpId="0" build="allAtOnce"/>
      <p:bldP spid="7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545" name="yt_shape_15545" title=""/>
              <p:cNvSpPr txBox="1"/>
              <p:nvPr/>
            </p:nvSpPr>
            <p:spPr>
              <a:xfrm>
                <a:off x="432095" y="716730"/>
                <a:ext cx="11326413" cy="149925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indent="-3041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3.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在复平面内，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O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为原点，向量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对应的复数为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，若点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关于直线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y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x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  <a:sym typeface="_⨹_1_5c8cf"/>
                  </a:rPr>
                  <a:t> </a:t>
                </a:r>
                <a:b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</a:b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的对称点为点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，则向量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对应的复数为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en-US" altLang="zh-CN" sz="2400" b="0" i="0" u="none">
                    <a:solidFill>
                      <a:srgbClr val="FF0000">
                        <a:alpha val="0"/>
                      </a:srgbClr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545" name="yt_shape_155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5" y="716730"/>
                <a:ext cx="11326413" cy="1499257"/>
              </a:xfrm>
              <a:prstGeom prst="rect">
                <a:avLst/>
              </a:prstGeom>
              <a:blipFill rotWithShape="1">
                <a:blip r:embed="rId3"/>
                <a:stretch>
                  <a:fillRect l="-3" t="-30" r="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47" name="yt_table_15547" title=""/>
          <p:cNvGraphicFramePr>
            <a:graphicFrameLocks noGrp="1"/>
          </p:cNvGraphicFramePr>
          <p:nvPr/>
        </p:nvGraphicFramePr>
        <p:xfrm>
          <a:off x="736732" y="1946417"/>
          <a:ext cx="4708843" cy="950976"/>
        </p:xfrm>
        <a:graphic>
          <a:graphicData uri="http://schemas.openxmlformats.org/drawingml/2006/table">
            <a:tbl>
              <a:tblPr/>
              <a:tblGrid>
                <a:gridCol w="2753043"/>
                <a:gridCol w="1955800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549" name="yt_shape_15549" title=""/>
              <p:cNvSpPr txBox="1"/>
              <p:nvPr/>
            </p:nvSpPr>
            <p:spPr>
              <a:xfrm>
                <a:off x="475910" y="2896536"/>
                <a:ext cx="11707329" cy="95776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因为复数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对应的点为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，点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关于直线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y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x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的对称点</a:t>
                </a:r>
                <a:br>
                  <a:rPr lang="zh-CN" altLang="zh-CN" sz="2400" b="0" i="0" u="none">
                    <a:solidFill>
                      <a:srgbClr val="FF0000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</a:b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为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，所以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acc>
                        <m:accPr>
                          <m:chr m:val="⃗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𝑂𝐵</m:t>
                          </m:r>
                        </m:e>
                      </m:acc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对应的复数为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i.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49" name="yt_shape_155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10" y="2896536"/>
                <a:ext cx="11707329" cy="957763"/>
              </a:xfrm>
              <a:prstGeom prst="rect">
                <a:avLst/>
              </a:prstGeom>
              <a:blipFill rotWithShape="1">
                <a:blip r:embed="rId4"/>
                <a:stretch>
                  <a:fillRect l="-3" t="-31" r="1" b="-5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 title=""/>
          <p:cNvSpPr txBox="1"/>
          <p:nvPr/>
        </p:nvSpPr>
        <p:spPr>
          <a:xfrm>
            <a:off x="6923477" y="1379410"/>
            <a:ext cx="383286" cy="566623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B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49" grpId="0" build="allAtOnce"/>
      <p:bldP spid="6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15551" name="yt_shape_15551" title=""/>
          <p:cNvSpPr txBox="1"/>
          <p:nvPr/>
        </p:nvSpPr>
        <p:spPr>
          <a:xfrm>
            <a:off x="432095" y="972000"/>
            <a:ext cx="11326413" cy="9086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4.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是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复数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9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 err="1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b="1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R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为纯虚数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  <a:sym typeface="_⨹_1_6abd0"/>
              </a:rPr>
              <a:t>的</a:t>
            </a:r>
            <a:b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</a:b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en-US" altLang="zh-CN" sz="2400" b="0" i="0" u="none">
                <a:solidFill>
                  <a:srgbClr val="FF0000">
                    <a:alpha val="0"/>
                  </a:srgbClr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400" b="0" i="0" u="non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552" name="yt_table_15552" title=""/>
          <p:cNvGraphicFramePr>
            <a:graphicFrameLocks noGrp="1"/>
          </p:cNvGraphicFramePr>
          <p:nvPr/>
        </p:nvGraphicFramePr>
        <p:xfrm>
          <a:off x="736732" y="1931435"/>
          <a:ext cx="3997325" cy="1901952"/>
        </p:xfrm>
        <a:graphic>
          <a:graphicData uri="http://schemas.openxmlformats.org/drawingml/2006/table">
            <a:tbl>
              <a:tblPr/>
              <a:tblGrid>
                <a:gridCol w="3997325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充分不必要条件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必要不充分条件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充要条件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既不充分又不必要条件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554" name="yt_shape_15554" title=""/>
          <p:cNvSpPr txBox="1"/>
          <p:nvPr/>
        </p:nvSpPr>
        <p:spPr>
          <a:xfrm>
            <a:off x="432096" y="3883755"/>
            <a:ext cx="11707329" cy="9086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04165" algn="l" eaLnBrk="1" latinLnBrk="0" hangingPunct="0">
              <a:lnSpc>
                <a:spcPct val="130000"/>
              </a:lnSpc>
            </a:pP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黑体" panose="02010609060101010101" pitchFamily="49" charset="-122"/>
              </a:rPr>
              <a:t>解析：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当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时，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2i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为纯虚数，但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＝（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30000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9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）＋（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0" i="0" u="none" err="1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i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b="1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R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br>
              <a:rPr lang="zh-CN" altLang="zh-CN" sz="2400" b="0" i="0" u="none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为纯虚数时，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altLang="zh-CN" sz="1500" b="0" i="1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±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zh-CN" sz="2400" b="0" i="0" u="none">
                <a:solidFill>
                  <a:srgbClr val="0000FF"/>
                </a:solidFill>
                <a:effectLst/>
                <a:latin typeface="白正" pitchFamily="24"/>
                <a:ea typeface="楷体" panose="02010609060101010101" pitchFamily="24" charset="-122"/>
              </a:rPr>
              <a:t>，故选</a:t>
            </a:r>
            <a:r>
              <a:rPr lang="en-US" altLang="zh-CN" sz="2400" b="0" i="0" u="none">
                <a:solidFill>
                  <a:srgbClr val="0000FF"/>
                </a:solidFill>
                <a:effectLst/>
                <a:latin typeface="Times New Roman" panose="02020603050405020304"/>
                <a:ea typeface="Times New Roman" panose="02020603050405020304"/>
              </a:rPr>
              <a:t>A. </a:t>
            </a:r>
            <a:endParaRPr lang="en-US" altLang="zh-CN" sz="2400" b="0" i="0" u="none">
              <a:solidFill>
                <a:srgbClr val="0000FF"/>
              </a:solidFill>
              <a:effectLst/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" name="文本框 1" title=""/>
          <p:cNvSpPr txBox="1"/>
          <p:nvPr/>
        </p:nvSpPr>
        <p:spPr>
          <a:xfrm>
            <a:off x="1255849" y="1400682"/>
            <a:ext cx="400748" cy="517983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A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54" grpId="0" build="allAtOnce"/>
      <p:bldP spid="2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sp>
        <p:nvSpPr>
          <p:cNvPr id="15494" name="yt_shape_15494" title=""/>
          <p:cNvSpPr txBox="1"/>
          <p:nvPr/>
        </p:nvSpPr>
        <p:spPr>
          <a:xfrm>
            <a:off x="432000" y="972000"/>
            <a:ext cx="8417369" cy="42851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04165" indent="-304165" algn="l" eaLnBrk="1" latinLnBrk="0" hangingPunct="0">
              <a:lnSpc>
                <a:spcPct val="130000"/>
              </a:lnSpc>
            </a:pP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1. 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已知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5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3i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，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z</a:t>
            </a:r>
            <a:r>
              <a:rPr lang="en-US" altLang="zh-CN" sz="1500" b="0" i="1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b="0" i="0" u="none" baseline="-2500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5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400" b="0" i="0" u="none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4i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，下列选项中正确的是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en-US" altLang="zh-CN" sz="2400" b="0" i="0" u="none">
                <a:solidFill>
                  <a:srgbClr val="FF0000">
                    <a:alpha val="0"/>
                  </a:srgbClr>
                </a:solidFill>
                <a:effectLst/>
                <a:latin typeface="Times New Roman" panose="02020603050405020304"/>
                <a:ea typeface="Times New Roman" panose="02020603050405020304"/>
              </a:rPr>
              <a:t>D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白正" pitchFamily="24"/>
                <a:ea typeface="宋体" panose="02010600030101010101" pitchFamily="2" charset="-122"/>
              </a:rPr>
              <a:t>　</a:t>
            </a:r>
            <a:r>
              <a:rPr lang="zh-CN" altLang="zh-CN" sz="2400" b="0" i="0" u="none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zh-CN" sz="2400" b="0" i="0" u="none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495" name="yt_table_15495" title=""/>
          <p:cNvGraphicFramePr>
            <a:graphicFrameLocks noGrp="1"/>
          </p:cNvGraphicFramePr>
          <p:nvPr/>
        </p:nvGraphicFramePr>
        <p:xfrm>
          <a:off x="736732" y="1451303"/>
          <a:ext cx="6744018" cy="950976"/>
        </p:xfrm>
        <a:graphic>
          <a:graphicData uri="http://schemas.openxmlformats.org/drawingml/2006/table">
            <a:tbl>
              <a:tblPr/>
              <a:tblGrid>
                <a:gridCol w="3829368"/>
                <a:gridCol w="2914650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400" b="0" i="0" u="none" baseline="-25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2400" b="0" i="0" u="none" baseline="-25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r>
                        <a:rPr lang="en-US" altLang="zh-CN" sz="2400" b="0" i="1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z</a:t>
                      </a:r>
                      <a:r>
                        <a:rPr lang="en-US" altLang="zh-CN" sz="24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｜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497" name="yt_shape_15497" title=""/>
              <p:cNvSpPr txBox="1"/>
              <p:nvPr/>
            </p:nvSpPr>
            <p:spPr>
              <a:xfrm>
                <a:off x="432000" y="2452857"/>
                <a:ext cx="6582892" cy="1992790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∵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复数不能比较大小，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∴A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不正确；</a:t>
                </a:r>
                <a:endParaRPr lang="zh-CN" altLang="zh-CN" sz="2400" b="0" i="0" u="none">
                  <a:solidFill>
                    <a:srgbClr val="0000FF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又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zh-CN" sz="2400" b="0" i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34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endParaRPr lang="zh-CN" altLang="zh-CN" sz="2400" b="0" i="0" u="none">
                  <a:solidFill>
                    <a:srgbClr val="0000FF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zh-CN" sz="2400" b="0" i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＋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41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endParaRPr lang="zh-CN" altLang="zh-CN" sz="2400" b="0" i="0" u="none">
                  <a:solidFill>
                    <a:srgbClr val="0000FF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  <a:p>
                <a:pPr marL="3041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 baseline="-25000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｜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，故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C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不正确，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正确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497" name="yt_shape_154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2452857"/>
                <a:ext cx="6582892" cy="1992790"/>
              </a:xfrm>
              <a:prstGeom prst="rect">
                <a:avLst/>
              </a:prstGeom>
              <a:blipFill rotWithShape="1">
                <a:blip r:embed="rId3"/>
                <a:stretch>
                  <a:fillRect l="-3" t="-24" r="-180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 title=""/>
          <p:cNvSpPr txBox="1"/>
          <p:nvPr/>
        </p:nvSpPr>
        <p:spPr>
          <a:xfrm>
            <a:off x="7847688" y="925194"/>
            <a:ext cx="400748" cy="517983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D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97" grpId="0" uiExpand="1" build="allAtOnce"/>
      <p:bldP spid="2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499" name="yt_shape_15499" title=""/>
              <p:cNvSpPr txBox="1"/>
              <p:nvPr/>
            </p:nvSpPr>
            <p:spPr>
              <a:xfrm>
                <a:off x="432000" y="972000"/>
                <a:ext cx="10835274" cy="46916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304165" indent="-3041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2.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已知复数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对应的点在第二象限，它的模是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，实部为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，则</a:t>
                </a:r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为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en-US" altLang="zh-CN" sz="2400" b="0" i="0" u="none">
                    <a:solidFill>
                      <a:srgbClr val="FF0000">
                        <a:alpha val="0"/>
                      </a:srgbClr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499" name="yt_shape_154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972000"/>
                <a:ext cx="10835274" cy="469167"/>
              </a:xfrm>
              <a:prstGeom prst="rect">
                <a:avLst/>
              </a:prstGeom>
              <a:blipFill rotWithShape="1">
                <a:blip r:embed="rId3"/>
                <a:stretch>
                  <a:fillRect l="-2" t="-96" r="-388" b="-3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01" name="yt_table_15501" title=""/>
          <p:cNvGraphicFramePr>
            <a:graphicFrameLocks noGrp="1"/>
          </p:cNvGraphicFramePr>
          <p:nvPr/>
        </p:nvGraphicFramePr>
        <p:xfrm>
          <a:off x="736732" y="1491955"/>
          <a:ext cx="5275834" cy="929260"/>
        </p:xfrm>
        <a:graphic>
          <a:graphicData uri="http://schemas.openxmlformats.org/drawingml/2006/table">
            <a:tbl>
              <a:tblPr/>
              <a:tblGrid>
                <a:gridCol w="3104007"/>
                <a:gridCol w="2171827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14:m>
                        <m:oMathPara>
                          <m:oMathParaPr>
                            <m:jc/>
                          </m:oMathParaPr>
                          <m:oMath>
                            <m:rad>
                              <m:radPr>
                                <m:degHide m:val="on"/>
                                <m:ctrlP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oMath>
                        </m:oMathPara>
                      </a14:m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14:m>
                        <m:oMathPara>
                          <m:oMathParaPr>
                            <m:jc/>
                          </m:oMathParaPr>
                          <m:oMath>
                            <m:rad>
                              <m:radPr>
                                <m:degHide m:val="on"/>
                                <m:ctrlP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oMath>
                        </m:oMathPara>
                      </a14:m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14:m>
                        <m:oMathPara>
                          <m:oMathParaPr>
                            <m:jc/>
                          </m:oMathParaPr>
                          <m:oMath>
                            <m:rad>
                              <m:radPr>
                                <m:degHide m:val="on"/>
                                <m:ctrlP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oMath>
                        </m:oMathPara>
                      </a14:m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3i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14:m>
                        <m:oMathPara>
                          <m:oMathParaPr>
                            <m:jc/>
                          </m:oMathParaPr>
                          <m:oMath>
                            <m:rad>
                              <m:radPr>
                                <m:degHide m:val="on"/>
                                <m:ctrlP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/>
                                    <a:ea typeface="Cambria Math" panose="02040503050406030204" charset="0"/>
                                  </a:rPr>
                                  <m:t>5</m:t>
                                </m:r>
                              </m:e>
                            </m:rad>
                          </m:oMath>
                        </m:oMathPara>
                      </a14:m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3i</a:t>
                      </a:r>
                      <a:endParaRPr lang="en-US" altLang="zh-CN" sz="2400" b="0" i="0" u="none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502" name="yt_shape_15502" title=""/>
              <p:cNvSpPr txBox="1"/>
              <p:nvPr/>
            </p:nvSpPr>
            <p:spPr>
              <a:xfrm>
                <a:off x="432000" y="2471798"/>
                <a:ext cx="7746416" cy="2072683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0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设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a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∈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R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，则</a:t>
                </a:r>
                <a14:m>
                  <m:oMathPara>
                    <m:oMathParaPr>
                      <m:jc/>
                    </m:oMathParaPr>
                    <m:oMath>
                      <m:d>
                        <m:dPr>
                          <m:begChr m:val="{"/>
                          <m:sepChr m:val="|"/>
                          <m:endChr/>
                          <m:grow m:val="on"/>
                          <m:shp m:val="centered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maxDist m:val="off"/>
                              <m:objDist m:val="off"/>
                              <m:rSpRule m:val="0"/>
                              <m:rSp m:val="0"/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𝑎</m:t>
                              </m:r>
                              <m:r>
                                <a:rPr lang="zh-CN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＝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>
                                      <a:solidFill>
                                        <a:srgbClr val="0000FF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FF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>
                                      <a:solidFill>
                                        <a:srgbClr val="0000FF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altLang="zh-CN" sz="2400" b="0" i="0">
                                      <a:solidFill>
                                        <a:srgbClr val="0000FF"/>
                                      </a:solidFill>
                                      <a:effectLst/>
                                      <a:latin typeface="Cambria Math" panose="02040503050406030204"/>
                                      <a:ea typeface="Cambria Math" panose="02040503050406030204" charset="0"/>
                                    </a:rPr>
                                    <m:t>＋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>
                                          <a:solidFill>
                                            <a:srgbClr val="0000FF"/>
                                          </a:solidFill>
                                          <a:effectLst/>
                                          <a:latin typeface="Cambria Math" panose="02040503050406030204"/>
                                          <a:ea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𝑏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&gt;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400" b="0" i="0" u="none">
                  <a:solidFill>
                    <a:srgbClr val="0000FF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  <a:p>
                <a:pPr marL="304165" algn="l" eaLnBrk="1" latinLnBrk="0" hangingPunct="0">
                  <a:lnSpc>
                    <a:spcPct val="100000"/>
                  </a:lnSpc>
                </a:pP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＋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bar>
                        <m:barPr>
                          <m:pos m:val="top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barPr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＝－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rad>
                        <m:radPr>
                          <m:degHide m:val="on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2i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，故选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B. 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02" name="yt_shape_155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2471798"/>
                <a:ext cx="7746416" cy="2072683"/>
              </a:xfrm>
              <a:prstGeom prst="rect">
                <a:avLst/>
              </a:prstGeom>
              <a:blipFill rotWithShape="1">
                <a:blip r:embed="rId4"/>
                <a:stretch>
                  <a:fillRect l="-3" t="-18" r="-1177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 title=""/>
          <p:cNvSpPr txBox="1"/>
          <p:nvPr/>
        </p:nvSpPr>
        <p:spPr>
          <a:xfrm>
            <a:off x="10259672" y="925194"/>
            <a:ext cx="383286" cy="558242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B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2" grpId="0" uiExpand="1" build="allAtOnce"/>
      <p:bldP spid="2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练习巩固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mc:AlternateContent>
        <mc:Choice Requires="a14">
          <p:sp>
            <p:nvSpPr>
              <p:cNvPr id="15504" name="yt_shape_15504" title=""/>
              <p:cNvSpPr txBox="1"/>
              <p:nvPr/>
            </p:nvSpPr>
            <p:spPr>
              <a:xfrm>
                <a:off x="432095" y="972000"/>
                <a:ext cx="11707329" cy="110998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04165" indent="-304165" algn="l" eaLnBrk="1" latinLnBrk="0" hangingPunct="0">
                  <a:lnSpc>
                    <a:spcPct val="130000"/>
                  </a:lnSpc>
                </a:pP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3.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当</a:t>
                </a:r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f>
                        <m:fPr>
                          <m:type m:val="bar"/>
                          <m:ctrlP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10000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r>
                  <a:rPr lang="en-US" altLang="zh-CN" sz="1500" b="0" i="1">
                    <a:solidFill>
                      <a:srgbClr val="010000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时，复数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＝（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3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2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）＋（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－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r>
                  <a:rPr lang="en-US" altLang="zh-CN" sz="2400" b="0" i="0" u="none">
                    <a:solidFill>
                      <a:srgbClr val="000000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i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  <a:sym typeface="_⨹_11_eaa9b"/>
                  </a:rPr>
                  <a:t>在复平面内对应的点位于</a:t>
                </a:r>
                <a:b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</a:b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en-US" altLang="zh-CN" sz="2400" b="0" i="0" u="none">
                    <a:solidFill>
                      <a:srgbClr val="FF0000">
                        <a:alpha val="0"/>
                      </a:srgbClr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D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白正" pitchFamily="24"/>
                    <a:ea typeface="宋体" panose="02010600030101010101" pitchFamily="2" charset="-122"/>
                  </a:rPr>
                  <a:t>　</a:t>
                </a:r>
                <a:r>
                  <a:rPr lang="zh-CN" altLang="zh-CN" sz="2400" b="0" i="0" u="none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zh-CN" altLang="zh-CN" sz="2400" b="0" i="0" u="none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504" name="yt_shape_155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5" y="972000"/>
                <a:ext cx="11707329" cy="1109984"/>
              </a:xfrm>
              <a:prstGeom prst="rect">
                <a:avLst/>
              </a:prstGeom>
              <a:blipFill rotWithShape="1">
                <a:blip r:embed="rId3"/>
                <a:stretch>
                  <a:fillRect l="-3" t="-41" r="1" b="-3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06" name="yt_table_15506" title=""/>
          <p:cNvGraphicFramePr>
            <a:graphicFrameLocks noGrp="1"/>
          </p:cNvGraphicFramePr>
          <p:nvPr/>
        </p:nvGraphicFramePr>
        <p:xfrm>
          <a:off x="736732" y="2132772"/>
          <a:ext cx="5269230" cy="950976"/>
        </p:xfrm>
        <a:graphic>
          <a:graphicData uri="http://schemas.openxmlformats.org/drawingml/2006/table">
            <a:tbl>
              <a:tblPr/>
              <a:tblGrid>
                <a:gridCol w="3100705"/>
                <a:gridCol w="2168525"/>
              </a:tblGrid>
              <a:tr h="370840"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A.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第一象限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72110" indent="-37211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B.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第二象限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  <a:tr h="370840"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C.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第三象限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5600" indent="-355600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400" b="0" i="0" u="none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D. </a:t>
                      </a:r>
                      <a:r>
                        <a:rPr lang="zh-CN" altLang="zh-CN" sz="2400" b="0" i="0" u="none">
                          <a:solidFill>
                            <a:srgbClr val="000000"/>
                          </a:solidFill>
                          <a:effectLst/>
                          <a:latin typeface="白正" pitchFamily="24"/>
                          <a:ea typeface="宋体" panose="02010600030101010101" pitchFamily="2" charset="-122"/>
                        </a:rPr>
                        <a:t>第四象限</a:t>
                      </a:r>
                      <a:endParaRPr lang="zh-CN" altLang="zh-CN" sz="2400" b="0" i="0" u="none">
                        <a:solidFill>
                          <a:srgbClr val="000000"/>
                        </a:solidFill>
                        <a:effectLst/>
                        <a:latin typeface="白正" pitchFamily="24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</a:tr>
            </a:tbl>
          </a:graphicData>
        </a:graphic>
      </p:graphicFrame>
      <mc:AlternateContent>
        <mc:Choice Requires="a14">
          <p:sp>
            <p:nvSpPr>
              <p:cNvPr id="15508" name="yt_shape_15508" title=""/>
              <p:cNvSpPr txBox="1"/>
              <p:nvPr/>
            </p:nvSpPr>
            <p:spPr>
              <a:xfrm>
                <a:off x="432000" y="3134326"/>
                <a:ext cx="6140464" cy="119314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304165" algn="l" eaLnBrk="1" latinLnBrk="0" hangingPunct="0">
                  <a:lnSpc>
                    <a:spcPct val="100000"/>
                  </a:lnSpc>
                </a:pP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黑体" panose="02010609060101010101" pitchFamily="49" charset="-122"/>
                  </a:rPr>
                  <a:t>解析：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由</a:t>
                </a:r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14:m>
                  <m:oMathPara>
                    <m:oMathParaPr>
                      <m:jc/>
                    </m:oMathParaPr>
                    <m:oMath>
                      <m:f>
                        <m:fPr>
                          <m:type m:val="bar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r>
                  <a:rPr lang="en-US" altLang="zh-CN" sz="1500" b="0" i="1"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Cambria Math" panose="02040503050406030204" charset="0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m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＜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1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，得</a:t>
                </a:r>
                <a14:m>
                  <m:oMathPara>
                    <m:oMathParaPr>
                      <m:jc/>
                    </m:oMathParaPr>
                    <m:oMath>
                      <m:d>
                        <m:dPr>
                          <m:begChr m:val="{"/>
                          <m:sepChr m:val="|"/>
                          <m:endChr/>
                          <m:grow m:val="on"/>
                          <m:shp m:val="centered"/>
                          <m:ctrlPr>
                            <a:rPr lang="en-US" altLang="zh-CN" sz="2400" b="0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/>
                              <a:ea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maxDist m:val="off"/>
                              <m:objDist m:val="off"/>
                              <m:rSpRule m:val="0"/>
                              <m:rSp m:val="0"/>
                              <m:ctrlP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3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&gt;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&amp;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sz="2400" b="0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/>
                                  <a:ea typeface="Cambria Math" panose="02040503050406030204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altLang="zh-CN" sz="2400" b="0" i="0">
                                  <a:solidFill>
                                    <a:srgbClr val="0000FF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宋体" panose="02010600030101010101" pitchFamily="2" charset="-122"/>
                                </a:rPr>
                                <m:t>，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400" b="0" i="0" u="none">
                  <a:solidFill>
                    <a:srgbClr val="0000FF"/>
                  </a:solidFill>
                  <a:effectLst/>
                  <a:latin typeface="白正" pitchFamily="24"/>
                  <a:ea typeface="楷体" panose="02010609060101010101" pitchFamily="24" charset="-122"/>
                </a:endParaRPr>
              </a:p>
              <a:p>
                <a:pPr marL="304165" algn="l" eaLnBrk="1" latinLnBrk="0" hangingPunct="0">
                  <a:lnSpc>
                    <a:spcPct val="100000"/>
                  </a:lnSpc>
                </a:pP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∴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复数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en-US" altLang="zh-CN" sz="24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z</a:t>
                </a:r>
                <a:r>
                  <a:rPr lang="en-US" altLang="zh-CN" sz="1500" b="0" i="1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 </a:t>
                </a:r>
                <a:r>
                  <a:rPr lang="zh-CN" altLang="zh-CN" sz="2400" b="0" i="0" u="none">
                    <a:solidFill>
                      <a:srgbClr val="0000FF"/>
                    </a:solidFill>
                    <a:effectLst/>
                    <a:latin typeface="白正" pitchFamily="24"/>
                    <a:ea typeface="楷体" panose="02010609060101010101" pitchFamily="24" charset="-122"/>
                  </a:rPr>
                  <a:t>在复平面内对应的点位于第四象限</a:t>
                </a:r>
                <a:r>
                  <a:rPr lang="en-US" altLang="zh-CN" sz="2400" b="0" i="0" u="none">
                    <a:solidFill>
                      <a:srgbClr val="0000FF"/>
                    </a:solidFill>
                    <a:effectLst/>
                    <a:latin typeface="Times New Roman" panose="02020603050405020304"/>
                    <a:ea typeface="Times New Roman" panose="02020603050405020304"/>
                  </a:rPr>
                  <a:t>.</a:t>
                </a:r>
                <a:endParaRPr lang="en-US" altLang="zh-CN" sz="2400" b="0" i="0" u="none">
                  <a:solidFill>
                    <a:srgbClr val="0000FF"/>
                  </a:solidFill>
                  <a:effectLst/>
                  <a:latin typeface="Times New Roman" panose="02020603050405020304"/>
                  <a:ea typeface="Times New Roman" panose="02020603050405020304"/>
                </a:endParaRPr>
              </a:p>
            </p:txBody>
          </p:sp>
        </mc:Choice>
        <mc:Fallback>
          <p:sp>
            <p:nvSpPr>
              <p:cNvPr id="15508" name="yt_shape_155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0" y="3134326"/>
                <a:ext cx="6140464" cy="1193147"/>
              </a:xfrm>
              <a:prstGeom prst="rect">
                <a:avLst/>
              </a:prstGeom>
              <a:blipFill rotWithShape="1">
                <a:blip r:embed="rId4"/>
                <a:stretch>
                  <a:fillRect l="-3" t="-50" r="-400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 title=""/>
          <p:cNvSpPr txBox="1"/>
          <p:nvPr/>
        </p:nvSpPr>
        <p:spPr>
          <a:xfrm>
            <a:off x="1255849" y="1600072"/>
            <a:ext cx="400748" cy="517983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D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8" grpId="0" uiExpand="1" build="allAtOnce"/>
      <p:bldP spid="2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课堂小结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  <p:pic>
        <p:nvPicPr>
          <p:cNvPr id="6" name="思维导图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866" y="2059086"/>
            <a:ext cx="9315450" cy="33909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形状1" title=""/>
          <p:cNvSpPr txBox="1"/>
          <p:nvPr/>
        </p:nvSpPr>
        <p:spPr>
          <a:xfrm>
            <a:off x="9087" y="578277"/>
            <a:ext cx="12174297" cy="1191"/>
          </a:xfrm>
          <a:prstGeom prst="line">
            <a:avLst/>
          </a:prstGeom>
          <a:solidFill>
            <a:srgbClr val="5C81CC">
              <a:alpha val="100000"/>
            </a:srgbClr>
          </a:solidFill>
          <a:ln w="9525">
            <a:solidFill>
              <a:srgbClr val="00A2E9">
                <a:alpha val="100000"/>
              </a:srgbClr>
            </a:solidFill>
            <a:prstDash val="sysDash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 title=""/>
          <p:cNvSpPr txBox="1"/>
          <p:nvPr/>
        </p:nvSpPr>
        <p:spPr>
          <a:xfrm>
            <a:off x="596513" y="-63510"/>
            <a:ext cx="8782260" cy="6863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900"/>
              </a:lnSpc>
            </a:pPr>
            <a:r>
              <a:rPr lang="zh-CN" altLang="en-US" sz="2800" b="1" i="0">
                <a:solidFill>
                  <a:srgbClr val="00A2E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布置作业</a:t>
            </a:r>
            <a:endParaRPr lang="zh-CN" altLang="en-US" sz="2800" b="1" i="0">
              <a:solidFill>
                <a:srgbClr val="00A2E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2" title=""/>
          <p:cNvSpPr txBox="1"/>
          <p:nvPr/>
        </p:nvSpPr>
        <p:spPr>
          <a:xfrm>
            <a:off x="4096055" y="3036008"/>
            <a:ext cx="4000500" cy="78742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700"/>
              </a:lnSpc>
            </a:pPr>
            <a:r>
              <a:rPr lang="zh-CN" altLang="en-US" sz="39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练习册对应章节</a:t>
            </a:r>
            <a:endParaRPr lang="zh-CN" altLang="en-US" sz="39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2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4" y="109916"/>
            <a:ext cx="391716" cy="391716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140</Paragraphs>
  <Slides>28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48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baseType="lpstr" size="77">
      <vt:lpstr>Arial</vt:lpstr>
      <vt:lpstr>等线 Light</vt:lpstr>
      <vt:lpstr>等线</vt:lpstr>
      <vt:lpstr>Calibri Light</vt:lpstr>
      <vt:lpstr>Calibri</vt:lpstr>
      <vt:lpstr>隶书</vt:lpstr>
      <vt:lpstr>方正静蕾简体</vt:lpstr>
      <vt:lpstr>微软雅黑</vt:lpstr>
      <vt:lpstr>宋体</vt:lpstr>
      <vt:lpstr>白正</vt:lpstr>
      <vt:lpstr>Times New Roman</vt:lpstr>
      <vt:lpstr>_⨹_9_41aaa,isEnd</vt:lpstr>
      <vt:lpstr>_⨹_28_0064c,isEnd</vt:lpstr>
      <vt:lpstr>_⨹_1_7cbc5,isEnd</vt:lpstr>
      <vt:lpstr>_⨹_36_01d7e,isEnd</vt:lpstr>
      <vt:lpstr>,isEnd</vt:lpstr>
      <vt:lpstr>_⨹_1_fe7d7,isEnd</vt:lpstr>
      <vt:lpstr>Cambria Math</vt:lpstr>
      <vt:lpstr>黑体</vt:lpstr>
      <vt:lpstr>_⨹_1_cc4f2</vt:lpstr>
      <vt:lpstr>_⨹_1_6485a,isEnd</vt:lpstr>
      <vt:lpstr>_⨹_2_8a5d9,isEnd</vt:lpstr>
      <vt:lpstr>_⨹_1_ac98f,isEnd</vt:lpstr>
      <vt:lpstr>楷体_GB2312</vt:lpstr>
      <vt:lpstr>_⨹_3_a4e06</vt:lpstr>
      <vt:lpstr>_⨹_4_4a375</vt:lpstr>
      <vt:lpstr>_⨹_1_d1e0e</vt:lpstr>
      <vt:lpstr>楷体</vt:lpstr>
      <vt:lpstr>_⨹_1_f5790</vt:lpstr>
      <vt:lpstr>_⨹_1_7b572</vt:lpstr>
      <vt:lpstr>_⨹_3_9dc88</vt:lpstr>
      <vt:lpstr>_⨹_7_9b49a</vt:lpstr>
      <vt:lpstr>_⨹_1_3806e</vt:lpstr>
      <vt:lpstr>_⨹_6_d7736</vt:lpstr>
      <vt:lpstr>_⨹_3_3b131</vt:lpstr>
      <vt:lpstr>_⨹_1_ece7e</vt:lpstr>
      <vt:lpstr>_⨹_1_4259f</vt:lpstr>
      <vt:lpstr>_⨹_1_1947c</vt:lpstr>
      <vt:lpstr>_⨹_4_18639</vt:lpstr>
      <vt:lpstr>_⨹_1_8bfb6</vt:lpstr>
      <vt:lpstr>_⨹_1_25319</vt:lpstr>
      <vt:lpstr>仿宋</vt:lpstr>
      <vt:lpstr>_⨹_1_19eda</vt:lpstr>
      <vt:lpstr>_⨹_12_6f5f5</vt:lpstr>
      <vt:lpstr>_⨹_2_46b5b</vt:lpstr>
      <vt:lpstr>_⨹_1_5c8cf</vt:lpstr>
      <vt:lpstr>_⨹_1_6abd0</vt:lpstr>
      <vt:lpstr>_⨹_11_eaa9b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2025-04-14T22:27:37.112</cp:lastPrinted>
  <dcterms:created xsi:type="dcterms:W3CDTF">2025-04-14T22:27:37Z</dcterms:created>
  <dcterms:modified xsi:type="dcterms:W3CDTF">2025-04-14T14:27:37Z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