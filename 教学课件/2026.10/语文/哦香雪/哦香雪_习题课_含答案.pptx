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b3b67e53874eb6" /><Relationship Type="http://schemas.openxmlformats.org/officeDocument/2006/relationships/extended-properties" Target="/docProps/app.xml" Id="Rf378b1bd91334593" /><Relationship Type="http://schemas.openxmlformats.org/officeDocument/2006/relationships/officeDocument" Target="/ppt/presentation.xml" Id="R609a686ed07e41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33638dc9be4269"/>
  </p:sldMasterIdLst>
  <p:notesMasterIdLst>
    <p:notesMasterId xmlns:r="http://schemas.openxmlformats.org/officeDocument/2006/relationships" r:id="Rd55b8cc0b0c74e4c"/>
  </p:notesMasterIdLst>
  <p:sldIdLst>
    <p:sldId xmlns:r="http://schemas.openxmlformats.org/officeDocument/2006/relationships" id="256" r:id="R4c969f4deeda411a"/>
    <p:sldId xmlns:r="http://schemas.openxmlformats.org/officeDocument/2006/relationships" id="257" r:id="Rf6846a9b711849ee"/>
    <p:sldId xmlns:r="http://schemas.openxmlformats.org/officeDocument/2006/relationships" id="258" r:id="Rbccdf2223e854643"/>
    <p:sldId xmlns:r="http://schemas.openxmlformats.org/officeDocument/2006/relationships" id="259" r:id="Rc82a15f3a0f84a3e"/>
    <p:sldId xmlns:r="http://schemas.openxmlformats.org/officeDocument/2006/relationships" id="260" r:id="R06d30eaa1ef446aa"/>
    <p:sldId xmlns:r="http://schemas.openxmlformats.org/officeDocument/2006/relationships" id="261" r:id="Rde24061f1c8345ea"/>
    <p:sldId xmlns:r="http://schemas.openxmlformats.org/officeDocument/2006/relationships" id="262" r:id="R95d1946d406b41a3"/>
    <p:sldId xmlns:r="http://schemas.openxmlformats.org/officeDocument/2006/relationships" id="263" r:id="R8b36647afd904d1f"/>
    <p:sldId xmlns:r="http://schemas.openxmlformats.org/officeDocument/2006/relationships" id="264" r:id="Re3fba84b4278446b"/>
    <p:sldId xmlns:r="http://schemas.openxmlformats.org/officeDocument/2006/relationships" id="265" r:id="Rc07b6bdced7345c6"/>
    <p:sldId xmlns:r="http://schemas.openxmlformats.org/officeDocument/2006/relationships" id="266" r:id="R93fdf4cfa669463c"/>
    <p:sldId xmlns:r="http://schemas.openxmlformats.org/officeDocument/2006/relationships" id="267" r:id="Re05546714c6e4f44"/>
    <p:sldId xmlns:r="http://schemas.openxmlformats.org/officeDocument/2006/relationships" id="268" r:id="Rd255e1286bd14918"/>
    <p:sldId xmlns:r="http://schemas.openxmlformats.org/officeDocument/2006/relationships" id="269" r:id="R4da0356a0a3e4a53"/>
    <p:sldId xmlns:r="http://schemas.openxmlformats.org/officeDocument/2006/relationships" id="270" r:id="Rdba47e9185714285"/>
    <p:sldId xmlns:r="http://schemas.openxmlformats.org/officeDocument/2006/relationships" id="271" r:id="R201a24a923984c66"/>
    <p:sldId xmlns:r="http://schemas.openxmlformats.org/officeDocument/2006/relationships" id="272" r:id="Rc434b606c17f4457"/>
    <p:sldId xmlns:r="http://schemas.openxmlformats.org/officeDocument/2006/relationships" id="273" r:id="Rd9331a754e2a43f3"/>
    <p:sldId xmlns:r="http://schemas.openxmlformats.org/officeDocument/2006/relationships" id="274" r:id="R2908cb01957944d0"/>
    <p:sldId xmlns:r="http://schemas.openxmlformats.org/officeDocument/2006/relationships" id="275" r:id="R4a983b1767fb42d6"/>
    <p:sldId xmlns:r="http://schemas.openxmlformats.org/officeDocument/2006/relationships" id="276" r:id="Rcdcf021a30af418e"/>
    <p:sldId xmlns:r="http://schemas.openxmlformats.org/officeDocument/2006/relationships" id="277" r:id="R8c9ede755f5a4684"/>
    <p:sldId xmlns:r="http://schemas.openxmlformats.org/officeDocument/2006/relationships" id="278" r:id="R2b8ef1e8823d4314"/>
    <p:sldId xmlns:r="http://schemas.openxmlformats.org/officeDocument/2006/relationships" id="279" r:id="R43189d2716244892"/>
    <p:sldId xmlns:r="http://schemas.openxmlformats.org/officeDocument/2006/relationships" id="280" r:id="R2bf4526771554870"/>
    <p:sldId xmlns:r="http://schemas.openxmlformats.org/officeDocument/2006/relationships" id="281" r:id="Rec493b73fb364f2b"/>
    <p:sldId xmlns:r="http://schemas.openxmlformats.org/officeDocument/2006/relationships" id="282" r:id="R771e7386978e46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63f92959ef4096" /><Relationship Type="http://schemas.openxmlformats.org/officeDocument/2006/relationships/slideMaster" Target="/ppt/slideMasters/slideMaster1.xml" Id="R7c33638dc9be4269" /><Relationship Type="http://schemas.openxmlformats.org/officeDocument/2006/relationships/notesMaster" Target="/ppt/notesMasters/notesMaster1.xml" Id="Rd55b8cc0b0c74e4c" /><Relationship Type="http://schemas.openxmlformats.org/officeDocument/2006/relationships/presProps" Target="/ppt/presProps.xml" Id="R9d3cd5385f99412a" /><Relationship Type="http://schemas.openxmlformats.org/officeDocument/2006/relationships/tableStyles" Target="/ppt/tableStyles.xml" Id="R17420af005984f20" /><Relationship Type="http://schemas.openxmlformats.org/officeDocument/2006/relationships/slide" Target="/ppt/slides/slide1.xml" Id="R4c969f4deeda411a" /><Relationship Type="http://schemas.openxmlformats.org/officeDocument/2006/relationships/slide" Target="/ppt/slides/slide2.xml" Id="Rf6846a9b711849ee" /><Relationship Type="http://schemas.openxmlformats.org/officeDocument/2006/relationships/slide" Target="/ppt/slides/slide3.xml" Id="Rbccdf2223e854643" /><Relationship Type="http://schemas.openxmlformats.org/officeDocument/2006/relationships/slide" Target="/ppt/slides/slide4.xml" Id="Rc82a15f3a0f84a3e" /><Relationship Type="http://schemas.openxmlformats.org/officeDocument/2006/relationships/slide" Target="/ppt/slides/slide5.xml" Id="R06d30eaa1ef446aa" /><Relationship Type="http://schemas.openxmlformats.org/officeDocument/2006/relationships/slide" Target="/ppt/slides/slide6.xml" Id="Rde24061f1c8345ea" /><Relationship Type="http://schemas.openxmlformats.org/officeDocument/2006/relationships/slide" Target="/ppt/slides/slide7.xml" Id="R95d1946d406b41a3" /><Relationship Type="http://schemas.openxmlformats.org/officeDocument/2006/relationships/slide" Target="/ppt/slides/slide8.xml" Id="R8b36647afd904d1f" /><Relationship Type="http://schemas.openxmlformats.org/officeDocument/2006/relationships/slide" Target="/ppt/slides/slide9.xml" Id="Re3fba84b4278446b" /><Relationship Type="http://schemas.openxmlformats.org/officeDocument/2006/relationships/slide" Target="/ppt/slides/slide10.xml" Id="Rc07b6bdced7345c6" /><Relationship Type="http://schemas.openxmlformats.org/officeDocument/2006/relationships/slide" Target="/ppt/slides/slide11.xml" Id="R93fdf4cfa669463c" /><Relationship Type="http://schemas.openxmlformats.org/officeDocument/2006/relationships/slide" Target="/ppt/slides/slide12.xml" Id="Re05546714c6e4f44" /><Relationship Type="http://schemas.openxmlformats.org/officeDocument/2006/relationships/slide" Target="/ppt/slides/slide13.xml" Id="Rd255e1286bd14918" /><Relationship Type="http://schemas.openxmlformats.org/officeDocument/2006/relationships/slide" Target="/ppt/slides/slide14.xml" Id="R4da0356a0a3e4a53" /><Relationship Type="http://schemas.openxmlformats.org/officeDocument/2006/relationships/slide" Target="/ppt/slides/slide15.xml" Id="Rdba47e9185714285" /><Relationship Type="http://schemas.openxmlformats.org/officeDocument/2006/relationships/slide" Target="/ppt/slides/slide16.xml" Id="R201a24a923984c66" /><Relationship Type="http://schemas.openxmlformats.org/officeDocument/2006/relationships/slide" Target="/ppt/slides/slide17.xml" Id="Rc434b606c17f4457" /><Relationship Type="http://schemas.openxmlformats.org/officeDocument/2006/relationships/slide" Target="/ppt/slides/slide18.xml" Id="Rd9331a754e2a43f3" /><Relationship Type="http://schemas.openxmlformats.org/officeDocument/2006/relationships/slide" Target="/ppt/slides/slide19.xml" Id="R2908cb01957944d0" /><Relationship Type="http://schemas.openxmlformats.org/officeDocument/2006/relationships/slide" Target="/ppt/slides/slide20.xml" Id="R4a983b1767fb42d6" /><Relationship Type="http://schemas.openxmlformats.org/officeDocument/2006/relationships/slide" Target="/ppt/slides/slide21.xml" Id="Rcdcf021a30af418e" /><Relationship Type="http://schemas.openxmlformats.org/officeDocument/2006/relationships/slide" Target="/ppt/slides/slide22.xml" Id="R8c9ede755f5a4684" /><Relationship Type="http://schemas.openxmlformats.org/officeDocument/2006/relationships/slide" Target="/ppt/slides/slide23.xml" Id="R2b8ef1e8823d4314" /><Relationship Type="http://schemas.openxmlformats.org/officeDocument/2006/relationships/slide" Target="/ppt/slides/slide24.xml" Id="R43189d2716244892" /><Relationship Type="http://schemas.openxmlformats.org/officeDocument/2006/relationships/slide" Target="/ppt/slides/slide25.xml" Id="R2bf4526771554870" /><Relationship Type="http://schemas.openxmlformats.org/officeDocument/2006/relationships/slide" Target="/ppt/slides/slide26.xml" Id="Rec493b73fb364f2b" /><Relationship Type="http://schemas.openxmlformats.org/officeDocument/2006/relationships/slide" Target="/ppt/slides/slide27.xml" Id="R771e7386978e46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47a3e8183f4a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611017f48c47ae" /><Relationship Type="http://schemas.openxmlformats.org/officeDocument/2006/relationships/notesMaster" Target="/ppt/notesMasters/notesMaster1.xml" Id="R8afeef62127d48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dc999550d548cd" /><Relationship Type="http://schemas.openxmlformats.org/officeDocument/2006/relationships/notesMaster" Target="/ppt/notesMasters/notesMaster1.xml" Id="R0730d68725414d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75c7201ed14ee5" /><Relationship Type="http://schemas.openxmlformats.org/officeDocument/2006/relationships/notesMaster" Target="/ppt/notesMasters/notesMaster1.xml" Id="R0a31a43201594f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e18c8e70404662" /><Relationship Type="http://schemas.openxmlformats.org/officeDocument/2006/relationships/notesMaster" Target="/ppt/notesMasters/notesMaster1.xml" Id="R0d9f1346feec4c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e95c7c18144ac3" /><Relationship Type="http://schemas.openxmlformats.org/officeDocument/2006/relationships/notesMaster" Target="/ppt/notesMasters/notesMaster1.xml" Id="Ra87cc4ca0f784d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dda725c43145a0" /><Relationship Type="http://schemas.openxmlformats.org/officeDocument/2006/relationships/notesMaster" Target="/ppt/notesMasters/notesMaster1.xml" Id="Rc83a5956235543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a4d0ae2a9248ed" /><Relationship Type="http://schemas.openxmlformats.org/officeDocument/2006/relationships/notesMaster" Target="/ppt/notesMasters/notesMaster1.xml" Id="R7125b26cc76143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c4ed77a1414751" /><Relationship Type="http://schemas.openxmlformats.org/officeDocument/2006/relationships/notesMaster" Target="/ppt/notesMasters/notesMaster1.xml" Id="R34ebbaec308f43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f5ed26a80842c0" /><Relationship Type="http://schemas.openxmlformats.org/officeDocument/2006/relationships/notesMaster" Target="/ppt/notesMasters/notesMaster1.xml" Id="R6e12d9ec48084a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62fad4f78c24183" /><Relationship Type="http://schemas.openxmlformats.org/officeDocument/2006/relationships/notesMaster" Target="/ppt/notesMasters/notesMaster1.xml" Id="Ra3175d784882424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4f204bc5b284be1" /><Relationship Type="http://schemas.openxmlformats.org/officeDocument/2006/relationships/notesMaster" Target="/ppt/notesMasters/notesMaster1.xml" Id="Ra6015b6a649642a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0eb9c988bbb4b62" /><Relationship Type="http://schemas.openxmlformats.org/officeDocument/2006/relationships/notesMaster" Target="/ppt/notesMasters/notesMaster1.xml" Id="Rdda8409871624b9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de808bee0904ad3" /><Relationship Type="http://schemas.openxmlformats.org/officeDocument/2006/relationships/notesMaster" Target="/ppt/notesMasters/notesMaster1.xml" Id="R2e7471243d54450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4c1058f64e74ae0" /><Relationship Type="http://schemas.openxmlformats.org/officeDocument/2006/relationships/notesMaster" Target="/ppt/notesMasters/notesMaster1.xml" Id="R8ee6bf6eb6f64ff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8559d8c97bc4d1d" /><Relationship Type="http://schemas.openxmlformats.org/officeDocument/2006/relationships/notesMaster" Target="/ppt/notesMasters/notesMaster1.xml" Id="R97504df9e46345c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b57143df5994d22" /><Relationship Type="http://schemas.openxmlformats.org/officeDocument/2006/relationships/notesMaster" Target="/ppt/notesMasters/notesMaster1.xml" Id="R8fe8b0d93afa4cc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2a52c58051b4476" /><Relationship Type="http://schemas.openxmlformats.org/officeDocument/2006/relationships/notesMaster" Target="/ppt/notesMasters/notesMaster1.xml" Id="R4aa8ea32c5e348e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a7eba589c3a46fe" /><Relationship Type="http://schemas.openxmlformats.org/officeDocument/2006/relationships/notesMaster" Target="/ppt/notesMasters/notesMaster1.xml" Id="R95308818385c4ff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6b3ed3b1de544d5" /><Relationship Type="http://schemas.openxmlformats.org/officeDocument/2006/relationships/notesMaster" Target="/ppt/notesMasters/notesMaster1.xml" Id="R1346a30e656c447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646c6f0e6e547fd" /><Relationship Type="http://schemas.openxmlformats.org/officeDocument/2006/relationships/notesMaster" Target="/ppt/notesMasters/notesMaster1.xml" Id="Rbb9b17163e164f9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5a7e3bd36164c61" /><Relationship Type="http://schemas.openxmlformats.org/officeDocument/2006/relationships/notesMaster" Target="/ppt/notesMasters/notesMaster1.xml" Id="Receb00de0a504b3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d5329067d674f5a" /><Relationship Type="http://schemas.openxmlformats.org/officeDocument/2006/relationships/notesMaster" Target="/ppt/notesMasters/notesMaster1.xml" Id="Re72b00494ea5492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e869ebd923b4987" /><Relationship Type="http://schemas.openxmlformats.org/officeDocument/2006/relationships/notesMaster" Target="/ppt/notesMasters/notesMaster1.xml" Id="Rcc6e54b3f5e24f7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0270b4e04604535" /><Relationship Type="http://schemas.openxmlformats.org/officeDocument/2006/relationships/notesMaster" Target="/ppt/notesMasters/notesMaster1.xml" Id="R922f2691f9be49d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2274f021d6b4eb6" /><Relationship Type="http://schemas.openxmlformats.org/officeDocument/2006/relationships/notesMaster" Target="/ppt/notesMasters/notesMaster1.xml" Id="Ra3af045c32474b9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d9ac867b2154598" /><Relationship Type="http://schemas.openxmlformats.org/officeDocument/2006/relationships/notesMaster" Target="/ppt/notesMasters/notesMaster1.xml" Id="Rbad96cdfe2be4cc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e0f8e5834a441cf" /><Relationship Type="http://schemas.openxmlformats.org/officeDocument/2006/relationships/notesMaster" Target="/ppt/notesMasters/notesMaster1.xml" Id="Rf00776c382594b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来源：用户PDF《百合花 哦 香雪 练习.pdf》第1页（对应书页14）。</a:t>
            </a:r>
          </a:p>
          <a:p xmlns:a="http://schemas.openxmlformats.org/drawingml/2006/main">
            <a:r>
              <a:t>依据用户PDF中《哦，香雪》学习目标及两篇共用基础题。鉴赏为补充练习，不收录《百合花》专属题。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来源：用户PDF《百合花 哦 香雪 练习.pdf》第1页（对应书页14）。</a:t>
            </a:r>
          </a:p>
          <a:p xmlns:a="http://schemas.openxmlformats.org/drawingml/2006/main">
            <a:r>
              <a:t>源PDF第1页学习目标。时间为建议。课堂鉴赏需配合已学课文或教材，不以课件替代小说全文。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来源：用户PDF《百合花 哦 香雪 练习.pdf》第2页（对应书页15）。</a:t>
            </a:r>
          </a:p>
          <a:p xmlns:a="http://schemas.openxmlformats.org/drawingml/2006/main">
            <a:r>
              <a:t>两篇共用基础题前9组。目标：字音；方法：随词读音；易错：吮、嗔、搡；难度：基础；评价：逐词注音并朗读。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来源：用户PDF《百合花 哦 香雪 练习.pdf》第2页（对应书页15）。</a:t>
            </a:r>
          </a:p>
          <a:p xmlns:a="http://schemas.openxmlformats.org/drawingml/2006/main">
            <a:r>
              <a:t>答案为补充编写。捂取遮盖义，搡取用力推义。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来源：用户PDF《百合花 哦 香雪 练习.pdf》第2页（对应书页15）。</a:t>
            </a:r>
          </a:p>
          <a:p xmlns:a="http://schemas.openxmlformats.org/drawingml/2006/main">
            <a:r>
              <a:t>目标：字音及多音字；方法：依义定音；易错：憎恶、讷、拗、扎；难度：基础；评价：注音并说明包扎与扎营不同读音。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来源：用户PDF《百合花 哦 香雪 练习.pdf》第2页（对应书页15）。</a:t>
            </a:r>
          </a:p>
          <a:p xmlns:a="http://schemas.openxmlformats.org/drawingml/2006/main">
            <a:r>
              <a:t>源PDF词语，答案补充。拗断为折断义，不与执拗的niù混用。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来源：用户PDF《百合花 哦 香雪 练习.pdf》第3页（对应书页16）。</a:t>
            </a:r>
          </a:p>
          <a:p xmlns:a="http://schemas.openxmlformats.org/drawingml/2006/main">
            <a:r>
              <a:t>保留全部12项。目标：形近字；方法：偏旁与意义关联；易错：蠕儒濡、忸纽钮、撼憾；难度：基础；评价：填写后按词义讲解。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来源：用户PDF《百合花 哦 香雪 练习.pdf》第3页（对应书页16）。</a:t>
            </a:r>
          </a:p>
          <a:p xmlns:a="http://schemas.openxmlformats.org/drawingml/2006/main">
            <a:r>
              <a:t>答案为补充编写，按原题拼音和词语搭配作答。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来源：用户PDF《百合花 哦 香雪 练习.pdf》第3页（对应书页16）。</a:t>
            </a:r>
          </a:p>
          <a:p xmlns:a="http://schemas.openxmlformats.org/drawingml/2006/main">
            <a:r>
              <a:t>原词语积累第1题。目标：词义及语境色彩；方法：辨行为目的；易错：把两词一概视为同义替换；难度：基础；评价：两空及理由。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来源：用户PDF《百合花 哦 香雪 练习.pdf》第3页（对应书页16）。</a:t>
            </a:r>
          </a:p>
          <a:p xmlns:a="http://schemas.openxmlformats.org/drawingml/2006/main">
            <a:r>
              <a:t>据学案给定释义及语境作答。补充语用边界，避免把特定语境色彩当作词语永远不变的属性。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来源：用户PDF《百合花 哦 香雪 练习.pdf》第3页（对应书页16）。</a:t>
            </a:r>
          </a:p>
          <a:p xmlns:a="http://schemas.openxmlformats.org/drawingml/2006/main">
            <a:r>
              <a:t>原词语积累第2题。目标：近义词；方法：结合搭配与语境；易错：忽略不前的搭配；难度：基础；评价：选择及释义。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来源：用户PDF《百合花 哦 香雪 练习.pdf》第3页（对应书页16）。</a:t>
            </a:r>
          </a:p>
          <a:p xmlns:a="http://schemas.openxmlformats.org/drawingml/2006/main">
            <a:r>
              <a:t>依据源页释义与固定搭配作答。两个词语义有交叉，不能仅按是否有走动动作机械区分。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来源：用户PDF《百合花 哦 香雪 练习.pdf》第3页（对应书页16）。</a:t>
            </a:r>
          </a:p>
          <a:p xmlns:a="http://schemas.openxmlformats.org/drawingml/2006/main">
            <a:r>
              <a:t>原词语积累第3题；拟情境为补充。目标：成语辨析；方法：主动提出任务与紧急关头行动对比；难度：基础；易错：忽略语境差别；评价：释义和情境匹配。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来源：用户PDF《百合花 哦 香雪 练习.pdf》第3页（对应书页16）。</a:t>
            </a:r>
          </a:p>
          <a:p xmlns:a="http://schemas.openxmlformats.org/drawingml/2006/main">
            <a:r>
              <a:t>释义及例境为参考答案，不是源页已印答案。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来源：用户PDF《百合花 哦 香雪 练习.pdf》第3页（对应书页16）。</a:t>
            </a:r>
          </a:p>
          <a:p xmlns:a="http://schemas.openxmlformats.org/drawingml/2006/main">
            <a:r>
              <a:t>保留原词语积累第4—11项。目标：语境释义；方法：字面义到语境义；易错：把声音描写当心理描写；难度：基础；评价：准确释义与适用对象。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来源：用户PDF《百合花 哦 香雪 练习.pdf》第3页（对应书页16）。</a:t>
            </a:r>
          </a:p>
          <a:p xmlns:a="http://schemas.openxmlformats.org/drawingml/2006/main">
            <a:r>
              <a:t>释义为补充参考答案，不将所有义项都强加给课文中的每一次使用。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来源：用户PDF《百合花 哦 香雪 练习.pdf》第3页（对应书页16）。</a:t>
            </a:r>
          </a:p>
          <a:p xmlns:a="http://schemas.openxmlformats.org/drawingml/2006/main">
            <a:r>
              <a:t>释义为补充参考答案。理直气壮在具体作品中也可能带反讽或与实际情理形成张力，应依语境判断。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来源：用户PDF《百合花 哦 香雪 练习.pdf》第2页（对应书页15）。</a:t>
            </a:r>
          </a:p>
          <a:p xmlns:a="http://schemas.openxmlformats.org/drawingml/2006/main">
            <a:r>
              <a:t>前3项概括据源PDF结构脉络。目标：事件与人物变化联系；方法：梳理因果；难度：基础；易错：只复述而不分析变化；评价：事件具体、理由合理。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来源：用户PDF《百合花 哦 香雪 练习.pdf》第1页（对应书页14）。</a:t>
            </a:r>
          </a:p>
          <a:p xmlns:a="http://schemas.openxmlformats.org/drawingml/2006/main">
            <a:r>
              <a:t>依据源页学习目标拟题。目标：小情节与主题；方法：比较火车到来前后；难度：中等；易错：只说“高兴”不说变化；评价：至少两个角度。文本参照教材书页19—23：https://www.ynmdfz.net/temp/1689239523600.pdf。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来源：用户PDF《百合花 哦 香雪 练习.pdf》第1页（对应书页14）。</a:t>
            </a:r>
          </a:p>
          <a:p xmlns:a="http://schemas.openxmlformats.org/drawingml/2006/main">
            <a:r>
              <a:t>概括据用户PDF学习目标及结构脉络；香雪关注知识的分析参照中国作家网《重读〈哦，香雪〉》https://www.chinawriter.com.cn/n1/2019/0303/c425776-30954617.html。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来源：用户PDF《百合花 哦 香雪 练习.pdf》第2页（对应书页15）。</a:t>
            </a:r>
          </a:p>
          <a:p xmlns:a="http://schemas.openxmlformats.org/drawingml/2006/main">
            <a:r>
              <a:t>教学补充题。目标：物品与人物心理；方法：联系前因后果；难度：中等；易错：把人物简化为虚荣或毫无困惑的符号；评价：自尊、学习愿望、未来期待。参考 https://www.chinawriter.com.cn/n1/2023/0725/c404030-40043274.html。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来源：用户PDF《百合花 哦 香雪 练习.pdf》第2页（对应书页15）。</a:t>
            </a:r>
          </a:p>
          <a:p xmlns:a="http://schemas.openxmlformats.org/drawingml/2006/main">
            <a:r>
              <a:t>补充解读参考中国作家网细读文章 https://www.chinawriter.com.cn/n1/2023/0725/c404030-40043274.html，与用户PDF结构图中“自尊自爱”相照应。不把物品当作真正解决社会差距的魔法工具。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来源：用户PDF《百合花 哦 香雪 练习.pdf》第1页（对应书页14）。</a:t>
            </a:r>
          </a:p>
          <a:p xmlns:a="http://schemas.openxmlformats.org/drawingml/2006/main">
            <a:r>
              <a:t>依据学案学习目标拟题。目标：心理变化与环境作用；方法：分阶段联系细节；难度：中等；易错：只列情绪词、忽略中途担忧与恐惧；评价：阶段与原因对应。参照 https://www.chinawriter.com.cn/n1/2021/0817/c404030-32196941.html。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来源：用户PDF《百合花 哦 香雪 练习.pdf》第1页（对应书页14）。</a:t>
            </a:r>
          </a:p>
          <a:p xmlns:a="http://schemas.openxmlformats.org/drawingml/2006/main">
            <a:r>
              <a:t>情节与心理核对教材书页25—28及评论 https://www.chinawriter.com.cn/n1/2021/0817/c404030-32196941.html。分析为参考，不把短暂克服恐惧说成从此没有任何害怕。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来源：用户PDF《百合花 哦 香雪 练习.pdf》第2页（对应书页15）。</a:t>
            </a:r>
          </a:p>
          <a:p xmlns:a="http://schemas.openxmlformats.org/drawingml/2006/main">
            <a:r>
              <a:t>教学补充题。目标：证据支持人物评价；方法：动作细节与行为动机；难度：中等；易错：堆叠形容词而无依据；评价：至少两点且证据对应。细节参照 https://www.chinawriter.com.cn/n1/2021/0817/c404030-32196941.html。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来源：用户PDF《百合花 哦 香雪 练习.pdf》第2页（对应书页15）。</a:t>
            </a:r>
          </a:p>
          <a:p xmlns:a="http://schemas.openxmlformats.org/drawingml/2006/main">
            <a:r>
              <a:t>自尊细节参照 https://www.chinawriter.com.cn/n1/2021/0817/c404030-32196941.html；关注知识参照 https://www.chinawriter.com.cn/n1/2019/0303/c425776-30954617.html；与源PDF“自尊自爱”“向往现代文明”的概括对应。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来源：用户PDF《百合花 哦 香雪 练习.pdf》第1页（对应书页14）。</a:t>
            </a:r>
          </a:p>
          <a:p xmlns:a="http://schemas.openxmlformats.org/drawingml/2006/main">
            <a:r>
              <a:t>独立检验为课堂补充任务，第22页可用作答案要点。字数和达标标准为教学建议，非学案官方评分规定。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792e46697c4d4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5b1c178211477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3871c79b214c3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19186b12b949a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c0f3da1edc485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0b08629b4c47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40A0BE-DF41-4FB4-968A-DF12387191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55E4707-257C-4AF5-9AA0-7CA70BB2245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6DF9461-C9B3-4152-BF02-40985AD536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5B009A-F3BF-44FB-A6CD-035C1FA14E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C3C8E37-4538-4715-A274-EFC1ED77D8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BA2502C-9110-4994-871A-1C19F6F6E7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3938123-4327-4C02-8C16-60979877D8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7BE6FA0-6D4E-4340-B7E5-00397089B9B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E216F7-F6F6-418F-9A05-1441CE5B97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64F0D4C-F3F9-4E10-B39F-3D09183D1A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e64524d08d4f9e" /><Relationship Type="http://schemas.openxmlformats.org/officeDocument/2006/relationships/slideLayout" Target="/ppt/slideLayouts/slideLayout1.xml" Id="R348b5f64877a4ab1" /><Relationship Type="http://schemas.openxmlformats.org/officeDocument/2006/relationships/slideLayout" Target="/ppt/slideLayouts/slideLayout2.xml" Id="R282cea74df8440b1" /><Relationship Type="http://schemas.openxmlformats.org/officeDocument/2006/relationships/slideLayout" Target="/ppt/slideLayouts/slideLayout3.xml" Id="Rb91735b051604b6e" /><Relationship Type="http://schemas.openxmlformats.org/officeDocument/2006/relationships/slideLayout" Target="/ppt/slideLayouts/slideLayout4.xml" Id="Rf4f2bad83d864215" /><Relationship Type="http://schemas.openxmlformats.org/officeDocument/2006/relationships/slideLayout" Target="/ppt/slideLayouts/slideLayout5.xml" Id="R668274974c624414" /><Relationship Type="http://schemas.openxmlformats.org/officeDocument/2006/relationships/slideLayout" Target="/ppt/slideLayouts/slideLayout6.xml" Id="R4986cb617c1948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8b5f64877a4ab1"/>
    <p:sldLayoutId xmlns:r="http://schemas.openxmlformats.org/officeDocument/2006/relationships" id="2147483650" r:id="R282cea74df8440b1"/>
    <p:sldLayoutId xmlns:r="http://schemas.openxmlformats.org/officeDocument/2006/relationships" id="2147483651" r:id="Rb91735b051604b6e"/>
    <p:sldLayoutId xmlns:r="http://schemas.openxmlformats.org/officeDocument/2006/relationships" id="2147483652" r:id="Rf4f2bad83d864215"/>
    <p:sldLayoutId xmlns:r="http://schemas.openxmlformats.org/officeDocument/2006/relationships" id="2147483653" r:id="R668274974c624414"/>
    <p:sldLayoutId xmlns:r="http://schemas.openxmlformats.org/officeDocument/2006/relationships" id="2147483654" r:id="R4986cb617c1948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54be7dc1234f95" /><Relationship Type="http://schemas.openxmlformats.org/officeDocument/2006/relationships/notesSlide" Target="/ppt/notesSlides/notesSlide1.xml" Id="R92ddc21a1ce944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6a97b201c24beb" /><Relationship Type="http://schemas.openxmlformats.org/officeDocument/2006/relationships/notesSlide" Target="/ppt/notesSlides/notesSlide2.xml" Id="R650468f35d2e42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43a69494af40a9" /><Relationship Type="http://schemas.openxmlformats.org/officeDocument/2006/relationships/notesSlide" Target="/ppt/notesSlides/notesSlide3.xml" Id="Rc762fce4894549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e34324b231410d" /><Relationship Type="http://schemas.openxmlformats.org/officeDocument/2006/relationships/notesSlide" Target="/ppt/notesSlides/notesSlide4.xml" Id="R3cb86f0ff67549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6368e119fe4e12" /><Relationship Type="http://schemas.openxmlformats.org/officeDocument/2006/relationships/notesSlide" Target="/ppt/notesSlides/notesSlide5.xml" Id="Re7bfc0e9647c4c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1fb5e56b6f46f6" /><Relationship Type="http://schemas.openxmlformats.org/officeDocument/2006/relationships/notesSlide" Target="/ppt/notesSlides/notesSlide6.xml" Id="Rcea789853eb242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0bb0f99f4240a6" /><Relationship Type="http://schemas.openxmlformats.org/officeDocument/2006/relationships/notesSlide" Target="/ppt/notesSlides/notesSlide7.xml" Id="Rae578004bfd241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df2f371ce044ae" /><Relationship Type="http://schemas.openxmlformats.org/officeDocument/2006/relationships/notesSlide" Target="/ppt/notesSlides/notesSlide8.xml" Id="R44e3e5b665b243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66a8a604134fad" /><Relationship Type="http://schemas.openxmlformats.org/officeDocument/2006/relationships/notesSlide" Target="/ppt/notesSlides/notesSlide9.xml" Id="R82efd15cb3af4b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d1638af8984d54" /><Relationship Type="http://schemas.openxmlformats.org/officeDocument/2006/relationships/notesSlide" Target="/ppt/notesSlides/notesSlide10.xml" Id="Rbe973b62a0f8407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d0784392194bc2" /><Relationship Type="http://schemas.openxmlformats.org/officeDocument/2006/relationships/notesSlide" Target="/ppt/notesSlides/notesSlide11.xml" Id="Rdb7bf9ee53d5437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5483c896a14d49" /><Relationship Type="http://schemas.openxmlformats.org/officeDocument/2006/relationships/notesSlide" Target="/ppt/notesSlides/notesSlide12.xml" Id="Rca38c8b5b5334ab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a86fb10fac4595" /><Relationship Type="http://schemas.openxmlformats.org/officeDocument/2006/relationships/notesSlide" Target="/ppt/notesSlides/notesSlide13.xml" Id="R4d00661ab37d4aa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b7a26ed8504400" /><Relationship Type="http://schemas.openxmlformats.org/officeDocument/2006/relationships/notesSlide" Target="/ppt/notesSlides/notesSlide14.xml" Id="Rab44ed3de8e440d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1441c977f343c8" /><Relationship Type="http://schemas.openxmlformats.org/officeDocument/2006/relationships/notesSlide" Target="/ppt/notesSlides/notesSlide15.xml" Id="Rd9d389911e6c4f4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46da8aa9784266" /><Relationship Type="http://schemas.openxmlformats.org/officeDocument/2006/relationships/notesSlide" Target="/ppt/notesSlides/notesSlide16.xml" Id="R3fb2a5fc097040c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b2e4c79a3341d4" /><Relationship Type="http://schemas.openxmlformats.org/officeDocument/2006/relationships/notesSlide" Target="/ppt/notesSlides/notesSlide17.xml" Id="R3532f411e5984c3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36879905434bfa" /><Relationship Type="http://schemas.openxmlformats.org/officeDocument/2006/relationships/notesSlide" Target="/ppt/notesSlides/notesSlide18.xml" Id="R1437aa4dbe724c6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7098c1945e42a6" /><Relationship Type="http://schemas.openxmlformats.org/officeDocument/2006/relationships/notesSlide" Target="/ppt/notesSlides/notesSlide19.xml" Id="R365974f330554ef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5597d76f9443bb" /><Relationship Type="http://schemas.openxmlformats.org/officeDocument/2006/relationships/notesSlide" Target="/ppt/notesSlides/notesSlide20.xml" Id="R0f1346f924d34b9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a6496269bf40a6" /><Relationship Type="http://schemas.openxmlformats.org/officeDocument/2006/relationships/notesSlide" Target="/ppt/notesSlides/notesSlide21.xml" Id="R10b99f8aefb5449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e76e1a75924826" /><Relationship Type="http://schemas.openxmlformats.org/officeDocument/2006/relationships/notesSlide" Target="/ppt/notesSlides/notesSlide22.xml" Id="Rc3b92f0c88014eb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f2bf065a6f4cc4" /><Relationship Type="http://schemas.openxmlformats.org/officeDocument/2006/relationships/notesSlide" Target="/ppt/notesSlides/notesSlide23.xml" Id="Re67dcb62cf6047e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e1657c788e4eb4" /><Relationship Type="http://schemas.openxmlformats.org/officeDocument/2006/relationships/notesSlide" Target="/ppt/notesSlides/notesSlide24.xml" Id="Rebbe7d9737e347d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94e1a0be9348ed" /><Relationship Type="http://schemas.openxmlformats.org/officeDocument/2006/relationships/notesSlide" Target="/ppt/notesSlides/notesSlide25.xml" Id="R3c22a0e30f0d4d6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79aa7754664df0" /><Relationship Type="http://schemas.openxmlformats.org/officeDocument/2006/relationships/notesSlide" Target="/ppt/notesSlides/notesSlide26.xml" Id="R9636333eebe7443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fc09858b3042f0" /><Relationship Type="http://schemas.openxmlformats.org/officeDocument/2006/relationships/notesSlide" Target="/ppt/notesSlides/notesSlide27.xml" Id="R827d0446a9354d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131DE-E245-406D-8EBA-7BCDAD43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572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525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525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525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哦，香雪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D1297-6B61-464A-BD8B-1A788C8C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3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语文习题课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03ECC-4F04-48EA-BFDC-E42AEAEC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字词积累　人物形象　心理变化　小说主题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DD0D31-DA0B-4C96-AF0F-70A1B530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1047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铁凝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F4A82-4544-4B96-96FD-E5E7CE6B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950824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26498B-A7CE-4148-B3B9-3FFA6ED1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本课学习任务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09F2D2-5A31-48CE-99E9-44D92E47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基础积累：读准字音，辨清字形与语境义。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01F1ED-7444-4702-8691-6E1CF6C4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阅读重点：理解一分钟的停车怎样改变姑娘们的生活。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CE2DE3-39DB-4A45-9510-7A179C9C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1047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人物鉴赏：结合铅笔盒与夜归经历，分析香雪的心理和追求。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508FAC-5982-4989-A9C3-619E6AC6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9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建议：基础自查 12 分钟，鉴赏讨论 23 分钟，课堂检验 5 分钟。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940429-5343-4405-82FA-BF06F558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45063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9C2738-2267-4883-8B3D-510F1152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字音自查（一）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D72EAF-5E09-407B-AB2C-17BD6F5A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给括号内的字注音。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CA93C8-D23B-48DD-B978-D3810D9A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5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皱褶（褶）　嘟囔（囔）　吸吮（吮）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8DEC3-D982-4B34-B9D8-2D743B2C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5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捂　　　　　瞥　　　　　怂恿（两字）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1BAA5-3996-425F-932E-145B53DA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娇嗔（嗔）　搡　　　　　窸窸窣窣（窸、窣）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247F4-6497-4D40-A8EF-0DA9CA49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注意：轻声、声调以及形近字的区别。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EA5C5A-C381-447C-B162-9E887909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080479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E1B47A-2D15-4981-A8A2-2573DF76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字音答案（一）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C6BD3-ABF5-4193-B10E-CDD33560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5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褶 zhě　　囔 nang（轻声）　吮 shǔn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89150-9338-40AA-AAC2-59F75B78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5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捂 wǔ　　瞥 piē　　怂恿 sǒng yǒng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C259CE-FC0C-4B74-9F1D-60C62256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1047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5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嗔 chēn　 搡 sǎng　 窸 xī　窣 sū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8E2AC7-F8E9-4006-8597-954E6D03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“嘟囔”读 dū nang；“窸窸窣窣”形容细小的摩擦声。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D539B0-F14B-4F92-A2AC-169B0EDF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200578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E88191-822E-4DAA-9AA3-1079D395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字音自查（二）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62432-CC36-424E-AFBF-8334FD00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憎恶（憎、恶）　撂　　讷讷（讷）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01C1C5-C5CB-4CCE-9862-462F4D15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挪步（挪）　讪讪（讪）　掂量（掂）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D7319B-51C7-4149-AC80-D7415935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鹿寨（寨）　颤动（颤）　虔诚（虔）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4C5173-4E17-4663-921A-E47E440D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执拗／拗口／拗断　　包扎／扎营／挣扎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DFF929-1CA6-4A00-A227-5E7BFE14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多音字要放回词语中辨读。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7E262C-EA70-45FB-A885-6E41E898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406403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4B2AF4-D8FC-4D9F-AA6C-AA5F7DAB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字音答案（二）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1F1137-1DBD-4A89-9039-243191F7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憎恶 zēng wù　撂 liào　讷 nè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2B453A-FB7A-415B-88AC-087317A9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挪 nuó　讪 shàn　掂 diān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65082-156D-49A8-A0C5-5D2044FA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寨 zhài　颤 chàn　虔 qián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4FBCC-EC02-45A1-B399-AEB4BD4F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执拗 niù　拗口 ào　拗断 ǎo</a:t>
            </a:r>
          </a:p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包扎 zā　 扎营 zhā　挣扎 zhá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1AB11B-B219-4757-AF6A-44EA592A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733779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682F82-1F43-42EA-B427-96ACD043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字形自查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83683A-8742-4A66-A596-13957228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5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（suì）___道　深___　烽___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3562E4-70CB-402C-BBB6-083F917B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5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（rú）___动　___生　相___以沫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A80A69-B9AD-4D43-8023-9D78B26E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5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（niǔ）___怩　___扣　按___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07505-C888-4004-9DA6-5A8F1338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（hàn）___动　遗___　　（gǎn）___动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5CF7A2-267C-446E-A8F0-06E626C5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0966923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28B356-E2F4-4C14-BFC9-5A14CA8F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字形答案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39B0C-0776-4CD5-9A69-A21BD358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6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隧道　深邃　烽燧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E5D27-2937-4D4D-9C64-A98FBA88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6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蠕动　儒生　相濡以沫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815ABC-5728-4459-A880-455BA668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6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忸怩　纽扣　按钮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648E9-C24D-449F-BBD7-0A6292B7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6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撼动　遗憾　感动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0BCC7-2D36-4F15-988B-421C1907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9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“濡”与沾湿有关；“撼”与摇动有关；“憾”与内心感受有关。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81BF56-617A-485A-AB0D-FA1F5A56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105131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98C51F-F15B-4020-915D-5EF945AC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近义词辨析（一）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6E5620-21AD-4B62-A54C-B6D95EC8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从“故意、刻意”中选择恰当的词语。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166C9F-E8A8-48A4-AFCF-A2E6ECEF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047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看到她不高兴，妈妈______在面条里加了鸡蛋，</a:t>
            </a:r>
          </a:p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她却______把盛面条的碗打碎了，实在是太让人气愤了。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E6FAC-7503-49DE-B512-D810C89C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思考：两处行为的目的和叙述者的态度有什么不同？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28D00-82AD-4A2D-8484-0ED72E86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8633769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C64C9-73F2-4CFF-8211-F21C7F3E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近义词答案（一）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C3EE7-99A6-4979-9BFF-AF3FE89E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8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答案：刻意　故意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278DBC-9131-43C8-AC72-149B23FF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刻意：用尽心思。这里强调妈妈特意照顾孩子的心情。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453632-8E4B-41A0-9FD3-2355C38A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故意：有意识地这样做。此处是明知不应当却仍打碎碗，</a:t>
            </a:r>
          </a:p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带有批评意味。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490339-26BB-4C7B-AFDB-862DE5CE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注意：“故意”并非在所有语境中都含贬义。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0E1320-3826-4C63-AB2B-3BC2570B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772390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96EE10-F47B-4169-9459-B291AD18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近义词辨析（二）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DF986-D014-4D2B-9427-FA037526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从“踌躇、彷徨”中选择恰当的词语。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42070B-62E6-4853-AE6E-128FD9BC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① 小方手里拿着试卷，害怕回家会受到妈妈的责骂，</a:t>
            </a:r>
          </a:p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　 在家门口______不前。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81D8D-6A84-45F4-91E7-DAF6B826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10477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② 遇到失败，不要悲伤；遇到挫折，不要______；</a:t>
            </a:r>
          </a:p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　 坚持理想，明天就有希望；坚持信仰，未来就在前方。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4F58F1-11EB-42C6-BB4E-94BDF335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304374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9BBE35-C175-4C72-A082-D7489CC7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近义词答案（二）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83C2DB-1DB9-42BE-A503-3E7611C8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8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① 踌躇　　② 彷徨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22D798-5C30-414F-9A63-BED90775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047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踌躇：犹豫，拿不定主意。</a:t>
            </a:r>
          </a:p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这里写小方在进家门这件事上迟疑不前。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7AA0CC-45CD-42B1-AA43-FC6D6830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彷徨：走来走去，犹疑不决，不知往哪个方向去。</a:t>
            </a:r>
          </a:p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这里强调遭遇挫折时内心迷茫、缺少方向。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89D812-19C1-446B-9CB8-279F428B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647189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CDCD1-2E1A-45E9-A61C-AD8BAD65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成语辨析　主动担当的不同侧重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C73F27-0711-4F92-B1FC-90D19FCE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“自告奋勇”和“挺身而出”分别是什么意思？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6D8D6-765A-41DA-AF7C-CA60174C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两者都可表现主动担当，使用侧重点有何不同？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12857-3B02-4742-B3A7-C454E664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请各拟一个能突出词义差别的使用情境。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E80F3-A475-4036-9BF8-E8912B1D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1208375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1B59A3-70C5-41CD-A335-490E3159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成语辨析参考答案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4FE78B-6221-4042-8ED6-F4440468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自告奋勇：主动提出承担某项任务。</a:t>
            </a:r>
          </a:p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侧重“自己提出”，如主动报名承担班级讲解任务。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F165D-B2B6-4D6C-BC88-5B836824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10477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挺身而出：勇敢地站出来承担责任或应对困难。</a:t>
            </a:r>
          </a:p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侧重关键时刻的行动，如危急时主动出面保护他人。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A5FB01-8AE0-4105-8AEC-918672FA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共同点：都有主动承担的意思；不同点在行为方式和情境。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03B59C-3672-4127-A836-883D76C8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7269595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50C99-7E8E-4CB4-AD7B-882BDC6C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成语与词语释义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AD3287-296D-4365-9DE1-C4E1934C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请解释下列词语。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AEE2F4-569A-4E40-ABF0-DE734A5E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局促不安　　脚不点地　　磕磕绊绊　　昂首阔步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9D5A6F-6EE3-41E8-A784-DFE3DD3B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心不在焉　　撼天动地　　理直气壮　　窸窸窣窣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55EF5-901B-4EBC-9787-DE7F3E91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提示：既要理解字面意思，也要注意引申义与适用语境。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DFDE26-86FE-465B-A41B-E3FEEFA0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80119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3520B0-50F5-40EF-9EE4-1A1F3A86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词语释义答案（一）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A8E94-DA27-4602-BA51-82A68EFF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局促不安：拘谨、不自然，心神不安。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C528F-D1F6-4F47-9CF9-DC185664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脚不点地：形容走得很快，也可形容忙碌不停。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61AD56-4BA3-4D24-A462-78BBE4DB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10477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磕磕绊绊：行走不稳或说话不流利。</a:t>
            </a:r>
          </a:p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也可比喻事情进展不顺利。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B3D71-0662-4457-BB81-1FDCEA86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昂首阔步：抬起头，迈大步，形容精神振奋、意气昂扬。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4534CF-0A9A-4989-986A-C6DA554D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8633611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75D4DF-EC80-4521-8877-369C3CD1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词语释义答案（二）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D1613-E200-4AB6-8A9C-8A50189A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心不在焉：心思不在这里，精神不集中。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DB7D8F-4E21-4688-B8C6-01972591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撼天动地：使天地震动，形容声势浩大、力量强大。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E9B37-E2F2-47C9-A91F-212F7EEA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理直气壮：理由充分，说话有气势。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23048-CE0E-4B16-94DA-544197F9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1047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窸窸窣窣：形容细小的摩擦声或类似的轻微声响。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6621A-DA09-4AD4-B09E-CB5DF45A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7140566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2BBD9B-0B76-4FD7-9A6A-A394EBBC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情节梳理　香雪的经历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5199E6-5B18-457B-8524-7003C0E5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火车开进台儿沟，给封闭的山村带来新鲜事物。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14231-E09B-4AB3-8E9A-C74DFE48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姑娘们迎火车、与旅客交往，向往外面的生活。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336FFE-C213-4061-8F65-5A783D34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香雪换回铅笔盒，随后独自走夜路回村。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E9377-E519-473E-99B4-EDB79C54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补充练习：选出最能体现香雪变化的情节，并说明理由。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4B8F3-F8BA-478C-BEE7-7DE7751E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10510674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604C6C-9C68-436F-8BFA-26D9D4E8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补充练习 1　一分钟的变化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63B01B-8908-43D4-81E0-F97D08DE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学案要求：分析短暂的一分钟给台儿沟姑娘们带来的变化。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2760C-0B4F-4173-927A-1CE1B8C1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（1）姑娘们的日常生活与交往方式发生了什么变化？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5A9DE8-8DFD-4374-B261-98D1177A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（2）这些变化折射出怎样的心理与愿望？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5CE7DC-72DA-4DF1-90A7-CCCEA7C7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作答时分别说明生活变化与精神变化。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AFA32E-DD5D-46AC-B4EF-71C3BC96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9755413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5A467E-18E6-4C09-9575-9F7AA439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练习 1　参考答案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BDB798-D7DD-4040-8105-0AF12674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生活方面：从封闭山村的日常生活中接触到新鲜事物，</a:t>
            </a:r>
          </a:p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开始与旅客交往、交换物品。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FF5F8-5DEE-4A0C-80EA-76BDD380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10477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精神方面：好奇心被唤起，对外面的生活产生向往。</a:t>
            </a:r>
          </a:p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香雪尤其关心学习、知识和自己的未来。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1696D-AFF9-4169-83F6-7DC45EC5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短暂的停车成为联系山村与外部世界的窗口。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E6D441-47CB-4C63-9C45-EBDD2DA0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91874126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A1F8B1-4F5D-4E29-8D92-4AB8D44F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补充练习 2　铅笔盒的意义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5D575-83A7-4212-898B-68F6CD67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5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香雪为什么如此渴望拥有新式铅笔盒？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707CF3-EB80-4763-8CFB-FCA252A2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047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能否仅用“爱漂亮、爱攀比”解释她的愿望？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EABC8D-124E-412C-9D37-FCFB07D6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请联系她在学校的处境以及对未来的期待作答。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656FD-7C47-4F33-BE83-A7B73FBD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9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评价重点：承认人物真实的心理，同时解释更深层的追求。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E4ABC6-3F50-46EF-9EDF-C3C8C632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3095337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87E0B-DB39-4896-B789-F73E58A8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练习 2　参考答案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28240-17EB-46BB-ABA6-85593198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同学的目光和盘问让她意识到差距，渴望得到平等的尊重。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296A0-FAA7-43E3-AAD4-E316DA79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铅笔盒既是学习用品，也承载她对知识与新生活的向往。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F901B-F3BB-4E05-AF56-34438F2F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047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她希望借它获得自信，并想象更广阔的未来。</a:t>
            </a:r>
          </a:p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因此，单说“攀比”不能概括她的内心。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A8871A-51DB-4EEA-A141-CB9263DB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分析物品的意义，需要把它放进人物的经历和愿望中。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A6293A-09CF-4E3E-ABEA-1F0DAB55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69278877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0E53E9-2804-4E07-AF82-8A8F9F2E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补充练习 3　夜归的心理变化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38E069-1CDA-40A8-B279-A18A347B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香雪下车后独自走夜路，心理经历了怎样的变化？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5029B4-92D5-43F8-9625-C4BDE648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请从“起初、途中、见到姐妹们”三个阶段进行梳理。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70D65C-EA2F-41CC-B8B9-FC7ECCC7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047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夜色中的山川景物怎样参与表现她的心理？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878C57-2D41-436E-B3C4-18D01830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阅读提示：心理可能反复，不必画成毫无波折的直线。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726C8A-7492-4230-9390-0203735D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99968208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50773A-52F4-4DFB-A571-4B8A8885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练习 3　参考答案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4CCA3-230C-498F-90CC-7E4EFFAB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起初：独自面对夜路，感到害怕和孤单。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AA0D83-ADBE-4358-B846-5E02B9CF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途中：端详铅笔盒，产生喜悦和遐想；</a:t>
            </a:r>
          </a:p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也担心回家如何交代，又在对未来的期待中鼓起勇气。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95F25-AC09-4343-991A-96748E44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相遇：见到迎来的姐妹们，感到欢乐、满足与骄傲。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185AC-11D8-4C3B-A0E1-26513E80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景物随她的感受呈现不同意味，烘托心理变化，增添诗意。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42FCE-EECE-4C92-8022-E2C5C3E4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19523984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3E73BA-D4D5-4982-A9F4-D939B4BB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补充练习 4　香雪的人物形象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69BA01-EA80-422C-BE41-A4F72486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香雪换铅笔盒时坚持留下鸡蛋。这个细节表现了什么？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00691-9CED-403F-B0AD-F133DFE1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10477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结合前面的学习，概括香雪的形象，并为每个特点配上依据。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C4F81E-8389-417E-B1E3-22164A3D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建议写法：人物特点＋具体行为＋简要解释。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2A188-4E10-4B6A-A971-52A36275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38483207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432570-5DD4-4ADD-80DE-E1411B7C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练习 4　参考答案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CD1E85-E1F1-4A40-BB20-BDAFD3F8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质朴、自尊：坚持以鸡蛋交换，不愿白拿别人的东西。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89BBCC-711B-4025-8807-3253C65D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好学、向往新生活：关注学习用品，对更广阔的未来抱有期待。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15B72-0217-43B3-AA44-23E53CEF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047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执着、逐渐勇敢：为了心中的愿望行动，并努力克服夜归的恐惧。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A52267-B36B-430C-AFE3-9C8091C4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她的成长发生在具体经历中，胆怯与勇敢可以同时存在。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11FEB6-1B2C-4593-8BA3-E714F112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59239247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9FD9EB-DF93-4FBB-9FA2-0AFBFC45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课堂收束与答案索引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CBB47-7D99-4419-8CFC-4B4BFFF5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人物鉴赏：每个评价都要找到情节或细节依据。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58408-FF49-43E4-BB26-4B0265C0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独立检验：用 80—120 字说明铅笔盒怎样体现香雪的追求。</a:t>
            </a:r>
          </a:p>
          <a:p xmlns:a="http://schemas.openxmlformats.org/drawingml/2006/main">
            <a: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达标依据：有具体情节，能解释自尊与未来期待。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0CD20-1DBA-45B2-B264-F1C2519C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字音答案：4、6 页　字形：8 页　词语：10、12、14、16、17 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8F211-6A69-46AA-9FB0-70418837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补充鉴赏答案：20、22、24、26 页。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899E6-3D9B-4DED-9E3B-F3DFF30A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5608288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2026-10-09T13:24:47.1650000Z</dcterms:created>
  <dcterms:modified xsi:type="dcterms:W3CDTF">2026-10-09T13:24:47.1650000Z</dcterms:modified>
</coreProperties>
</file>