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4c5754bfd2416d" /><Relationship Type="http://schemas.openxmlformats.org/officeDocument/2006/relationships/extended-properties" Target="/docProps/app.xml" Id="Rd4b5aaa445464627" /><Relationship Type="http://schemas.openxmlformats.org/officeDocument/2006/relationships/officeDocument" Target="/ppt/presentation.xml" Id="R921da912456f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e97a37e564672"/>
  </p:sldMasterIdLst>
  <p:notesMasterIdLst>
    <p:notesMasterId xmlns:r="http://schemas.openxmlformats.org/officeDocument/2006/relationships" r:id="R0fd958f3a5ac48ea"/>
  </p:notesMasterIdLst>
  <p:sldIdLst>
    <p:sldId xmlns:r="http://schemas.openxmlformats.org/officeDocument/2006/relationships" id="256" r:id="Raaab8b629bb24984"/>
    <p:sldId xmlns:r="http://schemas.openxmlformats.org/officeDocument/2006/relationships" id="257" r:id="Rd4aa5845f6194995"/>
    <p:sldId xmlns:r="http://schemas.openxmlformats.org/officeDocument/2006/relationships" id="258" r:id="Rcfc1863d894b4904"/>
    <p:sldId xmlns:r="http://schemas.openxmlformats.org/officeDocument/2006/relationships" id="259" r:id="Rdec42364fb81485f"/>
    <p:sldId xmlns:r="http://schemas.openxmlformats.org/officeDocument/2006/relationships" id="260" r:id="R38a8e63155c24c8d"/>
    <p:sldId xmlns:r="http://schemas.openxmlformats.org/officeDocument/2006/relationships" id="261" r:id="R442214e908584468"/>
    <p:sldId xmlns:r="http://schemas.openxmlformats.org/officeDocument/2006/relationships" id="262" r:id="Rc657e10a96a843bf"/>
    <p:sldId xmlns:r="http://schemas.openxmlformats.org/officeDocument/2006/relationships" id="263" r:id="R578ef147418b4c51"/>
    <p:sldId xmlns:r="http://schemas.openxmlformats.org/officeDocument/2006/relationships" id="264" r:id="Rc20b9e2237184ffc"/>
    <p:sldId xmlns:r="http://schemas.openxmlformats.org/officeDocument/2006/relationships" id="265" r:id="R99e9e4c87bad438c"/>
    <p:sldId xmlns:r="http://schemas.openxmlformats.org/officeDocument/2006/relationships" id="266" r:id="R580bfa543e0e4c70"/>
    <p:sldId xmlns:r="http://schemas.openxmlformats.org/officeDocument/2006/relationships" id="267" r:id="Ra2062e0c1b754cc3"/>
    <p:sldId xmlns:r="http://schemas.openxmlformats.org/officeDocument/2006/relationships" id="268" r:id="R0a2092bfc7e045ea"/>
    <p:sldId xmlns:r="http://schemas.openxmlformats.org/officeDocument/2006/relationships" id="269" r:id="R9883851b72a0432a"/>
    <p:sldId xmlns:r="http://schemas.openxmlformats.org/officeDocument/2006/relationships" id="270" r:id="Ra2508690524e428e"/>
    <p:sldId xmlns:r="http://schemas.openxmlformats.org/officeDocument/2006/relationships" id="271" r:id="R13a6e97882084557"/>
    <p:sldId xmlns:r="http://schemas.openxmlformats.org/officeDocument/2006/relationships" id="272" r:id="R4c750559d6134297"/>
    <p:sldId xmlns:r="http://schemas.openxmlformats.org/officeDocument/2006/relationships" id="273" r:id="R466e8fe282ce4d8f"/>
    <p:sldId xmlns:r="http://schemas.openxmlformats.org/officeDocument/2006/relationships" id="274" r:id="Rded7fe33c15848e0"/>
    <p:sldId xmlns:r="http://schemas.openxmlformats.org/officeDocument/2006/relationships" id="275" r:id="R314171ff102545dc"/>
    <p:sldId xmlns:r="http://schemas.openxmlformats.org/officeDocument/2006/relationships" id="276" r:id="R7f2b327777f64b6b"/>
    <p:sldId xmlns:r="http://schemas.openxmlformats.org/officeDocument/2006/relationships" id="277" r:id="R0a94fcce448e4b37"/>
    <p:sldId xmlns:r="http://schemas.openxmlformats.org/officeDocument/2006/relationships" id="278" r:id="R8453ca9a1e9d4af5"/>
    <p:sldId xmlns:r="http://schemas.openxmlformats.org/officeDocument/2006/relationships" id="279" r:id="Rc515bc7ff37d4c8d"/>
    <p:sldId xmlns:r="http://schemas.openxmlformats.org/officeDocument/2006/relationships" id="280" r:id="R350072407b634a4a"/>
    <p:sldId xmlns:r="http://schemas.openxmlformats.org/officeDocument/2006/relationships" id="281" r:id="R7a8d3ca51add482d"/>
    <p:sldId xmlns:r="http://schemas.openxmlformats.org/officeDocument/2006/relationships" id="282" r:id="R73e2d62a9087493e"/>
    <p:sldId xmlns:r="http://schemas.openxmlformats.org/officeDocument/2006/relationships" id="283" r:id="R901ecd76ba7c42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bc79baa5c04b7e" /><Relationship Type="http://schemas.openxmlformats.org/officeDocument/2006/relationships/slideMaster" Target="/ppt/slideMasters/slideMaster1.xml" Id="R8d4e97a37e564672" /><Relationship Type="http://schemas.openxmlformats.org/officeDocument/2006/relationships/notesMaster" Target="/ppt/notesMasters/notesMaster1.xml" Id="R0fd958f3a5ac48ea" /><Relationship Type="http://schemas.openxmlformats.org/officeDocument/2006/relationships/presProps" Target="/ppt/presProps.xml" Id="R52a1ce37c3e74b26" /><Relationship Type="http://schemas.openxmlformats.org/officeDocument/2006/relationships/tableStyles" Target="/ppt/tableStyles.xml" Id="R1ffef1eec6d1416b" /><Relationship Type="http://schemas.openxmlformats.org/officeDocument/2006/relationships/slide" Target="/ppt/slides/slide1.xml" Id="Raaab8b629bb24984" /><Relationship Type="http://schemas.openxmlformats.org/officeDocument/2006/relationships/slide" Target="/ppt/slides/slide2.xml" Id="Rd4aa5845f6194995" /><Relationship Type="http://schemas.openxmlformats.org/officeDocument/2006/relationships/slide" Target="/ppt/slides/slide3.xml" Id="Rcfc1863d894b4904" /><Relationship Type="http://schemas.openxmlformats.org/officeDocument/2006/relationships/slide" Target="/ppt/slides/slide4.xml" Id="Rdec42364fb81485f" /><Relationship Type="http://schemas.openxmlformats.org/officeDocument/2006/relationships/slide" Target="/ppt/slides/slide5.xml" Id="R38a8e63155c24c8d" /><Relationship Type="http://schemas.openxmlformats.org/officeDocument/2006/relationships/slide" Target="/ppt/slides/slide6.xml" Id="R442214e908584468" /><Relationship Type="http://schemas.openxmlformats.org/officeDocument/2006/relationships/slide" Target="/ppt/slides/slide7.xml" Id="Rc657e10a96a843bf" /><Relationship Type="http://schemas.openxmlformats.org/officeDocument/2006/relationships/slide" Target="/ppt/slides/slide8.xml" Id="R578ef147418b4c51" /><Relationship Type="http://schemas.openxmlformats.org/officeDocument/2006/relationships/slide" Target="/ppt/slides/slide9.xml" Id="Rc20b9e2237184ffc" /><Relationship Type="http://schemas.openxmlformats.org/officeDocument/2006/relationships/slide" Target="/ppt/slides/slide10.xml" Id="R99e9e4c87bad438c" /><Relationship Type="http://schemas.openxmlformats.org/officeDocument/2006/relationships/slide" Target="/ppt/slides/slide11.xml" Id="R580bfa543e0e4c70" /><Relationship Type="http://schemas.openxmlformats.org/officeDocument/2006/relationships/slide" Target="/ppt/slides/slide12.xml" Id="Ra2062e0c1b754cc3" /><Relationship Type="http://schemas.openxmlformats.org/officeDocument/2006/relationships/slide" Target="/ppt/slides/slide13.xml" Id="R0a2092bfc7e045ea" /><Relationship Type="http://schemas.openxmlformats.org/officeDocument/2006/relationships/slide" Target="/ppt/slides/slide14.xml" Id="R9883851b72a0432a" /><Relationship Type="http://schemas.openxmlformats.org/officeDocument/2006/relationships/slide" Target="/ppt/slides/slide15.xml" Id="Ra2508690524e428e" /><Relationship Type="http://schemas.openxmlformats.org/officeDocument/2006/relationships/slide" Target="/ppt/slides/slide16.xml" Id="R13a6e97882084557" /><Relationship Type="http://schemas.openxmlformats.org/officeDocument/2006/relationships/slide" Target="/ppt/slides/slide17.xml" Id="R4c750559d6134297" /><Relationship Type="http://schemas.openxmlformats.org/officeDocument/2006/relationships/slide" Target="/ppt/slides/slide18.xml" Id="R466e8fe282ce4d8f" /><Relationship Type="http://schemas.openxmlformats.org/officeDocument/2006/relationships/slide" Target="/ppt/slides/slide19.xml" Id="Rded7fe33c15848e0" /><Relationship Type="http://schemas.openxmlformats.org/officeDocument/2006/relationships/slide" Target="/ppt/slides/slide20.xml" Id="R314171ff102545dc" /><Relationship Type="http://schemas.openxmlformats.org/officeDocument/2006/relationships/slide" Target="/ppt/slides/slide21.xml" Id="R7f2b327777f64b6b" /><Relationship Type="http://schemas.openxmlformats.org/officeDocument/2006/relationships/slide" Target="/ppt/slides/slide22.xml" Id="R0a94fcce448e4b37" /><Relationship Type="http://schemas.openxmlformats.org/officeDocument/2006/relationships/slide" Target="/ppt/slides/slide23.xml" Id="R8453ca9a1e9d4af5" /><Relationship Type="http://schemas.openxmlformats.org/officeDocument/2006/relationships/slide" Target="/ppt/slides/slide24.xml" Id="Rc515bc7ff37d4c8d" /><Relationship Type="http://schemas.openxmlformats.org/officeDocument/2006/relationships/slide" Target="/ppt/slides/slide25.xml" Id="R350072407b634a4a" /><Relationship Type="http://schemas.openxmlformats.org/officeDocument/2006/relationships/slide" Target="/ppt/slides/slide26.xml" Id="R7a8d3ca51add482d" /><Relationship Type="http://schemas.openxmlformats.org/officeDocument/2006/relationships/slide" Target="/ppt/slides/slide27.xml" Id="R73e2d62a9087493e" /><Relationship Type="http://schemas.openxmlformats.org/officeDocument/2006/relationships/slide" Target="/ppt/slides/slide28.xml" Id="R901ecd76ba7c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ec58d41cb1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03d438b66461f" /><Relationship Type="http://schemas.openxmlformats.org/officeDocument/2006/relationships/notesMaster" Target="/ppt/notesMasters/notesMaster1.xml" Id="R255bf05cfc27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75689890944e7" /><Relationship Type="http://schemas.openxmlformats.org/officeDocument/2006/relationships/notesMaster" Target="/ppt/notesMasters/notesMaster1.xml" Id="Rac9f40b54236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3d68df46364582" /><Relationship Type="http://schemas.openxmlformats.org/officeDocument/2006/relationships/notesMaster" Target="/ppt/notesMasters/notesMaster1.xml" Id="R4a306111590e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fa226e3cde4d0f" /><Relationship Type="http://schemas.openxmlformats.org/officeDocument/2006/relationships/notesMaster" Target="/ppt/notesMasters/notesMaster1.xml" Id="R33cfd6c7160a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0f504a0f849bd" /><Relationship Type="http://schemas.openxmlformats.org/officeDocument/2006/relationships/notesMaster" Target="/ppt/notesMasters/notesMaster1.xml" Id="R1a7806393f8c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16d112b0514da0" /><Relationship Type="http://schemas.openxmlformats.org/officeDocument/2006/relationships/notesMaster" Target="/ppt/notesMasters/notesMaster1.xml" Id="R8bc66e79948340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b43c23c3947ea" /><Relationship Type="http://schemas.openxmlformats.org/officeDocument/2006/relationships/notesMaster" Target="/ppt/notesMasters/notesMaster1.xml" Id="Rad9fd9354c3c4a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cf655c48a4fd7" /><Relationship Type="http://schemas.openxmlformats.org/officeDocument/2006/relationships/notesMaster" Target="/ppt/notesMasters/notesMaster1.xml" Id="Rab7bbdf17db1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4040bc05c14e4d" /><Relationship Type="http://schemas.openxmlformats.org/officeDocument/2006/relationships/notesMaster" Target="/ppt/notesMasters/notesMaster1.xml" Id="Rff2243f7b29f42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45845ec4f9420b" /><Relationship Type="http://schemas.openxmlformats.org/officeDocument/2006/relationships/notesMaster" Target="/ppt/notesMasters/notesMaster1.xml" Id="R38246433cc4e4c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82f4dfae1c4a79" /><Relationship Type="http://schemas.openxmlformats.org/officeDocument/2006/relationships/notesMaster" Target="/ppt/notesMasters/notesMaster1.xml" Id="R3f512f38094e41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19a2aa6e9d40fa" /><Relationship Type="http://schemas.openxmlformats.org/officeDocument/2006/relationships/notesMaster" Target="/ppt/notesMasters/notesMaster1.xml" Id="R146e3eba6e984a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5e8e017a35496f" /><Relationship Type="http://schemas.openxmlformats.org/officeDocument/2006/relationships/notesMaster" Target="/ppt/notesMasters/notesMaster1.xml" Id="Re7471b5d365142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be236ca89f4005" /><Relationship Type="http://schemas.openxmlformats.org/officeDocument/2006/relationships/notesMaster" Target="/ppt/notesMasters/notesMaster1.xml" Id="R55d4379add234e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b647198518474b" /><Relationship Type="http://schemas.openxmlformats.org/officeDocument/2006/relationships/notesMaster" Target="/ppt/notesMasters/notesMaster1.xml" Id="Rc16e97b8988145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44e9fbbe5c4135" /><Relationship Type="http://schemas.openxmlformats.org/officeDocument/2006/relationships/notesMaster" Target="/ppt/notesMasters/notesMaster1.xml" Id="Rcea6ff14d6ee4d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1f1328315d4223" /><Relationship Type="http://schemas.openxmlformats.org/officeDocument/2006/relationships/notesMaster" Target="/ppt/notesMasters/notesMaster1.xml" Id="R2a016221e1714a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099d0d374b41d1" /><Relationship Type="http://schemas.openxmlformats.org/officeDocument/2006/relationships/notesMaster" Target="/ppt/notesMasters/notesMaster1.xml" Id="Re13737752c6244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4ba514e6a04fe2" /><Relationship Type="http://schemas.openxmlformats.org/officeDocument/2006/relationships/notesMaster" Target="/ppt/notesMasters/notesMaster1.xml" Id="Ra57bc71dcef24c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17bd1e93cb4020" /><Relationship Type="http://schemas.openxmlformats.org/officeDocument/2006/relationships/notesMaster" Target="/ppt/notesMasters/notesMaster1.xml" Id="Rc33f510a2d5b49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b256813e974e9b" /><Relationship Type="http://schemas.openxmlformats.org/officeDocument/2006/relationships/notesMaster" Target="/ppt/notesMasters/notesMaster1.xml" Id="R0144c1135a6443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ae3783579c94c97" /><Relationship Type="http://schemas.openxmlformats.org/officeDocument/2006/relationships/notesMaster" Target="/ppt/notesMasters/notesMaster1.xml" Id="Ra468d23aa06d42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db56fa31a644b3d" /><Relationship Type="http://schemas.openxmlformats.org/officeDocument/2006/relationships/notesMaster" Target="/ppt/notesMasters/notesMaster1.xml" Id="R1e1eba71b57944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b9c2c22b6244c8" /><Relationship Type="http://schemas.openxmlformats.org/officeDocument/2006/relationships/notesMaster" Target="/ppt/notesMasters/notesMaster1.xml" Id="R877dd7e4f51245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a2604030b34137" /><Relationship Type="http://schemas.openxmlformats.org/officeDocument/2006/relationships/notesMaster" Target="/ppt/notesMasters/notesMaster1.xml" Id="R9a7e9858646a4d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011cd9ee85485d" /><Relationship Type="http://schemas.openxmlformats.org/officeDocument/2006/relationships/notesMaster" Target="/ppt/notesMasters/notesMaster1.xml" Id="Ra0e0bb089b824f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9c5bf6f0b4459b" /><Relationship Type="http://schemas.openxmlformats.org/officeDocument/2006/relationships/notesMaster" Target="/ppt/notesMasters/notesMaster1.xml" Id="Raf1ec5ed7d7a48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6452fc61551413f" /><Relationship Type="http://schemas.openxmlformats.org/officeDocument/2006/relationships/notesMaster" Target="/ppt/notesMasters/notesMaster1.xml" Id="R419cbd865d43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以用户PDF可见题目为主。第2页下部被裁切，缺失题目不作还原。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时间为教学建议。字词包含PDF涉及的《峨日朵雪峰之侧》《致云雀》词语。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目标：前9项字音；方法：词中辨读；易错：脂、揳、罅；难度：基础；评价：逐项口头校对。“揳”按教材正文核对，提取文本误识为“楔”。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字音补充核查：教材PDF书页6注释 https://www.ynmdfz.net/temp/1689239523600.pdf；哟 https://www.shidianguji.com/character/%E5%93%9F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目标：后9项及藉、荫；方法：随词认读；易错：蕾误二声、炽误四声以外读音；难度：基础；评价：逐词校正声调。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习题.pdf》第1页（对应书页9）。</a:t>
            </a:r>
          </a:p>
          <a:p xmlns:a="http://schemas.openxmlformats.org/drawingml/2006/main">
            <a:r>
              <a:t>“荫蔽”“荫庇”的“荫”均按遮蔽、庇护义读yìn，并非这一组都必须有不同读音。字典条目：https://www.zdic.net/hans/荫蔽 。不把征求意见稿当作已施行审音规范。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目标：形近字；方法：偏旁与词义对应；易错：菲扉绯、撕厮嘶；难度：基础；评价：补字并组词。保留源页全部12项。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源页“栎树”按所给lì填写，不能写“砾树”。“讴”指歌唱，“呕”与口的动作相关。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源页三、词语积累第1题。目标：同音近义词；方法：辨认行为目的；易错：只看同音而忽略辩白与辨别；难度：基础；评价：填词及释义都正确。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按学案辨析作答，不把“用眼睛”“用嘴”当作唯一判据。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原页要求释义，误用思考为教学补充。目标：语境义；方法：本义与引申义；易错：把瞻前顾后固定为贬义；难度：基础至中等；评价：释义准确并知道适用语境。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习题.pdf》第2页（对应书页10）。</a:t>
            </a:r>
          </a:p>
          <a:p xmlns:a="http://schemas.openxmlformats.org/drawingml/2006/main">
            <a:r>
              <a:t>释义为补充参考答案。《致云雀》中瞻前顾后结合人类为不存在事物自扰的上下文理解。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来源：教材补充练习。</a:t>
            </a:r>
          </a:p>
          <a:p xmlns:a="http://schemas.openxmlformats.org/drawingml/2006/main">
            <a:r>
              <a:t>教学补充题，非源PDF被裁切的原题。依据人教版必修上册书页4、11：https://www.ynmdfz.net/temp/1689239523600.pdf 。目标：反复与诗情；方法：节奏和语义分析；易错：只有“增强感情”而无具体内容；难度：中等；评价：手法、节奏、创造精神。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来源：教材补充练习。</a:t>
            </a:r>
          </a:p>
          <a:p xmlns:a="http://schemas.openxmlformats.org/drawingml/2006/main">
            <a:r>
              <a:t>参考解读据教材正文与学习提示，https://www.ynmdfz.net/temp/1689239523600.pdf，书页4、11。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据源PDF第3页象征写作提示扩展，非原题复原。教材核对：https://www.ynmdfz.net/temp/1689239523600.pdf 书页4—6。目标：象征关系；方法：具体特点与抽象精神对应；易错：仅说“红烛象征诗人”；难度：中等；评价：至少两组对应关系。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参考解读依据源PDF象征提示及教材 https://www.ynmdfz.net/temp/1689239523600.pdf 书页4—6、11。避免把奉献等同于否定正常个人需要。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源PDF第3页“思维发展”第3题。目标：象征写作；方法：写具体形象及其变化；易错：纯议论、只有一句比喻；难度：提升；评价：形象、联系、细节、主题四方面。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教学构思示例，不是标准答案。强调舍弃依赖与停滞，不能泛化成“舍弃越多越自由”。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本页为教学拟写示例，约200字。种子用拟人写法承载摆脱依赖、获得自主的象征意义。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评价建议不作为原题官方分值。可以采用不同形象，只要舍弃与自由的关系有说服力。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源PDF第3页完整节选。目标：读懂诗意；方法：景物、人物、声音分类；易错：把白水光参差读成田埂弯曲；难度：基础；评价：简述所写场景。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保留源PDF全部四项。目标：语义与修饰关系；方法：逐词回扣原句；易错：误配参差的描写对象；难度：中等；评价：选择及理由。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答案B及主要解释均据源PDF“自我校对”。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原题完整设问。目标：语言风格比较；方法：同维度对照并举例；易错：只比较思想感情、只写一首；难度：中等；评价：双向概括、有文本依据。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为原比较题补充的回顾材料。刘禹锡古诗为公版文本；“闻笛赋”“烂柯人”为原学案语言风格答案中“用典”的具体依据。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风格结论据源PDF第3页原答案；具体例证为讲解补充。雅丽并非艰涩，通俗也不等于缺少艺术性。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源页解题策略在末尾截断，本页为教学整理，不声称是被截断部分原文。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来源：用户PDF《立在地球边上放号 红烛 习题.pdf》第3页（对应书页11）。</a:t>
            </a:r>
          </a:p>
          <a:p xmlns:a="http://schemas.openxmlformats.org/drawingml/2006/main">
            <a:r>
              <a:t>各开放题接受有文本依据的其他合理答案。源文件未呈现的第1、2题未冒充原题补写。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3a2193d274c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6ae97fbbf42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cfcb5c7a842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5bca697fa48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57f4cf81442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86a8c0b44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57808-CC5A-4DF1-9F5D-BB80C192C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7CEEF3-85E7-4D51-9BF9-5BAAFC15DC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40B8F8-81E4-41C0-83B1-135E6E711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3888D1-B205-412A-A022-19BC3BF1B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2BB1A8-7776-470C-A4A2-81779B5A2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1763BE-5D15-4533-BC6D-4E4CE6AE68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7A5298-0653-4DF4-B070-8FD3DDC7D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A3FAF2-850B-4D71-B3EA-6115687161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F4CE0-ADF6-4DFD-83E5-1247DA2D6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A44983-5A44-48B6-B735-B132603D8B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3b1aeed3742f5" /><Relationship Type="http://schemas.openxmlformats.org/officeDocument/2006/relationships/slideLayout" Target="/ppt/slideLayouts/slideLayout1.xml" Id="R088bd3de1b3d4f4c" /><Relationship Type="http://schemas.openxmlformats.org/officeDocument/2006/relationships/slideLayout" Target="/ppt/slideLayouts/slideLayout2.xml" Id="R359113f373334923" /><Relationship Type="http://schemas.openxmlformats.org/officeDocument/2006/relationships/slideLayout" Target="/ppt/slideLayouts/slideLayout3.xml" Id="R371dea83e9404edb" /><Relationship Type="http://schemas.openxmlformats.org/officeDocument/2006/relationships/slideLayout" Target="/ppt/slideLayouts/slideLayout4.xml" Id="R103be360455a475a" /><Relationship Type="http://schemas.openxmlformats.org/officeDocument/2006/relationships/slideLayout" Target="/ppt/slideLayouts/slideLayout5.xml" Id="R63b16a8b2a464f34" /><Relationship Type="http://schemas.openxmlformats.org/officeDocument/2006/relationships/slideLayout" Target="/ppt/slideLayouts/slideLayout6.xml" Id="R7a004eb5f9a1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bd3de1b3d4f4c"/>
    <p:sldLayoutId xmlns:r="http://schemas.openxmlformats.org/officeDocument/2006/relationships" id="2147483650" r:id="R359113f373334923"/>
    <p:sldLayoutId xmlns:r="http://schemas.openxmlformats.org/officeDocument/2006/relationships" id="2147483651" r:id="R371dea83e9404edb"/>
    <p:sldLayoutId xmlns:r="http://schemas.openxmlformats.org/officeDocument/2006/relationships" id="2147483652" r:id="R103be360455a475a"/>
    <p:sldLayoutId xmlns:r="http://schemas.openxmlformats.org/officeDocument/2006/relationships" id="2147483653" r:id="R63b16a8b2a464f34"/>
    <p:sldLayoutId xmlns:r="http://schemas.openxmlformats.org/officeDocument/2006/relationships" id="2147483654" r:id="R7a004eb5f9a1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c868bc8cf49fe" /><Relationship Type="http://schemas.openxmlformats.org/officeDocument/2006/relationships/notesSlide" Target="/ppt/notesSlides/notesSlide1.xml" Id="R0db6e4d9087b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c5642ff564340" /><Relationship Type="http://schemas.openxmlformats.org/officeDocument/2006/relationships/notesSlide" Target="/ppt/notesSlides/notesSlide2.xml" Id="Rd2a0a3d9d50f42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e2c25899447d4" /><Relationship Type="http://schemas.openxmlformats.org/officeDocument/2006/relationships/notesSlide" Target="/ppt/notesSlides/notesSlide3.xml" Id="Rb714d120022a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31a0fe17845cb" /><Relationship Type="http://schemas.openxmlformats.org/officeDocument/2006/relationships/notesSlide" Target="/ppt/notesSlides/notesSlide4.xml" Id="R6b19b08bfcf749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c7004840844f5" /><Relationship Type="http://schemas.openxmlformats.org/officeDocument/2006/relationships/notesSlide" Target="/ppt/notesSlides/notesSlide5.xml" Id="R8077bafcd87248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e67c6fd614914" /><Relationship Type="http://schemas.openxmlformats.org/officeDocument/2006/relationships/notesSlide" Target="/ppt/notesSlides/notesSlide6.xml" Id="Raf290c719e83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ed415c707412f" /><Relationship Type="http://schemas.openxmlformats.org/officeDocument/2006/relationships/notesSlide" Target="/ppt/notesSlides/notesSlide7.xml" Id="Ra80b31fe03a145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6decf3a4445c9" /><Relationship Type="http://schemas.openxmlformats.org/officeDocument/2006/relationships/notesSlide" Target="/ppt/notesSlides/notesSlide8.xml" Id="Re192c09be0d240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f49f60bf04f02" /><Relationship Type="http://schemas.openxmlformats.org/officeDocument/2006/relationships/notesSlide" Target="/ppt/notesSlides/notesSlide9.xml" Id="R01c0e769ae1e49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fe32a8fc74b42" /><Relationship Type="http://schemas.openxmlformats.org/officeDocument/2006/relationships/notesSlide" Target="/ppt/notesSlides/notesSlide10.xml" Id="R40fe4516a41142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419a817e34bf3" /><Relationship Type="http://schemas.openxmlformats.org/officeDocument/2006/relationships/notesSlide" Target="/ppt/notesSlides/notesSlide11.xml" Id="Ra00754ba80dd4a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92b27324c4b2b" /><Relationship Type="http://schemas.openxmlformats.org/officeDocument/2006/relationships/notesSlide" Target="/ppt/notesSlides/notesSlide12.xml" Id="R22db87536a1d4e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69bafa2ec4fbd" /><Relationship Type="http://schemas.openxmlformats.org/officeDocument/2006/relationships/notesSlide" Target="/ppt/notesSlides/notesSlide13.xml" Id="Rdc4dfef4f6e748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bfccf5e0ed4eba" /><Relationship Type="http://schemas.openxmlformats.org/officeDocument/2006/relationships/notesSlide" Target="/ppt/notesSlides/notesSlide14.xml" Id="R0410b8c079ca4e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4508ac85c420f" /><Relationship Type="http://schemas.openxmlformats.org/officeDocument/2006/relationships/notesSlide" Target="/ppt/notesSlides/notesSlide15.xml" Id="R46f2bd01bac84f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57cee2e94435f" /><Relationship Type="http://schemas.openxmlformats.org/officeDocument/2006/relationships/notesSlide" Target="/ppt/notesSlides/notesSlide16.xml" Id="Rdbcb3feaf2ba4f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9b0a4f0e24d28" /><Relationship Type="http://schemas.openxmlformats.org/officeDocument/2006/relationships/notesSlide" Target="/ppt/notesSlides/notesSlide17.xml" Id="R369738fc179740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bb7f8d7984f8a" /><Relationship Type="http://schemas.openxmlformats.org/officeDocument/2006/relationships/notesSlide" Target="/ppt/notesSlides/notesSlide18.xml" Id="Ra897f02ea18642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50b26d28e4d50" /><Relationship Type="http://schemas.openxmlformats.org/officeDocument/2006/relationships/notesSlide" Target="/ppt/notesSlides/notesSlide19.xml" Id="R52f01c2a25b941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2b1deb2184df9" /><Relationship Type="http://schemas.openxmlformats.org/officeDocument/2006/relationships/notesSlide" Target="/ppt/notesSlides/notesSlide20.xml" Id="Rb1f06f689b5a4c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6e9c4bc4940fc" /><Relationship Type="http://schemas.openxmlformats.org/officeDocument/2006/relationships/notesSlide" Target="/ppt/notesSlides/notesSlide21.xml" Id="R0e7eaa4dd13742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ca9e4ff9b419d" /><Relationship Type="http://schemas.openxmlformats.org/officeDocument/2006/relationships/notesSlide" Target="/ppt/notesSlides/notesSlide22.xml" Id="R5c94e2493a4d4d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2bba660854d79" /><Relationship Type="http://schemas.openxmlformats.org/officeDocument/2006/relationships/notesSlide" Target="/ppt/notesSlides/notesSlide23.xml" Id="R3c6b088a885949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cadc0727a4e09" /><Relationship Type="http://schemas.openxmlformats.org/officeDocument/2006/relationships/notesSlide" Target="/ppt/notesSlides/notesSlide24.xml" Id="R1e6314fc4c654eb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b787ecfa44e5a" /><Relationship Type="http://schemas.openxmlformats.org/officeDocument/2006/relationships/notesSlide" Target="/ppt/notesSlides/notesSlide25.xml" Id="R3d7898ce9c7f41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e2e68281445b6" /><Relationship Type="http://schemas.openxmlformats.org/officeDocument/2006/relationships/notesSlide" Target="/ppt/notesSlides/notesSlide26.xml" Id="R49691e2812994c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fa51a4a2b4c09" /><Relationship Type="http://schemas.openxmlformats.org/officeDocument/2006/relationships/notesSlide" Target="/ppt/notesSlides/notesSlide27.xml" Id="Rb18743cf51f449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a134fed1c41aa" /><Relationship Type="http://schemas.openxmlformats.org/officeDocument/2006/relationships/notesSlide" Target="/ppt/notesSlides/notesSlide28.xml" Id="Rbbc17c2800b6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3278C-9F22-4DD2-BAC0-D7FCE40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525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立在地球边上放号　红烛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461A4-4CD5-469F-861C-14F29354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3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语文习题课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29B49-4A9D-459E-9A3D-8E0270C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字词积累　诗歌鉴赏　象征写作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B5860-A153-44B0-A5DE-80CC73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配套训练：《插田歌》阅读与语言风格比较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44924-65E4-4431-87DF-71F153E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7175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FE523-E782-4DC4-A68B-9D0473A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学习任务与课堂安排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D423-CBB0-411F-8609-CB9EB7E3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字词积累：读准易错音，辨清形近字和词义。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C93E-F18B-40E9-AD68-4518C63A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诗歌鉴赏：结合文本说明表达技巧和语言风格。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F5885-B4ED-419B-9CE3-85DB552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象征写作：让具体事物承载思想，写出“舍弃与自由”。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827C0-F2D2-4D4B-BA93-A57104F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建议：字词 10 分钟，鉴赏 15 分钟，阅读 15 分钟。</a:t>
            </a:r>
          </a:p>
          <a:p xmlns:a="http://schemas.openxmlformats.org/drawingml/2006/main">
            <a:pPr>
              <a:defRPr sz="19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约 200 字片段写作可在课后完成。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0111D-CF5C-4976-801D-88ECD3C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8831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D6AB6-4BCB-43AF-B340-0D0E65C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字音自查（一）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E796-4A3C-4496-993D-7A73007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给括号内的字注音。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6A6FB-88AF-42F5-AD8C-6D45DBB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怒涌（涌）　哟　　蜡炬（炬）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47903-CD34-414F-9C42-73D6964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脂膏（脂）　耕耘（耘）　铆钉（铆）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67D4D-419E-4B7A-ABF6-2AEF074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揳　　　　罅隙（罅）　犀利（犀）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308C9-941D-4F2F-B136-2C72BAB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提示：“哟”的读音需要结合叹词、语气词的用法。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291EB-F466-4F09-8201-95D1A12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1657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2F731-51AC-4AA4-9784-B7C9256A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字音答案（一）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95DAD-A995-466B-96E5-FD8E93B3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涌 yǒng　　炬 jù　　脂 zhī　　耘 yún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503C8-D2D4-4117-95BA-8B0862C1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铆 mǎo　　揳 xiē　　罅 xià　　犀 xī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00193-7B02-4B1D-BE30-E5EF787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哟：叹词读 yō，作句末语气词或衬字可读 yo。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孤立注音需说明用法，不能把两种读音混为一谈。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6E9C4-A44E-4F58-B1D3-747ABC0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“揳”指把楔子、钉子等捶打到物体里面。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课文中指用力插入。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C56A-8CEA-4A45-AF33-C823B65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0761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856BB-A24F-4496-94B8-7099077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字音自查（二）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BC38D-33BC-4143-BA45-EA2D7C99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晨曦（曦）　甘霖（霖）　花蕾（蕾）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7C5D-0379-4244-9CE1-EF637EB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醇酒（醇）　山峦（峦）　明澈（澈）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C4C7C-6D9D-4CC6-B274-7DAE1FB0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倦怠（怠）　真挚（挚）　炽热（炽）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625F5-5BE9-4C73-BC29-D16A9C74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慰藉／狼藉　　荫蔽／荫庇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F081E-61B0-418E-93B5-56C58526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辨读重点：蕾、炽、藉、荫。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0271A-7486-4D2E-81B8-863E9A3F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5707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CE0DA-31E1-4B92-91E5-BECC8F3B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字音答案（二）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9F44-C986-40DA-971D-FE12808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曦 xī　　霖 lín　　蕾 lěi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4CBFB-9D90-4D44-BC87-4BD8268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醇 chún　峦 luán　澈 chè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73524-C8B3-434C-B8FB-4AEECE3E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6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怠 dài　 挚 zhì　 炽 chì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885DB-7633-4F60-BB40-FAC1D484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慰藉 jiè　狼藉 jí</a:t>
            </a:r>
          </a:p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荫蔽 yìn　荫庇 yìn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162A0-D61B-491F-B17A-B613E1C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22679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0695E-9650-402A-9B69-4A19EDB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字形自查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F3346-AC1B-4AE1-9D90-F41C94FF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按拼音补全词语。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D8981-16DA-49C8-A9BB-ED3BE42D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（fēi）芳___　心___　___闻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391E-390E-4CC6-8BBB-640EC8F6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（sī）___裂　___打　马___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0A6BA-355E-44A8-9DF8-BE66DE8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（shuò）闪___　（lì）石___　___树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96B12-6B97-41AD-B2E1-C6AC111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（qū）___体　（ōu）___歌　（ǒu）___吐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19881-8178-4C53-8730-B84ED55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20095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FED92-80FB-4377-B8B5-36E0676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字形答案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1E753-1143-4961-997F-D8EC3CE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芳菲　心扉　绯闻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7EF6B-5398-4380-8B90-36A6DBA5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撕裂　厮打　马嘶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48792-DCF2-4DCD-81F7-FBEAB56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闪烁　石砾　栎树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ADBB3-8E82-48F6-8E75-5C390A77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躯体　讴歌　呕吐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B982C-8FF9-4B27-9F71-4DAB98E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“心扉”如心灵之门；“撕裂”与手的动作有关。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79030-26BC-411C-9D11-4481A7E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70782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F19C5-8533-4F39-AB3C-C2B45A9A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近义词辨析　分辨与分辩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6E1B-E9C7-4AFB-86A8-2A6ECEC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 事情的结果已经证明你错了，你还______什么？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781CC-EC34-4CCC-8295-C987082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② 这明明就是假货，你______不出来吗？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ED29A-370D-4D38-BBFA-88C9C4E0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要求：选出恰当词语，并说明依据。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99B06-F0E3-40EF-ACF4-A29862C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0020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ADE98-F463-40B1-ABAB-7E531F80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近义词答案与依据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BAE7D-ADE4-42AB-A738-2AA196A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① 分辩：辩白，重在解释、争辩。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94AB3-EEE6-4AC5-BE50-A633FC4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② 分辨：辨别，重在区分、识别。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8FD56-9535-4F7C-8461-9697C687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记忆线索：“辩”关联言语，“辨”关联辨别。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真正作答时，还要看语境中的行为和目的。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A0334-4BFC-453A-ABA3-4DDF58B2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964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2E789-215F-4EFF-B9F0-9C2B8DB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成语释义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223EB-F35E-433C-ADB9-41A9E537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解释下列词语，并说明容易误用之处。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7DE2F-8D19-440C-B7BE-4F721B4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霞蔚云蒸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113B7-9AE6-45A1-AF54-B44436A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瞻前顾后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E693B-C203-427A-9CEA-F712450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酣畅淋漓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AD889-4CAE-4992-A519-D542B4B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思考：“瞻前顾后”在所有语境中都是贬义吗？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7F53D-6571-454D-A4CE-3B67B51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3501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AD4F2-45AA-41E2-ADAC-E94FA7F5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成语参考答案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67933-F12D-40E8-8A97-C810056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霞蔚云蒸：云霞升腾、聚集，景象绚丽。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也常比喻事物蓬勃发展。课文取景物义。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3D74B-C2DD-42C4-8CA0-3EB72FB9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瞻前顾后：向前看、向后看。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可指考虑周密，也可形容顾虑过多、犹豫不决。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00E22-2F31-4D09-8FC4-302D1F6D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酣畅淋漓：形容非常畅快、尽兴。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可形容表达充分痛快、情感尽情流露。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F9F05-C244-4941-A1EF-9078020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6419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55E3D-FEAD-48E4-B246-690217BD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　《立在地球边上放号》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1B6D5-C097-4629-8F31-026ECF62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结合课文，分析反复呼喊“力哟！力哟！”的表达效果。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57192-3890-4B3B-938F-4AB16AF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（1）这种反复对诗歌节奏有什么作用？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16095-B855-4D04-AB32-1D6EBD16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（2）诗人赞美的“力”包含怎样的精神？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9558A-C4C7-404A-9C58-866E932F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作答要求：说明手法、表达效果与情感之间的联系。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9DF1A-CA69-4F45-99E8-EE3E644B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00841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FA59A-4D42-4C24-8834-D2F246C5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60D-7F50-4CDD-BC8E-CCF1B99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反复呼喊强化节奏，使情绪集中、语势强烈。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66566-820E-4CB5-94F2-9B13534B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联系全诗，这种力量指向冲破束缚、创造新生活，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表现青年蓬勃的生命力与进取精神。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32C11-19D1-4028-8235-52183129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不能只写“用了反复，增强语气”。</a:t>
            </a:r>
          </a:p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还应说明：赞美什么力量，抒发什么感情。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C64CF-1244-449B-AE8E-B78B14A0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243067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0C49-C7B7-436C-BE46-7448402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补充练习　《红烛》的象征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941DE-5570-4953-9883-EC1D4A9B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PDF 提示：“可以说红烛就是诗人，诗人就是红烛。”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C9704-1F86-4312-BBB7-83D9C86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（1）红烛的哪些特点与诗人的追求相联系？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638C4-A27A-46DA-B585-EC0B1BE3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（2）怎样理解“莫问收获，但问耕耘”？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A92E1-C180-451E-AAE4-A78F667A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提示：从颜色、燃烧发光和奉献的关系展开。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A1AA6-C3F9-450C-A760-0891DB5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946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D88FC-DDA1-4187-9F99-6A918DBB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《红烛》参考答案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C1075-F0AA-4CEF-B974-6D44615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红色寄寓赤诚。燃烧自身、照亮周围，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寄寓诗人追求光明、愿意奉献的精神。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4E430-90A4-4C5E-87F9-AF5D409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“莫问收获，但问耕耘”强调尽力实践、甘于付出，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不把个人回报作为奉献的前提。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4D475-C9BF-4E3B-8099-EF48E302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象征分析应写清：具体事物的特点与精神追求如何相通。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6AFBA-AD7B-4E19-A6EA-722F8F5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477009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8C07E-9EF5-471A-8F1B-97C01EE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学案写作题　舍弃与自由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14633-9089-4518-ADFD-08D4EAF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象征手法借助具体形象，表现抽象的概念、思想和情感。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9C487-DABA-43FF-A130-0094047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请以《舍弃与自由》为题，学习课文中的象征手法，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写一个片段，200 字左右。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41526-EC3C-4CF7-9D02-042B934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要求：具体形象清楚，“舍弃”与“自由”的联系合理。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78330-DD32-41A2-9E2A-550DAEF9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原题序号为第 3 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2577E-5698-4A28-A7F4-3BE85C0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44365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AEA6E-D1A4-4806-87CF-94037B51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写作构思　形象与主题的联系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2B288-0632-40C0-8B49-103E949A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示例形象：一粒挂在枝头、不愿离开的种子。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F22FD-F348-4AE8-8915-C403735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舍弃：离开安稳的旧位置，接受未知。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54DEE-393A-442E-B591-2D12006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自由：获得扎根、生长、伸向阳光的可能。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C749C-459E-434F-92CF-E5EDF51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写作重点：用坠落、入土、萌发等细节呈现变化。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象征关系贯穿片段，主题从形象中生长出来。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71416-97BA-426A-890C-777F53D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211150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ADFD7-DC9D-4E68-B3E2-28697A44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《舍弃与自由》参考示例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ED3D4-C8A9-46E7-B2EE-1923E03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秋风第三次经过时，那粒种子仍紧紧抱着枝头。它习惯了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叶片的遮护，害怕地面的寒冷，也舍不得高处熟悉的风景。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一夜雨后，枝头只剩稀疏的叶子。它终于松开手，随着风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落进一条石缝。那里没有掌声，只有泥土的潮气和漫长的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黑暗。它把根一点点伸下去，又把嫩芽一点点举起来。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春日清晨，一束光照进石缝，它第一次以自己的根站稳。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远处的老树仍在，而它已不必借枝叶安放生命。原来，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舍弃并非让生命空无一物，而是放下依赖，为新的生长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腾出位置。风又来了，它的叶片轻轻展开。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1FFF-761A-4098-B0F4-D803E590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995070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67CD9-8329-489F-92FF-6682665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片段评析与互评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1442E-CDF6-48A4-8914-15E149C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具体形象：种子从依恋枝头到自主扎根，前后连贯。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577BF-32F8-43AF-8FEA-9A072644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象征联系：枝头的庇护对应依赖，扎根生长对应自主。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7ABCB-71A3-4535-A075-1866CD62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细节支撑：松手、落入石缝、伸根、举芽，展示变化。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D0179-0C63-46D8-883C-EF9C74DB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互评问题：如果删去结尾议论，读者还能理解主题吗？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若不能，优先补充形象变化的细节。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998FC-0D6D-418A-9039-05021567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58949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8B804-B5D6-4443-A390-9210AC9D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迁移阅读　《插田歌》（节选）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2C162-16DF-4E99-88BB-9C8BBC26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刘禹锡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9FF63-2BB7-49C9-A907-4D696AF1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冈头花草齐，燕子东西飞。</a:t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田塍望如线，白水光参差。</a:t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农妇白纻裙，农父绿蓑衣。</a:t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齐唱郢中歌，嘤咛如《竹枝》。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94416-A9D7-44AB-A0A5-6D19497D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字词提示：塍 chéng（田埂）　纻 zhù（麻布）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郢 yǐng　参差 cēn cī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3D3F4-FB6C-441C-ABA1-FBAB928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056942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DDC4-38B2-4FA5-826F-9EC3679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阅读题 1　赏析辨误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E1CE5-D8B6-4B23-8EF3-A74324DC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下列对本诗的赏析，不正确的一项是（　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25877-7A8E-44E5-A468-6BEA533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A. 诗歌以花鸟发端，通过简练的笔触，勾勒出一幅意趣盎然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的美丽画面。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D344F-A834-477C-97A5-21BDB327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B. 诗人举目眺望，能看到远处田埂在粼粼的波光中蜿蜒起伏，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时隐时现。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569AE-89C2-46F6-8301-4EA4831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C. 诗中写到了农父农妇的衣着，白裙绿衣映照绿苗白水，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色调分外和谐。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7268-CD48-4B71-9A69-DC3FD3F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D. 诗的七、八两句通过听觉描写，表现农民们的劳动场面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　 以及愉悦心情。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AA3BD-CB0A-4BBE-9450-8866166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129993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1EC38-B8C2-4D5D-BF69-337CBE59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阅读题 1　答案与解析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5BD94-AD14-4F54-86F5-0162FA1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1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答案：B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913DA-9C0B-4124-99B3-FD30156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“田塍望如线”写田埂一眼望去像线一样笔直。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“蜿蜒起伏，时隐时现”与诗意不符。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19A9-91B4-4356-B34A-E32EE3C2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“白水光参差”写水面波光闪烁。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“参差”在这里描写水光，不能移用来解释田埂形态。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0F722-58EE-41CD-9559-ED17740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辨误方法：先认准描写对象，再解释它的特征。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C011E-FDCD-4E3E-BC02-5C686CCA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0114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5E976-67BE-4447-A935-AB62CEAB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阅读题 2　语言风格比较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F5D9F-629E-4FC5-A6B6-CC05F5B7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与《酬乐天扬州初逢席上见赠》相比，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这几句诗的语言风格有什么不同？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40EFF-21F0-4B15-B598-89BEF27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比较角度：用词、句式、用典、描写方式。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C2195-62E7-499C-A5FC-E111AAC6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作答要求：两首诗分别概括，至少联系一处具体表达。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82D4F-E493-43A8-A855-F5D638E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472295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B555E-1277-423C-B895-6E6CA2DD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比较阅读的回顾材料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16ACE-4075-4046-ADA1-40AF64A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《酬乐天扬州初逢席上见赠》　刘禹锡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70883-5ABB-4376-8994-2505CF17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巴山楚水凄凉地，二十三年弃置身。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怀旧空吟闻笛赋，到乡翻似烂柯人。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沉舟侧畔千帆过，病树前头万木春。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5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今日听君歌一曲，暂凭杯酒长精神。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1863C-0B82-4B0F-A66C-9144636E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观察：哪些句子对仗？哪些词语涉及典故？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EB5CF-6F2F-44D9-8391-6258817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282590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4B807-19CA-44AF-B824-0C974E66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阅读题 2　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765B5-B742-4E3D-B566-8B43AF8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《酬乐天扬州初逢席上见赠》：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对仗工稳，用典精当，语言雅丽平整。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13529-E0B5-4FD2-9085-5520ADE2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如“闻笛赋”“烂柯人”借典故表达复杂感受，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颈联的句式、意象也形成整齐的对应。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17520-1D7F-46B2-B3EC-2C41B5B5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《插田歌》节选：</a:t>
            </a:r>
          </a:p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3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采用民歌俚曲的表现手法，语言通俗浅显、清新流畅。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41248-CE50-490D-B2AA-0EF26BEC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“花草齐”“燕子东西飞”等用语明白自然，描写田野与劳动。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6061A-2B1C-4961-A6CD-47888C4F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614119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BF726-C068-4F8D-9E8E-5A6DD246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语言风格题的答题方法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4012D-DC6E-441F-AEBB-0A4F165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先概括：用准确的风格词回应问题。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E2FAE-0F3E-40AC-ACAF-8455B0E3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再举例：落到词语、句式、用典或描写方式。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DDE99-E32B-4ED4-9E9B-C1EAC47A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后说明：解释这些表达怎样形成相应风格。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63BF6-F8F7-48BB-8EE6-F43F8B5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比较题需要对双方使用同一角度，避免一边谈语言、</a:t>
            </a:r>
          </a:p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17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另一边只谈思想感情。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BCBC8-D4D9-4F3D-ADCE-909C01E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559976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A6376-F023-4F5D-B224-D09E7112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课堂收束与课后任务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4DC8A-4138-4901-8F92-9D644FF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2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今日要点：辨字词看语境，析象征看联系，谈风格有例证。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E6C86-19A5-485C-83B3-BD481957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课后：完成《舍弃与自由》约 200 字片段，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40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圈出能够体现象征关系的细节。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4DBFC-9A9B-4F9D-AF8D-68CDEBB4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答案索引：字音 4、6 页；字形 8 页；词语 10、12 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D851A-AD62-4226-BAC3-FE0BD0AC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补充鉴赏 14、16 页；写作示例 19 页。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2025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《插田歌》选择题 B（23 页），比较题答案 26 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D0665-53D2-40E4-B153-565C22C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1717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71717"/>
                </a:solidFill>
                <a:latin typeface="SimSun"/>
                <a:ea typeface="SimSun"/>
                <a:cs typeface="SimSun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23658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2026-10-09T13:18:30.7440000Z</dcterms:created>
  <dcterms:modified xsi:type="dcterms:W3CDTF">2026-10-09T13:18:30.7440000Z</dcterms:modified>
</coreProperties>
</file>