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f4bd626a224268" /><Relationship Type="http://schemas.openxmlformats.org/officeDocument/2006/relationships/extended-properties" Target="/docProps/app.xml" Id="R04871b579c834c9e" /><Relationship Type="http://schemas.openxmlformats.org/officeDocument/2006/relationships/officeDocument" Target="/ppt/presentation.xml" Id="R35c09f43a41643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258903cff84e06"/>
  </p:sldMasterIdLst>
  <p:notesMasterIdLst>
    <p:notesMasterId xmlns:r="http://schemas.openxmlformats.org/officeDocument/2006/relationships" r:id="Rdacff138d5d746f4"/>
  </p:notesMasterIdLst>
  <p:sldIdLst>
    <p:sldId xmlns:r="http://schemas.openxmlformats.org/officeDocument/2006/relationships" id="256" r:id="Reaa839b0e88b4a71"/>
    <p:sldId xmlns:r="http://schemas.openxmlformats.org/officeDocument/2006/relationships" id="257" r:id="R1a290c59e57741ce"/>
    <p:sldId xmlns:r="http://schemas.openxmlformats.org/officeDocument/2006/relationships" id="258" r:id="Rdd4d9425fd9a4290"/>
    <p:sldId xmlns:r="http://schemas.openxmlformats.org/officeDocument/2006/relationships" id="259" r:id="R1554a3aee8314cc8"/>
    <p:sldId xmlns:r="http://schemas.openxmlformats.org/officeDocument/2006/relationships" id="260" r:id="Rb64393a92ce7469c"/>
    <p:sldId xmlns:r="http://schemas.openxmlformats.org/officeDocument/2006/relationships" id="261" r:id="Rb8123d548f2545ee"/>
    <p:sldId xmlns:r="http://schemas.openxmlformats.org/officeDocument/2006/relationships" id="262" r:id="R030023cc966546cb"/>
    <p:sldId xmlns:r="http://schemas.openxmlformats.org/officeDocument/2006/relationships" id="263" r:id="R8866d0f1815f4cb4"/>
    <p:sldId xmlns:r="http://schemas.openxmlformats.org/officeDocument/2006/relationships" id="264" r:id="R9aa2520d823d4d28"/>
    <p:sldId xmlns:r="http://schemas.openxmlformats.org/officeDocument/2006/relationships" id="265" r:id="Re2c07d703b7c401a"/>
    <p:sldId xmlns:r="http://schemas.openxmlformats.org/officeDocument/2006/relationships" id="266" r:id="Rfef2459c0df14b59"/>
    <p:sldId xmlns:r="http://schemas.openxmlformats.org/officeDocument/2006/relationships" id="267" r:id="Re1b26181f5c84971"/>
    <p:sldId xmlns:r="http://schemas.openxmlformats.org/officeDocument/2006/relationships" id="268" r:id="Rf301c06caeec43a7"/>
    <p:sldId xmlns:r="http://schemas.openxmlformats.org/officeDocument/2006/relationships" id="269" r:id="Rdc32cc33ea564446"/>
    <p:sldId xmlns:r="http://schemas.openxmlformats.org/officeDocument/2006/relationships" id="270" r:id="Rad2df427809d41a3"/>
    <p:sldId xmlns:r="http://schemas.openxmlformats.org/officeDocument/2006/relationships" id="271" r:id="R242e48be588f42b0"/>
    <p:sldId xmlns:r="http://schemas.openxmlformats.org/officeDocument/2006/relationships" id="272" r:id="R1d30963c3f59436f"/>
    <p:sldId xmlns:r="http://schemas.openxmlformats.org/officeDocument/2006/relationships" id="273" r:id="R85f54ae526254eec"/>
    <p:sldId xmlns:r="http://schemas.openxmlformats.org/officeDocument/2006/relationships" id="274" r:id="R937bd412c9a94f64"/>
    <p:sldId xmlns:r="http://schemas.openxmlformats.org/officeDocument/2006/relationships" id="275" r:id="R3e68541db69b4489"/>
    <p:sldId xmlns:r="http://schemas.openxmlformats.org/officeDocument/2006/relationships" id="276" r:id="R0673ef990d1f41fa"/>
    <p:sldId xmlns:r="http://schemas.openxmlformats.org/officeDocument/2006/relationships" id="277" r:id="R4575fc8cfc644fc2"/>
    <p:sldId xmlns:r="http://schemas.openxmlformats.org/officeDocument/2006/relationships" id="278" r:id="Re18e2cc7ee0f4693"/>
    <p:sldId xmlns:r="http://schemas.openxmlformats.org/officeDocument/2006/relationships" id="279" r:id="Rab24620cece740b6"/>
    <p:sldId xmlns:r="http://schemas.openxmlformats.org/officeDocument/2006/relationships" id="280" r:id="R59c88e2fd5d546b4"/>
    <p:sldId xmlns:r="http://schemas.openxmlformats.org/officeDocument/2006/relationships" id="281" r:id="R94a9241b41e8440f"/>
    <p:sldId xmlns:r="http://schemas.openxmlformats.org/officeDocument/2006/relationships" id="282" r:id="R28afdb178605433c"/>
    <p:sldId xmlns:r="http://schemas.openxmlformats.org/officeDocument/2006/relationships" id="283" r:id="Ra995006222db4a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36c20b4cdf48ee" /><Relationship Type="http://schemas.openxmlformats.org/officeDocument/2006/relationships/slideMaster" Target="/ppt/slideMasters/slideMaster1.xml" Id="R0d258903cff84e06" /><Relationship Type="http://schemas.openxmlformats.org/officeDocument/2006/relationships/notesMaster" Target="/ppt/notesMasters/notesMaster1.xml" Id="Rdacff138d5d746f4" /><Relationship Type="http://schemas.openxmlformats.org/officeDocument/2006/relationships/presProps" Target="/ppt/presProps.xml" Id="R37e96a689be241d4" /><Relationship Type="http://schemas.openxmlformats.org/officeDocument/2006/relationships/tableStyles" Target="/ppt/tableStyles.xml" Id="R9329b5617d864c98" /><Relationship Type="http://schemas.openxmlformats.org/officeDocument/2006/relationships/slide" Target="/ppt/slides/slide1.xml" Id="Reaa839b0e88b4a71" /><Relationship Type="http://schemas.openxmlformats.org/officeDocument/2006/relationships/slide" Target="/ppt/slides/slide2.xml" Id="R1a290c59e57741ce" /><Relationship Type="http://schemas.openxmlformats.org/officeDocument/2006/relationships/slide" Target="/ppt/slides/slide3.xml" Id="Rdd4d9425fd9a4290" /><Relationship Type="http://schemas.openxmlformats.org/officeDocument/2006/relationships/slide" Target="/ppt/slides/slide4.xml" Id="R1554a3aee8314cc8" /><Relationship Type="http://schemas.openxmlformats.org/officeDocument/2006/relationships/slide" Target="/ppt/slides/slide5.xml" Id="Rb64393a92ce7469c" /><Relationship Type="http://schemas.openxmlformats.org/officeDocument/2006/relationships/slide" Target="/ppt/slides/slide6.xml" Id="Rb8123d548f2545ee" /><Relationship Type="http://schemas.openxmlformats.org/officeDocument/2006/relationships/slide" Target="/ppt/slides/slide7.xml" Id="R030023cc966546cb" /><Relationship Type="http://schemas.openxmlformats.org/officeDocument/2006/relationships/slide" Target="/ppt/slides/slide8.xml" Id="R8866d0f1815f4cb4" /><Relationship Type="http://schemas.openxmlformats.org/officeDocument/2006/relationships/slide" Target="/ppt/slides/slide9.xml" Id="R9aa2520d823d4d28" /><Relationship Type="http://schemas.openxmlformats.org/officeDocument/2006/relationships/slide" Target="/ppt/slides/slide10.xml" Id="Re2c07d703b7c401a" /><Relationship Type="http://schemas.openxmlformats.org/officeDocument/2006/relationships/slide" Target="/ppt/slides/slide11.xml" Id="Rfef2459c0df14b59" /><Relationship Type="http://schemas.openxmlformats.org/officeDocument/2006/relationships/slide" Target="/ppt/slides/slide12.xml" Id="Re1b26181f5c84971" /><Relationship Type="http://schemas.openxmlformats.org/officeDocument/2006/relationships/slide" Target="/ppt/slides/slide13.xml" Id="Rf301c06caeec43a7" /><Relationship Type="http://schemas.openxmlformats.org/officeDocument/2006/relationships/slide" Target="/ppt/slides/slide14.xml" Id="Rdc32cc33ea564446" /><Relationship Type="http://schemas.openxmlformats.org/officeDocument/2006/relationships/slide" Target="/ppt/slides/slide15.xml" Id="Rad2df427809d41a3" /><Relationship Type="http://schemas.openxmlformats.org/officeDocument/2006/relationships/slide" Target="/ppt/slides/slide16.xml" Id="R242e48be588f42b0" /><Relationship Type="http://schemas.openxmlformats.org/officeDocument/2006/relationships/slide" Target="/ppt/slides/slide17.xml" Id="R1d30963c3f59436f" /><Relationship Type="http://schemas.openxmlformats.org/officeDocument/2006/relationships/slide" Target="/ppt/slides/slide18.xml" Id="R85f54ae526254eec" /><Relationship Type="http://schemas.openxmlformats.org/officeDocument/2006/relationships/slide" Target="/ppt/slides/slide19.xml" Id="R937bd412c9a94f64" /><Relationship Type="http://schemas.openxmlformats.org/officeDocument/2006/relationships/slide" Target="/ppt/slides/slide20.xml" Id="R3e68541db69b4489" /><Relationship Type="http://schemas.openxmlformats.org/officeDocument/2006/relationships/slide" Target="/ppt/slides/slide21.xml" Id="R0673ef990d1f41fa" /><Relationship Type="http://schemas.openxmlformats.org/officeDocument/2006/relationships/slide" Target="/ppt/slides/slide22.xml" Id="R4575fc8cfc644fc2" /><Relationship Type="http://schemas.openxmlformats.org/officeDocument/2006/relationships/slide" Target="/ppt/slides/slide23.xml" Id="Re18e2cc7ee0f4693" /><Relationship Type="http://schemas.openxmlformats.org/officeDocument/2006/relationships/slide" Target="/ppt/slides/slide24.xml" Id="Rab24620cece740b6" /><Relationship Type="http://schemas.openxmlformats.org/officeDocument/2006/relationships/slide" Target="/ppt/slides/slide25.xml" Id="R59c88e2fd5d546b4" /><Relationship Type="http://schemas.openxmlformats.org/officeDocument/2006/relationships/slide" Target="/ppt/slides/slide26.xml" Id="R94a9241b41e8440f" /><Relationship Type="http://schemas.openxmlformats.org/officeDocument/2006/relationships/slide" Target="/ppt/slides/slide27.xml" Id="R28afdb178605433c" /><Relationship Type="http://schemas.openxmlformats.org/officeDocument/2006/relationships/slide" Target="/ppt/slides/slide28.xml" Id="Ra995006222db4a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1b96e2108e44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77e20ec4144073" /><Relationship Type="http://schemas.openxmlformats.org/officeDocument/2006/relationships/notesMaster" Target="/ppt/notesMasters/notesMaster1.xml" Id="R15cd7698610341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2d2203c05d486d" /><Relationship Type="http://schemas.openxmlformats.org/officeDocument/2006/relationships/notesMaster" Target="/ppt/notesMasters/notesMaster1.xml" Id="R009e3a3a03e34d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03d41ce89f41a4" /><Relationship Type="http://schemas.openxmlformats.org/officeDocument/2006/relationships/notesMaster" Target="/ppt/notesMasters/notesMaster1.xml" Id="R1050c693384e41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a1fe2b5f2643a8" /><Relationship Type="http://schemas.openxmlformats.org/officeDocument/2006/relationships/notesMaster" Target="/ppt/notesMasters/notesMaster1.xml" Id="R7c62050ca3354b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6985b99d5e4118" /><Relationship Type="http://schemas.openxmlformats.org/officeDocument/2006/relationships/notesMaster" Target="/ppt/notesMasters/notesMaster1.xml" Id="R46f20e346e6c4c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86928ca69b4f01" /><Relationship Type="http://schemas.openxmlformats.org/officeDocument/2006/relationships/notesMaster" Target="/ppt/notesMasters/notesMaster1.xml" Id="R1ca513f654554b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25d905c8c64ff1" /><Relationship Type="http://schemas.openxmlformats.org/officeDocument/2006/relationships/notesMaster" Target="/ppt/notesMasters/notesMaster1.xml" Id="R591e86407c2842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aaff98e1ef41e4" /><Relationship Type="http://schemas.openxmlformats.org/officeDocument/2006/relationships/notesMaster" Target="/ppt/notesMasters/notesMaster1.xml" Id="R50e102c3902b4e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38ceda9ca04d93" /><Relationship Type="http://schemas.openxmlformats.org/officeDocument/2006/relationships/notesMaster" Target="/ppt/notesMasters/notesMaster1.xml" Id="R88c5f26eab2c45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ea65999ac6418b" /><Relationship Type="http://schemas.openxmlformats.org/officeDocument/2006/relationships/notesMaster" Target="/ppt/notesMasters/notesMaster1.xml" Id="R51c824aa995242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d273557edd4aab" /><Relationship Type="http://schemas.openxmlformats.org/officeDocument/2006/relationships/notesMaster" Target="/ppt/notesMasters/notesMaster1.xml" Id="R43517034e2c049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0f0163917c4ad1" /><Relationship Type="http://schemas.openxmlformats.org/officeDocument/2006/relationships/notesMaster" Target="/ppt/notesMasters/notesMaster1.xml" Id="Re466f28f711844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5c368d2fc54faf" /><Relationship Type="http://schemas.openxmlformats.org/officeDocument/2006/relationships/notesMaster" Target="/ppt/notesMasters/notesMaster1.xml" Id="R06e73ab0082343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cda5615e2ce4b3a" /><Relationship Type="http://schemas.openxmlformats.org/officeDocument/2006/relationships/notesMaster" Target="/ppt/notesMasters/notesMaster1.xml" Id="R06e64b4dd81347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4e9138d6f24eb5" /><Relationship Type="http://schemas.openxmlformats.org/officeDocument/2006/relationships/notesMaster" Target="/ppt/notesMasters/notesMaster1.xml" Id="Rf43aa50779ac4c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bec8d0e3254426" /><Relationship Type="http://schemas.openxmlformats.org/officeDocument/2006/relationships/notesMaster" Target="/ppt/notesMasters/notesMaster1.xml" Id="Ra529a3097d3b4f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747ff3c29e47b1" /><Relationship Type="http://schemas.openxmlformats.org/officeDocument/2006/relationships/notesMaster" Target="/ppt/notesMasters/notesMaster1.xml" Id="Re628d38b50d2477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eb856150e394ebb" /><Relationship Type="http://schemas.openxmlformats.org/officeDocument/2006/relationships/notesMaster" Target="/ppt/notesMasters/notesMaster1.xml" Id="R114136259e1a432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7b0c860db8f4189" /><Relationship Type="http://schemas.openxmlformats.org/officeDocument/2006/relationships/notesMaster" Target="/ppt/notesMasters/notesMaster1.xml" Id="R342d63863ce641c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ac8cf9c5e544328" /><Relationship Type="http://schemas.openxmlformats.org/officeDocument/2006/relationships/notesMaster" Target="/ppt/notesMasters/notesMaster1.xml" Id="R13f3067039c0412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723db25923b4510" /><Relationship Type="http://schemas.openxmlformats.org/officeDocument/2006/relationships/notesMaster" Target="/ppt/notesMasters/notesMaster1.xml" Id="R201047f7d2f64e0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62f03bb477540b1" /><Relationship Type="http://schemas.openxmlformats.org/officeDocument/2006/relationships/notesMaster" Target="/ppt/notesMasters/notesMaster1.xml" Id="R85faa5d347dc41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646bab14fe14e52" /><Relationship Type="http://schemas.openxmlformats.org/officeDocument/2006/relationships/notesMaster" Target="/ppt/notesMasters/notesMaster1.xml" Id="R0feaad9283bb4fd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551efa180d34837" /><Relationship Type="http://schemas.openxmlformats.org/officeDocument/2006/relationships/notesMaster" Target="/ppt/notesMasters/notesMaster1.xml" Id="Rb38d41981f054dd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00a963adc0a47ac" /><Relationship Type="http://schemas.openxmlformats.org/officeDocument/2006/relationships/notesMaster" Target="/ppt/notesMasters/notesMaster1.xml" Id="R299b3adb7a4f405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8f1bd4e497f44ec" /><Relationship Type="http://schemas.openxmlformats.org/officeDocument/2006/relationships/notesMaster" Target="/ppt/notesMasters/notesMaster1.xml" Id="R10fba9130ce94a5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2038c70a4d64073" /><Relationship Type="http://schemas.openxmlformats.org/officeDocument/2006/relationships/notesMaster" Target="/ppt/notesMasters/notesMaster1.xml" Id="Rf8e39a228dfa456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9513e1332384fbf" /><Relationship Type="http://schemas.openxmlformats.org/officeDocument/2006/relationships/notesMaster" Target="/ppt/notesMasters/notesMaster1.xml" Id="Rc72cf834f92943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金牌学案(1).pdf，PDF第1页（书页2）。</a:t>
            </a:r>
          </a:p>
          <a:p xmlns:a="http://schemas.openxmlformats.org/drawingml/2006/main">
            <a:r>
              <a:t>以学案题目为主，建议基础内容课前自查，课堂重点讨论鉴赏题。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金牌学案(1).pdf，PDF第2页（书页3）。</a:t>
            </a:r>
          </a:p>
          <a:p xmlns:a="http://schemas.openxmlformats.org/drawingml/2006/main">
            <a:r>
              <a:t>时间为本课建议安排，可按学情调整。目标：文本证据支持判断。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金牌学案(1).pdf，PDF第1页（书页2）。</a:t>
            </a:r>
          </a:p>
          <a:p xmlns:a="http://schemas.openxmlformats.org/drawingml/2006/main">
            <a:r>
              <a:t>来源：PDF第1页，书页2，任务二。目标：重点字音；方法：随词认读；易错：舸、遒、遏和多音字；难度：基础；评价：逐词口头校对。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金牌学案(1).pdf，PDF第1页（书页2）。</a:t>
            </a:r>
          </a:p>
          <a:p xmlns:a="http://schemas.openxmlformats.org/drawingml/2006/main">
            <a:r>
              <a:t>参照源页印刷词语并校正转写。答案不照抄模糊的手写声调。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金牌学案(1).pdf，PDF第2页（书页3）。</a:t>
            </a:r>
          </a:p>
          <a:p xmlns:a="http://schemas.openxmlformats.org/drawingml/2006/main">
            <a:r>
              <a:t>来源：PDF第2页，书页3。目标：形近字；方法：字义与偏旁联系；易错：怅、账、胀、伥；难度：基础；评价：圈出错字并解释偏旁。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金牌学案(1).pdf，PDF第2页（书页3）。</a:t>
            </a:r>
          </a:p>
          <a:p xmlns:a="http://schemas.openxmlformats.org/drawingml/2006/main">
            <a:r>
              <a:t>来源：PDF第2页字形练习。提示为教学补充。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金牌学案(1).pdf，PDF第2页（书页3）。</a:t>
            </a:r>
          </a:p>
          <a:p xmlns:a="http://schemas.openxmlformats.org/drawingml/2006/main">
            <a:r>
              <a:t>来源：PDF第2页词语积累。目标：近义词；方法：对象和语境辨析；易错：以同音代词义；难度：基础；评价：填词并说明依据。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金牌学案(1).pdf，PDF第2页（书页3）。</a:t>
            </a:r>
          </a:p>
          <a:p xmlns:a="http://schemas.openxmlformats.org/drawingml/2006/main">
            <a:r>
              <a:t>依据学案释义概括。“意气”还有意志气概、主观偏激情绪等义项，须依语境区分。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金牌学案(1).pdf，PDF第1页（书页2）。</a:t>
            </a:r>
          </a:p>
          <a:p xmlns:a="http://schemas.openxmlformats.org/drawingml/2006/main">
            <a:r>
              <a:t>来源：PDF第1—2页，知识转为口头自查。目标：语境释义、词牌词题；易错：把字面动作当词义；难度：基础；评价：完整表述。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金牌学案(1).pdf，PDF第1页（书页2）。</a:t>
            </a:r>
          </a:p>
          <a:p xmlns:a="http://schemas.openxmlformats.org/drawingml/2006/main">
            <a:r>
              <a:t>来源：PDF第1—2页。古代封爵制度细节不作为本课考点。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金牌学案(1).pdf，PDF第1页（书页2）。</a:t>
            </a:r>
          </a:p>
          <a:p xmlns:a="http://schemas.openxmlformats.org/drawingml/2006/main">
            <a:r>
              <a:t>引句来自PDF第1页结构脉络及第3页题干。引句之间采用分组展示，非全词连续抄录。朗读后找出能体现生命力量的动词。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金牌学案(1).pdf，PDF第2页（书页3）。</a:t>
            </a:r>
          </a:p>
          <a:p xmlns:a="http://schemas.openxmlformats.org/drawingml/2006/main">
            <a:r>
              <a:t>来源：PDF第2页，思维发展第1题。目标：景人联系；方法：动词和形象特征；易错：只有“热爱祖国”而无证据；难度：中等；评价：共同点、情感态度、启示三层齐全。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金牌学案(1).pdf，PDF第2页（书页3）。</a:t>
            </a:r>
          </a:p>
          <a:p xmlns:a="http://schemas.openxmlformats.org/drawingml/2006/main">
            <a:r>
              <a:t>开放题为依据文本拟写的参考答案，不冒充学案官方答案。评价：共同特征、双向诗句依据、抱负担当、具体启示。接受意思相近且有依据的表达。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金牌学案(1).pdf，PDF第2页（书页3）。</a:t>
            </a:r>
          </a:p>
          <a:p xmlns:a="http://schemas.openxmlformats.org/drawingml/2006/main">
            <a:r>
              <a:t>来源：PDF第2页，思维发展第2题，按原表四个空组织。目标：比较阅读；方法：从修饰语概括意境，联系抒情主体；易错：所有秋景都悲凉；难度：中等；评价：比较维度一致，表述有证据。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金牌学案(1).pdf，PDF第2页（书页3）。</a:t>
            </a:r>
          </a:p>
          <a:p xmlns:a="http://schemas.openxmlformats.org/drawingml/2006/main">
            <a:r>
              <a:t>①②为补充参考答案；秋思意境据原表。说明小桥流水人家本身温馨安适，在整体中与漂泊处境形成反衬。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金牌学案(1).pdf，PDF第2页（书页3）。</a:t>
            </a:r>
          </a:p>
          <a:p xmlns:a="http://schemas.openxmlformats.org/drawingml/2006/main">
            <a:r>
              <a:t>③原表为两篇共用写法一栏，首先回答共同写法，差异作为讲解拓展。④为参考答案。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金牌学案(1).pdf，PDF第2页（书页3）。</a:t>
            </a:r>
          </a:p>
          <a:p xmlns:a="http://schemas.openxmlformats.org/drawingml/2006/main">
            <a:r>
              <a:t>来源：PDF第2页比较题延伸设问。参考解读不以未经核实的作者具体行旅经历代替文本证据。目标：情景关系；易错：固定套用意象象征义；评价：以两篇用词比较支持结论。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金牌学案(1).pdf，PDF第3页（书页4）。</a:t>
            </a:r>
          </a:p>
          <a:p xmlns:a="http://schemas.openxmlformats.org/drawingml/2006/main">
            <a:r>
              <a:t>来源：PDF第3页，思维发展第3题。目标：情景交融；方法：先定情感再择景物；易错：景物罗列与抒情脱节；难度：提升；评价：四项逐一互评，不冒充原题评分标准。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金牌学案(1).pdf，PDF第3页（书页4）。</a:t>
            </a:r>
          </a:p>
          <a:p xmlns:a="http://schemas.openxmlformats.org/drawingml/2006/main">
            <a:r>
              <a:t>本页为教学拟写示例，约100字，不是原学案答案。评价关注情景融合，允许宁静、思念等不同情感方向，只要前后一致。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金牌学案(1).pdf，PDF第3页（书页4）。</a:t>
            </a:r>
          </a:p>
          <a:p xmlns:a="http://schemas.openxmlformats.org/drawingml/2006/main">
            <a:r>
              <a:t>全词及注释据PDF第3页。朗读重音建议：“分外香”“劲”“胜似”，用于理解感情而非规定唯一朗读方式。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金牌学案(1).pdf，PDF第3页（书页4）。</a:t>
            </a:r>
          </a:p>
          <a:p xmlns:a="http://schemas.openxmlformats.org/drawingml/2006/main">
            <a:r>
              <a:t>来源：PDF第3页典例第1题。保留全部选项及错误表述供辨析。目标：结合语境辨情感；难度：中等；易错：看到菊花就套隐逸；评价：选B并指出错误限定。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金牌学案(1).pdf，PDF第3页（书页4）。</a:t>
            </a:r>
          </a:p>
          <a:p xmlns:a="http://schemas.openxmlformats.org/drawingml/2006/main">
            <a:r>
              <a:t>答案B为PDF第3页原学案明确答案。对陶渊明只保留本题比较所需的隐逸情怀表述，避免概括其全部创作。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金牌学案(1).pdf，PDF第3页（书页4）。</a:t>
            </a:r>
          </a:p>
          <a:p xmlns:a="http://schemas.openxmlformats.org/drawingml/2006/main">
            <a:r>
              <a:t>来源：PDF第3页典例第2题。目标：由意象到意境情感；方法：圈画名词和修饰语；易错：把意象和意境混为一谈；难度：中等；评价：四个意象、整体意境、文本支持的情感。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金牌学案(1).pdf，PDF第4页（书页5）。</a:t>
            </a:r>
          </a:p>
          <a:p xmlns:a="http://schemas.openxmlformats.org/drawingml/2006/main">
            <a:r>
              <a:t>依据PDF第3—4页原答案整理。原答案另写“对革命取得胜利的喜悦”，课件采用更直接有诗句依据的情感表述；原解析扩写的“满山彩霞、遍野云锦”不当作词中已有意象。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金牌学案(1).pdf，PDF第4页（书页5）。</a:t>
            </a:r>
          </a:p>
          <a:p xmlns:a="http://schemas.openxmlformats.org/drawingml/2006/main">
            <a:r>
              <a:t>根据PDF第4页解题策略及答题规范整理。“传统象征义”只作线索，不能跳过本诗语境。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金牌学案(1).pdf，PDF第2页（书页3）。</a:t>
            </a:r>
          </a:p>
          <a:p xmlns:a="http://schemas.openxmlformats.org/drawingml/2006/main">
            <a:r>
              <a:t>教学补充题，非原学案题目。目标：迁移证据意识；预期方法：引用和释义；易错：仅写结论；难度：中等；评价：判断准确、两文证据齐全，炼字解释贴合对象。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金牌学案(1).pdf，PDF第2页（书页3）。</a:t>
            </a:r>
          </a:p>
          <a:p xmlns:a="http://schemas.openxmlformats.org/drawingml/2006/main">
            <a:r>
              <a:t>教学补充题参考答案。评价：第1题比较对象明确；第2题分别解释，再概括共同点。不把“翔”误解为鱼真的在空中飞。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来源：沁园春长沙 金牌学案(1).pdf，PDF第4页（书页5）。</a:t>
            </a:r>
          </a:p>
          <a:p xmlns:a="http://schemas.openxmlformats.org/drawingml/2006/main">
            <a:r>
              <a:t>本课题目源自用户提供PDF，书页2—5。学案未提供完整答案的开放题均以参考答案标示。最后的美文节选不完整，本课未设全文阅读题。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e949ed5934c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0360ed2cfb43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e0a96360a4b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430fcb29841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1ab55f2d44e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bf03ed3284a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98EADE-B3CD-41A6-ADDF-1FFE1C328B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8F90BD-C0F5-46ED-B2C0-BCA265F229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F51DC4-7E53-41A1-8A2E-96B132A132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C33854-671D-44E6-A3DE-56EA52F1A7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2B718C-9F5B-4B7F-91AE-90DC0DF162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D7666B3-B36A-40AC-B6E4-04C6482C8E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676C24-C859-4559-98EE-3A591CE1B4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073589-6515-44C1-A054-68FB83F71C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2B0001-05B0-4716-9E31-9146EA55FD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FA2108-BC97-4654-9330-BB27412010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08ba453fce4d57" /><Relationship Type="http://schemas.openxmlformats.org/officeDocument/2006/relationships/slideLayout" Target="/ppt/slideLayouts/slideLayout1.xml" Id="Re5f28882390746ee" /><Relationship Type="http://schemas.openxmlformats.org/officeDocument/2006/relationships/slideLayout" Target="/ppt/slideLayouts/slideLayout2.xml" Id="Rb7328b0872d04361" /><Relationship Type="http://schemas.openxmlformats.org/officeDocument/2006/relationships/slideLayout" Target="/ppt/slideLayouts/slideLayout3.xml" Id="Re5dfb638f3f543ac" /><Relationship Type="http://schemas.openxmlformats.org/officeDocument/2006/relationships/slideLayout" Target="/ppt/slideLayouts/slideLayout4.xml" Id="R3f059bad960f4b4b" /><Relationship Type="http://schemas.openxmlformats.org/officeDocument/2006/relationships/slideLayout" Target="/ppt/slideLayouts/slideLayout5.xml" Id="Rbce2ea9c39034a47" /><Relationship Type="http://schemas.openxmlformats.org/officeDocument/2006/relationships/slideLayout" Target="/ppt/slideLayouts/slideLayout6.xml" Id="Rf29adb8b0f8f4b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f28882390746ee"/>
    <p:sldLayoutId xmlns:r="http://schemas.openxmlformats.org/officeDocument/2006/relationships" id="2147483650" r:id="Rb7328b0872d04361"/>
    <p:sldLayoutId xmlns:r="http://schemas.openxmlformats.org/officeDocument/2006/relationships" id="2147483651" r:id="Re5dfb638f3f543ac"/>
    <p:sldLayoutId xmlns:r="http://schemas.openxmlformats.org/officeDocument/2006/relationships" id="2147483652" r:id="R3f059bad960f4b4b"/>
    <p:sldLayoutId xmlns:r="http://schemas.openxmlformats.org/officeDocument/2006/relationships" id="2147483653" r:id="Rbce2ea9c39034a47"/>
    <p:sldLayoutId xmlns:r="http://schemas.openxmlformats.org/officeDocument/2006/relationships" id="2147483654" r:id="Rf29adb8b0f8f4b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1fd824b93d42f8" /><Relationship Type="http://schemas.openxmlformats.org/officeDocument/2006/relationships/notesSlide" Target="/ppt/notesSlides/notesSlide1.xml" Id="R79fc853f0cb349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301c8aa6aa4146" /><Relationship Type="http://schemas.openxmlformats.org/officeDocument/2006/relationships/notesSlide" Target="/ppt/notesSlides/notesSlide2.xml" Id="Rb3c455f6290749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5af365f50646df" /><Relationship Type="http://schemas.openxmlformats.org/officeDocument/2006/relationships/notesSlide" Target="/ppt/notesSlides/notesSlide3.xml" Id="Rb20688ed345040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d6f7d5a0a94cf1" /><Relationship Type="http://schemas.openxmlformats.org/officeDocument/2006/relationships/notesSlide" Target="/ppt/notesSlides/notesSlide4.xml" Id="R1f65242d495243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6a5de734e498d" /><Relationship Type="http://schemas.openxmlformats.org/officeDocument/2006/relationships/notesSlide" Target="/ppt/notesSlides/notesSlide5.xml" Id="R9a54c91a7f714e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2f2e6034d4bb6" /><Relationship Type="http://schemas.openxmlformats.org/officeDocument/2006/relationships/notesSlide" Target="/ppt/notesSlides/notesSlide6.xml" Id="R3e6376aa0b9a4e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c455b01c834f96" /><Relationship Type="http://schemas.openxmlformats.org/officeDocument/2006/relationships/notesSlide" Target="/ppt/notesSlides/notesSlide7.xml" Id="R0711c8c3206240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c5e2795f5b46cd" /><Relationship Type="http://schemas.openxmlformats.org/officeDocument/2006/relationships/notesSlide" Target="/ppt/notesSlides/notesSlide8.xml" Id="Raa487b74d6b64e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ce775e81e34fbb" /><Relationship Type="http://schemas.openxmlformats.org/officeDocument/2006/relationships/notesSlide" Target="/ppt/notesSlides/notesSlide9.xml" Id="R76121268262a46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17f551b44342c3" /><Relationship Type="http://schemas.openxmlformats.org/officeDocument/2006/relationships/notesSlide" Target="/ppt/notesSlides/notesSlide10.xml" Id="Rf1e561b373c040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f95965369f4b61" /><Relationship Type="http://schemas.openxmlformats.org/officeDocument/2006/relationships/notesSlide" Target="/ppt/notesSlides/notesSlide11.xml" Id="R8b27d8c90f1d4e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6b48b559a548c9" /><Relationship Type="http://schemas.openxmlformats.org/officeDocument/2006/relationships/notesSlide" Target="/ppt/notesSlides/notesSlide12.xml" Id="Rd42a6cd9bcbd4b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944ccae6384cf3" /><Relationship Type="http://schemas.openxmlformats.org/officeDocument/2006/relationships/notesSlide" Target="/ppt/notesSlides/notesSlide13.xml" Id="Rd0da189dee1947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2eacae82b64d8d" /><Relationship Type="http://schemas.openxmlformats.org/officeDocument/2006/relationships/notesSlide" Target="/ppt/notesSlides/notesSlide14.xml" Id="R33ff9f72c4844a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38e8548d284a09" /><Relationship Type="http://schemas.openxmlformats.org/officeDocument/2006/relationships/notesSlide" Target="/ppt/notesSlides/notesSlide15.xml" Id="R89a5458706164d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6f67c353c54d41" /><Relationship Type="http://schemas.openxmlformats.org/officeDocument/2006/relationships/notesSlide" Target="/ppt/notesSlides/notesSlide16.xml" Id="R4dfa7766c4bc4f1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e179c0f4341b3" /><Relationship Type="http://schemas.openxmlformats.org/officeDocument/2006/relationships/notesSlide" Target="/ppt/notesSlides/notesSlide17.xml" Id="R71b909963cf3464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80e2c30c094750" /><Relationship Type="http://schemas.openxmlformats.org/officeDocument/2006/relationships/notesSlide" Target="/ppt/notesSlides/notesSlide18.xml" Id="R92630c2317d0468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b885de61d5487a" /><Relationship Type="http://schemas.openxmlformats.org/officeDocument/2006/relationships/notesSlide" Target="/ppt/notesSlides/notesSlide19.xml" Id="R7121185a7b774ef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f213c89be24836" /><Relationship Type="http://schemas.openxmlformats.org/officeDocument/2006/relationships/notesSlide" Target="/ppt/notesSlides/notesSlide20.xml" Id="R07884d2b1444455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2ee50d13a64c90" /><Relationship Type="http://schemas.openxmlformats.org/officeDocument/2006/relationships/notesSlide" Target="/ppt/notesSlides/notesSlide21.xml" Id="Rf8db335dfd0a40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9e7010ac374c92" /><Relationship Type="http://schemas.openxmlformats.org/officeDocument/2006/relationships/notesSlide" Target="/ppt/notesSlides/notesSlide22.xml" Id="Re438bedbc92c45d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31461539ac4763" /><Relationship Type="http://schemas.openxmlformats.org/officeDocument/2006/relationships/notesSlide" Target="/ppt/notesSlides/notesSlide23.xml" Id="R889cde088121482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9096b8b2bf4bcd" /><Relationship Type="http://schemas.openxmlformats.org/officeDocument/2006/relationships/notesSlide" Target="/ppt/notesSlides/notesSlide24.xml" Id="Rc994fc3db2fa4d8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2217bdfad4407d" /><Relationship Type="http://schemas.openxmlformats.org/officeDocument/2006/relationships/notesSlide" Target="/ppt/notesSlides/notesSlide25.xml" Id="R1d582f584d81448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b6be4c20474b48" /><Relationship Type="http://schemas.openxmlformats.org/officeDocument/2006/relationships/notesSlide" Target="/ppt/notesSlides/notesSlide26.xml" Id="R38e31f2f98b84b1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378c8d0f234413" /><Relationship Type="http://schemas.openxmlformats.org/officeDocument/2006/relationships/notesSlide" Target="/ppt/notesSlides/notesSlide27.xml" Id="Rd20eb1515b9b4f0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9f41b3cf2d446a" /><Relationship Type="http://schemas.openxmlformats.org/officeDocument/2006/relationships/notesSlide" Target="/ppt/notesSlides/notesSlide28.xml" Id="Raf46192cc30744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36C59-03FF-4F0B-AAED-9AFD1266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048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42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沁园春·长沙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D3418-E63D-4F25-9931-2432D2C6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1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语文习题课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10363-FFCA-4878-A483-F137A4A4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《金牌学案》配套讲练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5A168-973A-460F-95CD-32842E50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4775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字词积累　诗歌鉴赏　比较阅读　情景写作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E4EE7-C113-4EDC-9AF6-87DD952E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8096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4BBF0-3B23-4CC7-8EE6-11AEC1BB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本课学习任务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3078D-5D93-4BCE-94C8-358886E6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基础自查：准确读写重点字词，结合语境辨析词义。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006B0-1DFB-429E-BDA8-1A47577F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课堂重点：用诗句说明景物、人物与情感的联系。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D8551-B5FA-4E7D-988E-B52BC6C5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047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迁移检验：独立完成《采桑子·重阳》鉴赏题。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4D51D-DADB-4E1E-8606-0D621E71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建议：字词 8 分钟，鉴赏 20 分钟，迁移 12 分钟；写作课后完成。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13939-4386-46D0-AB4A-EEEE88ED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50666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D0116-9EA4-4CD9-A165-5C43B664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基础自查 1　字音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8AB20-F214-4200-91FE-08316059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给括号内的字注音。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61C1C-4707-49A8-8CB2-32D7B4CE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沁园春（沁）　橘子洲（橘）　百舸（舸）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27983-6D8A-4326-A352-5C39FFA6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寥廓（寥）　　携来（携）　　峥嵘（峥）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DCD23-D1A1-4E29-B47A-68367CCE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挥斥（斥）　　方遒（遒）　　浪遏飞舟（遏）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443CB-2676-463D-B307-B60BE4C9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辨读：当代／当铺　　曾记否／曾祖父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BD868-468E-4EEF-B54B-2D336097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9428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D18F2-CC80-4F9F-AD82-38A7281A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字音答案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F94C6-5637-4860-A6F8-DB36E845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沁 qìn　　橘 jú　　舸 gě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9B002-9138-4E02-99AC-CFA32586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寥 liáo　 携 xié　 峥 zhēng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A9222-5631-4603-9AE5-5AB6BEB0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斥 chì　　遒 qiú　 遏 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C7DC7-1635-45B4-B1E7-87EBD089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10477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当代 dāng　当铺 dàng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曾记否 céng　曾祖父 zēng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53EEA-17F2-48AE-BA5A-34614DE4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001557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EA773-8980-419E-B2AF-ADEEE606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基础自查 2　字形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B2F57-FC86-4309-97F8-1A2E0021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根据拼音写出汉字。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70DC3-B669-4ABE-ABA8-83924918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（màn）___江　快___　___帐　　（wàn）藤___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F25E4-F9BA-42E0-939E-7B879CE4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（chàng）___然　（zhàng）___本　膨___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9A3FD-B256-4B61-B643-CE8AC9E5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（chāng）为虎作___　　（cāng）___茫　___桑　船___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4735E-AB3C-44B5-B3AF-719B9114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4775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（chóu）___密　___缪　　（zhōu）___啾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41867-3DA1-4F5B-8022-CA44A82E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56561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B2DE4-E532-4FD4-A52E-A4CCDF03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字形答案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E962E-40D6-4C22-8AA3-2ECAB8C3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漫江　快慢　幔帐　藤蔓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62D67-DEBF-4166-99C6-CA12C6E5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怅然　账本　膨胀　为虎作伥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909EE-B1F2-41E8-8E42-E3E13275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0477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苍茫　沧桑　船舱　稠密　绸缪　啁啾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2FCC7-28C8-430B-99DD-C65F0A3B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辨形提示：心情用“忄”，账目用“贝”，膨胀用“月”。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024D6-D81E-4149-A8B4-1722F1C0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“苍茫”的“苍”与“沧桑”的“沧”不能互换。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F7483-1ADE-442D-B4EF-9888DC01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231815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3EB75-2BE3-4633-87E0-209EF0A8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基础自查 3　词语辨析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90731-5B7C-4DD9-8BCD-A185B59C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（1）寥廓／辽阔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A621A-5E8F-407C-946E-2ED499F4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在______的蓝天下，漫步于______的草原，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呼吸着清新的青草芳香，顿觉神清气爽。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E0930-DCD5-41FB-8437-139CDAD0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（2）意气／义气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5669D-9DB0-4785-B1FF-F2639219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04775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尽管我们______相投，友谊深厚，但在重要问题上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我们不能只讲______，不讲原则，否则将会害人害己。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E482F-90C0-4543-82A1-3EFBEDF5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52391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8FC1B-2678-4F5D-927C-E446EED1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词语辨析答案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4774D-A0AE-40F0-85AE-03C37FFF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（1）寥廓　辽阔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AA453-9483-4717-8CBD-B9CD66E7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寥廓：高远空旷，侧重立体空间。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辽阔：广阔、宽广，多形容地域等平面范围。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C99E8-68B6-4431-B617-448CF2A7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（2）意气　义气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035C7-7D04-494D-AA4F-18E4F0FF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4775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意气相投：志趣、性格相合。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讲义气：因私人关系而承担风险或牺牲自身利益。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4C033-8404-41CB-A07B-14E52225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516103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D22E8-FA55-4003-905A-D610C1EB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基础自查 4　词义与文学常识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36611-920F-4B90-9D19-573A000B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（1）“风华正茂”与“豆蔻年华”的使用对象有何区别？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94305-247C-45D8-A7BD-BC01648F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（2）解释：峥嵘岁月、书生意气、指点江山。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45DFA-6F8E-4EEA-84C3-09AF6269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0477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（3）“沁园春”和“长沙”分别是什么？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　　 词的段落又称什么？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23A2E-89EE-4A38-AEC1-1729A4E0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（4）“万户侯”在词中泛指哪一类人？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D517A-7087-4D1F-BF94-311118C7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464144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10920-DA6C-40EB-A795-6E6D59A5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词义与常识答案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3DDBB-B25D-4D45-8C6C-C38A389A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风华正茂：青春年少，风采才华正盛，男女均可。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豆蔻年华：指女子十三四岁的年纪。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5FC62-B32D-4C13-9E64-C0B5544B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峥嵘岁月：不平凡的岁月。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书生意气：词中指青年学生意气奔放。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指点江山：词中指评论国家大事。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23F16-012D-4EF4-97A1-BE2643CA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“沁园春”是词牌，“长沙”是词题；段落称“片”或“阕”。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D32EF-1CCC-4C05-A07E-093D0AE0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万户侯：词中泛指高官贵爵。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D8360-6E6B-4F67-8F7E-F297FAC7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475471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5839D-5C21-4577-ADB8-E858E805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鉴赏准备　景物与人物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89292-CC04-4BBB-9214-7F36403A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上片：湘江秋景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804C0-0DC9-4CC1-B7F6-15E8BC2B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47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万山红遍，层林尽染；漫江碧透，百舸争流。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鹰击长空，鱼翔浅底。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7F850-15EB-45D0-A90C-8A77D82F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下片：同学少年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0F4C7-100D-4B28-AE60-7714AB08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04775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书生意气，挥斥方遒。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指点江山，激扬文字。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中流击水，浪遏飞舟。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FB033-E7FB-47AA-BEFE-7B377772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781394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B7F6D-81F7-4201-8380-2DC89BD4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原题 1　景与人的共同精神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4E2E7-A283-4F9C-A3B0-E548007B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上片所写的景物和下片的人物形象有什么相同之处？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C3C98-6339-4C60-9AEA-E1F3ACAC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词人借此表达了怎样的思想感情和人生态度？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348C3-F638-44C7-8136-673843D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1047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这给正处青春年华的我们怎样的启示？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69FE6-CDDB-4650-B272-3CF43F9E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作答要求：先找诗句，再概括特征；启示须落到具体行动。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A6D7F-9C52-4C32-8180-493D92AD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802270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DA33F-1B5C-435F-BD67-3584D187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原题 1　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3CA5A-354A-4D25-82DB-1AC97CC5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共同点：生机勃勃、昂扬向上，具有强烈的生命力量。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F445C-0711-48CA-99B1-C79364A9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“争流”“击”“翔”写景物的活力；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“挥斥方遒”“中流击水”写青年的豪情与进取精神。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9940A-C503-4087-93F2-70F79D6E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情感态度：关心国家命运，追求自由，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表现改造社会、奋发有为的抱负与担当。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D41B1-2921-41FD-9EE9-4DC7926F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4775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启示：珍惜青春，把个人理想与社会责任联系起来，</a:t>
            </a:r>
          </a:p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以扎实学习和实际行动承担责任。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AC5AB-F3F9-42FE-B81B-EAEF63E0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289841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F9DC1-CDEF-4264-85BA-ACCEEEF4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原题 2　秋景比较阅读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C6B51-E576-456E-86F6-DE0C0D0C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477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天净沙·秋思　马致远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7E232-DB11-4143-8420-7C673C64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枯藤老树昏鸦，小桥流水人家，古道西风瘦马。</a:t>
            </a:r>
          </a:p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夕阳西下，断肠人在天涯。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80940-2A40-4FCC-A685-8758C4E1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与《沁园春·长沙》上片比较：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AC7B4-4B48-4AFD-B769-1159A2FD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4775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① 秋思的意象　　② 长沙的意境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③ 两篇的写法　　④ 长沙的思想感情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26538-AE81-4AC8-8D01-61821FF7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060437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1B218-3AE4-4BD8-8B18-87535B6D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原题 2　意象与意境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D563E-2EDE-41A7-8AF2-691108C1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①《天净沙·秋思》的意象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EDD3E-CFA9-4DE3-8BA7-0836243D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枯藤、老树、昏鸦、小桥、流水、人家、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古道、西风、瘦马、夕阳。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20A7C-DAFB-4C54-A474-CC0BDDF7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②《沁园春·长沙》的意境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854B8-009C-48BE-A676-92AC63A0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色彩绚丽，境界开阔，充满蓬勃生机。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依据：“红遍”“碧透”的色彩，“争”“击”“翔”的活力。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BABA0-A3DF-4F5E-AB08-8C52ECB2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对照：《秋思》整体意境凄凉、萧瑟，寄寓羁旅愁苦。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AE5AB-BEDF-4C10-98CD-BF935632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341080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36B36-3F7E-4C76-9B65-73F699BC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原题 2　写法与感情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A5C90-C8A2-4B64-9BD9-3B6FF269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③ 相同：借景抒情，寓情于景，情景交融。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BCAFB-23A4-47A6-9902-A196E28E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长沙：远近结合、俯仰相间、动静结合，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呈现辽阔而富有生机的秋景。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BF7E3-2BBC-4A97-B84E-F06A7711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秋思：以白描并置典型意象；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“小桥流水人家”的安适反衬天涯游子的孤寂。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463EF-3671-4CB4-A9A0-BC3F1483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④ 长沙：热爱壮美山河，关注国家命运，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表现以天下为己任的抱负与豪情。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C6B20-D089-4E66-82FB-05A9E5B0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973248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D6FEC-1509-415C-B83B-D4361EDB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同是秋天，情感为何不同？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35603-90DE-4277-92CD-AEF61AFF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长沙：抒情主体胸怀理想，关注国家命运。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选择“红遍”“争流”“击”“翔”等词，突出秋的生命力。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27710-69FF-4CEC-B200-36F1999D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0477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秋思：作品塑造漂泊天涯的游子形象。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“枯”“老”“昏”“瘦”等词与“断肠”相照应。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89FF1-7F0B-482F-AC93-C88A386D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景物的感情色彩，要结合用词、人物处境和全篇情感判断。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1FE2A-6418-4E83-A343-FFCB21FD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898600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21887-E9CF-44D8-B58A-CCE24EAE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原题 3　情景交融写作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F8714-FAC8-44C5-9708-0FB95C36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学习《沁园春·长沙》情景交融的写法，</a:t>
            </a:r>
          </a:p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运用“微霜”“红叶”“秋色”等词语写一段文字，</a:t>
            </a:r>
          </a:p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至少运用一种修辞手法，100 字左右。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66FD6-5A61-4E2E-AA11-747AA737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047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思考：你希望景物传达怎样的感情？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3B085-3CE8-460E-AA9A-A00B5D96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0477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评价要点：词语齐全、景物具体、修辞恰当、情景相融。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BC173-94F9-4011-9FF4-51845509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061950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AD913-ECD7-4AE9-AE04-9462E09E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原题 3　参考示例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64B0B-79F1-48F8-90A2-56DB2FFC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171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微霜悄悄落上草尖，红叶却举起一簇簇火焰，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把山路照得明亮。秋风掠过肩头，远处的江水仍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奔涌向前。我沿着石阶拾级而上，听见脚下落叶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沙沙作响。这浓浓的秋色没有催我停步，反倒让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心中的愿望愈加清晰：趁年华正好，向更高处走去。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2A5B8-D27F-4851-AECB-E45CAA13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0477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“红叶举起火焰”：拟人兼比喻，突出热烈的色彩。</a:t>
            </a:r>
          </a:p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江水奔流、拾级而上：景物与进取之情相互照应。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00DCB-E559-4109-A053-70A8F0F6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285588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EC82B-833F-4EE3-A473-7FE0112B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迁移阅读　采桑子·重阳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8CEDB-3973-458E-9AB8-DFF8E4CB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毛泽东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E38EE-E838-420F-A091-8A78E5E3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0477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人生易老天难老，岁岁重阳。</a:t>
            </a:r>
          </a:p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今又重阳，战地黄花分外香。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8F81B-6787-4B1E-BEF5-0D780850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04775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一年一度秋风劲，不似春光。</a:t>
            </a:r>
          </a:p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胜似春光，寥廓江天万里霜。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485EC-0352-4F29-A25A-38EC8892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注：写作此词时作者正在养病，恰逢重阳，见黄菊盛开而作。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A3E92-104D-4362-A264-334C254A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194192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024D1-025F-4E80-BC75-5B319CE5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迁移题 1　选择与判断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1B208-AA98-4A66-AECB-65E9D5CF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10477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下列对这首词的理解和分析，不正确的一项是（　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F509B-79BD-4AB8-8C76-0F3BC05F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A.“人生易老天难老，岁岁重阳”两句，通过对比泛论人生天道，</a:t>
            </a:r>
          </a:p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　 富有哲理，由此入题。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324AD-88E6-4C0E-AB75-BFD7386C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B.“战地黄花分外香”一句，调动视觉与嗅觉描写菊花，作者在</a:t>
            </a:r>
          </a:p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　 菊花中蕴含的情感心志与陶渊明相同。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D14AF-D5DF-4E29-A414-8D159066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C.“一年一度秋风劲”中的“劲”字极具表现力，写出了秋风</a:t>
            </a:r>
          </a:p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　 摧枯拉朽、驱陈除腐的凌厉威猛之势。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1C90C-938B-4959-A6FC-23D099ED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4775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D.“胜似春光”，表现了作者的独特情怀；“寥廓江天万里霜”</a:t>
            </a:r>
          </a:p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　 以景作结，写出了天阔水长的寒秋景象。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7C6FA-5957-4A8A-85FE-EAAA9AF4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827520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A29A7-D71C-4C4D-8008-1985B0E0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迁移题 1　答案与辨误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D1772-8779-4ED8-A730-D0CEC32D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答案：B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EA232-B38E-451B-A691-0D901CFE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错误在“情感心志与陶渊明相同”。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19829-5F48-46FA-832B-3260DC6D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“战地”“分外香”“胜似春光”显示昂扬、乐观、豪迈的情怀，</a:t>
            </a:r>
          </a:p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与题目所比较的陶渊明的隐逸情怀不同。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202EB-4369-4093-83D4-97C337B9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47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同一种意象，在不同语境中可以表达不同情感。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判断依据应落在修饰语、上下文和全篇主旨上。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B05B4-E51C-4A44-B4E9-B094A2F0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239081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DE781-D995-4412-8490-874F111F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迁移题 2　意象、意境与情感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8FDED-214F-4317-B293-249F3DA0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本词运用了哪些意象？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122E5-85F7-4692-A498-84E0A22E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047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营造了怎样的意境？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8C659-5F17-46E3-AC79-6DE3F368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0477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表达了作者怎样的情感？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76A6C-AB9D-4C3E-BE97-7C8F1EB2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独立作答：每层至少联系一处词句，避免只堆叠术语。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5A5BF-EA6E-463C-9D39-9212091E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6422220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BCFBC-7494-49AD-916D-FA956801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迁移题 2　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18740-652A-49B4-B643-BC6DFCEC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意象：芬芳的黄花、强劲的秋风、寥廓的江天、万里秋霜。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3A656-0A1D-46AC-8860-56BA0047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04775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意境：壮阔绚丽，富有生机。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“黄花”显色彩，“寥廓”“万里”拓展空间。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FC616-8135-470A-9047-D4FC7B43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1047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情感：对秋景的喜爱，以及昂扬振奋、乐观豪迈的情怀。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“分外香”“胜似春光”直接表现赞美与振奋。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58828-AD4E-403A-BDFA-BD528734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作答顺序：写清具体景物，再概括整体境界，最后说明情感。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BF673-C8B6-4D39-8C1C-4EBAADB4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1411541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2FF94-D08B-4CD7-A127-9E2A10CD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鉴赏方法　答案中的证据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C926C-F693-4402-B563-AF2843B8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意象：具体写了什么？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例：黄花、秋风、江天、秋霜。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71AC0-128B-464A-B2C5-C10CFCBE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477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特征与意境：这些景物共同形成怎样的境界？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例：“寥廓”“万里”写出开阔壮大的空间。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A5322-B3B0-4840-921F-9AAFC5DD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4775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情感：哪些词句支持你的判断？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例：“胜似春光”表明赞美秋景、振奋豪迈。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82448-EDCC-45BE-AC99-CBD2D054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0328920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E0BF6-D516-4AD7-9852-72DAD278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课堂检验　有依据的判断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CEF83-1235-48E4-B602-29CF5A55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1.“《长沙》与《秋思》都写秋天，所以都表达悲秋之情。”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　 这个判断是否正确？各用一处文本说明。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8DD7D-1B07-4D37-9962-169B54CA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0477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2.“鹰击长空，鱼翔浅底”中，“击”“翔”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　 分别写出了怎样的景物特点？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F596A-7E2B-4B81-845E-32A93398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独立完成后，同桌核对：有没有具体词句，有没有解释联系。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05119-6296-4DA5-A154-B00F8ECF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3605873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5D644-0D19-4F82-AA2F-6B49C552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课堂检验　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B161C-39D7-458F-ABB9-4DC4E9FA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477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1. 判断不正确。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247F4-1273-478B-81FD-66657E4B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《长沙》“百舸争流”等写出活力，寄寓进取豪情。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《秋思》“断肠人在天涯”直接抒写游子的羁旅愁苦。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79997-A0A7-4021-8B8E-F6F0ABF5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0477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2.“击”写鹰展翅奋飞、搏击长空的强健有力。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　“翔”写鱼在清澈水中自由轻快地游动。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0A084-786A-4535-89E3-65F8DC80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10477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两字共同表现万物蓬勃的生命力。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DD508-ED4B-4432-B46D-A6671D68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0749421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10186-2AFA-40F1-8FD4-7EB3A14A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答案索引与课后订正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0AB3A-4519-4C6F-ABA1-549379AF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字音、字形、词语、常识：第 4、6、8、10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046C4-3D5F-42C9-AFC5-7F07EA8F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学案鉴赏原题：第 13、15—17、19 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30E88-C78F-4D5C-A3C7-9E7B7295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《采桑子·重阳》：第 22、24 页；选择题答案为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F995A-B378-44D4-A4A0-B484A48A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10477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订正：补出每个鉴赏结论所依据的词句。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写作：完成约 100 字片段，圈出修辞并说明表达的情感。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0DB3C-9E96-4538-ACE5-1E167D06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45835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2026-10-09T05:57:46.0060000Z</dcterms:created>
  <dcterms:modified xsi:type="dcterms:W3CDTF">2026-10-09T05:57:46.0060000Z</dcterms:modified>
</coreProperties>
</file>