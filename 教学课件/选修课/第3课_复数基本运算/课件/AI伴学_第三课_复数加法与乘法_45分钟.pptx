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4df2fad7e4594" /><Relationship Type="http://schemas.openxmlformats.org/officeDocument/2006/relationships/extended-properties" Target="/docProps/app.xml" Id="R6267d4a3c024428f" /><Relationship Type="http://schemas.openxmlformats.org/officeDocument/2006/relationships/officeDocument" Target="/ppt/presentation.xml" Id="R8753fea393ac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c47eb1269447d"/>
  </p:sldMasterIdLst>
  <p:notesMasterIdLst>
    <p:notesMasterId xmlns:r="http://schemas.openxmlformats.org/officeDocument/2006/relationships" r:id="R52d1727395bc427d"/>
  </p:notesMasterIdLst>
  <p:sldIdLst>
    <p:sldId xmlns:r="http://schemas.openxmlformats.org/officeDocument/2006/relationships" id="256" r:id="R9b46fd716ded4ade"/>
    <p:sldId xmlns:r="http://schemas.openxmlformats.org/officeDocument/2006/relationships" id="257" r:id="R9a0956345af44384"/>
    <p:sldId xmlns:r="http://schemas.openxmlformats.org/officeDocument/2006/relationships" id="258" r:id="R423555273adb4fdd"/>
    <p:sldId xmlns:r="http://schemas.openxmlformats.org/officeDocument/2006/relationships" id="259" r:id="R00df57cdb4a04633"/>
    <p:sldId xmlns:r="http://schemas.openxmlformats.org/officeDocument/2006/relationships" id="260" r:id="R36561d797d424588"/>
    <p:sldId xmlns:r="http://schemas.openxmlformats.org/officeDocument/2006/relationships" id="261" r:id="R30bf857600404713"/>
    <p:sldId xmlns:r="http://schemas.openxmlformats.org/officeDocument/2006/relationships" id="262" r:id="Rdec008c98cb84962"/>
    <p:sldId xmlns:r="http://schemas.openxmlformats.org/officeDocument/2006/relationships" id="263" r:id="R4a075c6f26324874"/>
    <p:sldId xmlns:r="http://schemas.openxmlformats.org/officeDocument/2006/relationships" id="264" r:id="R49306ef604c74eed"/>
    <p:sldId xmlns:r="http://schemas.openxmlformats.org/officeDocument/2006/relationships" id="265" r:id="R7293d663a0ab49b4"/>
    <p:sldId xmlns:r="http://schemas.openxmlformats.org/officeDocument/2006/relationships" id="266" r:id="R432bd9af2f5b49b1"/>
    <p:sldId xmlns:r="http://schemas.openxmlformats.org/officeDocument/2006/relationships" id="267" r:id="Ra89564ec61244122"/>
    <p:sldId xmlns:r="http://schemas.openxmlformats.org/officeDocument/2006/relationships" id="268" r:id="Radda6f125dbe4959"/>
    <p:sldId xmlns:r="http://schemas.openxmlformats.org/officeDocument/2006/relationships" id="269" r:id="R9b2fcfbe7be4498a"/>
    <p:sldId xmlns:r="http://schemas.openxmlformats.org/officeDocument/2006/relationships" id="270" r:id="R5995bf6a60534d15"/>
    <p:sldId xmlns:r="http://schemas.openxmlformats.org/officeDocument/2006/relationships" id="271" r:id="R78df23e07fbf4979"/>
    <p:sldId xmlns:r="http://schemas.openxmlformats.org/officeDocument/2006/relationships" id="272" r:id="Rac757ec7e36541bf"/>
    <p:sldId xmlns:r="http://schemas.openxmlformats.org/officeDocument/2006/relationships" id="273" r:id="Re2862983757b4ab3"/>
    <p:sldId xmlns:r="http://schemas.openxmlformats.org/officeDocument/2006/relationships" id="274" r:id="Rba9a8996806648af"/>
    <p:sldId xmlns:r="http://schemas.openxmlformats.org/officeDocument/2006/relationships" id="275" r:id="R0ce6dd0fa34545cb"/>
    <p:sldId xmlns:r="http://schemas.openxmlformats.org/officeDocument/2006/relationships" id="276" r:id="Rae97a04eaa5945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5ad26bcd3437b" /><Relationship Type="http://schemas.openxmlformats.org/officeDocument/2006/relationships/slideMaster" Target="/ppt/slideMasters/slideMaster1.xml" Id="R56ec47eb1269447d" /><Relationship Type="http://schemas.openxmlformats.org/officeDocument/2006/relationships/notesMaster" Target="/ppt/notesMasters/notesMaster1.xml" Id="R52d1727395bc427d" /><Relationship Type="http://schemas.openxmlformats.org/officeDocument/2006/relationships/presProps" Target="/ppt/presProps.xml" Id="Rf11c6a57f74f4856" /><Relationship Type="http://schemas.openxmlformats.org/officeDocument/2006/relationships/tableStyles" Target="/ppt/tableStyles.xml" Id="R65d115a770554e08" /><Relationship Type="http://schemas.openxmlformats.org/officeDocument/2006/relationships/slide" Target="/ppt/slides/slide1.xml" Id="R9b46fd716ded4ade" /><Relationship Type="http://schemas.openxmlformats.org/officeDocument/2006/relationships/slide" Target="/ppt/slides/slide2.xml" Id="R9a0956345af44384" /><Relationship Type="http://schemas.openxmlformats.org/officeDocument/2006/relationships/slide" Target="/ppt/slides/slide3.xml" Id="R423555273adb4fdd" /><Relationship Type="http://schemas.openxmlformats.org/officeDocument/2006/relationships/slide" Target="/ppt/slides/slide4.xml" Id="R00df57cdb4a04633" /><Relationship Type="http://schemas.openxmlformats.org/officeDocument/2006/relationships/slide" Target="/ppt/slides/slide5.xml" Id="R36561d797d424588" /><Relationship Type="http://schemas.openxmlformats.org/officeDocument/2006/relationships/slide" Target="/ppt/slides/slide6.xml" Id="R30bf857600404713" /><Relationship Type="http://schemas.openxmlformats.org/officeDocument/2006/relationships/slide" Target="/ppt/slides/slide7.xml" Id="Rdec008c98cb84962" /><Relationship Type="http://schemas.openxmlformats.org/officeDocument/2006/relationships/slide" Target="/ppt/slides/slide8.xml" Id="R4a075c6f26324874" /><Relationship Type="http://schemas.openxmlformats.org/officeDocument/2006/relationships/slide" Target="/ppt/slides/slide9.xml" Id="R49306ef604c74eed" /><Relationship Type="http://schemas.openxmlformats.org/officeDocument/2006/relationships/slide" Target="/ppt/slides/slide10.xml" Id="R7293d663a0ab49b4" /><Relationship Type="http://schemas.openxmlformats.org/officeDocument/2006/relationships/slide" Target="/ppt/slides/slide11.xml" Id="R432bd9af2f5b49b1" /><Relationship Type="http://schemas.openxmlformats.org/officeDocument/2006/relationships/slide" Target="/ppt/slides/slide12.xml" Id="Ra89564ec61244122" /><Relationship Type="http://schemas.openxmlformats.org/officeDocument/2006/relationships/slide" Target="/ppt/slides/slide13.xml" Id="Radda6f125dbe4959" /><Relationship Type="http://schemas.openxmlformats.org/officeDocument/2006/relationships/slide" Target="/ppt/slides/slide14.xml" Id="R9b2fcfbe7be4498a" /><Relationship Type="http://schemas.openxmlformats.org/officeDocument/2006/relationships/slide" Target="/ppt/slides/slide15.xml" Id="R5995bf6a60534d15" /><Relationship Type="http://schemas.openxmlformats.org/officeDocument/2006/relationships/slide" Target="/ppt/slides/slide16.xml" Id="R78df23e07fbf4979" /><Relationship Type="http://schemas.openxmlformats.org/officeDocument/2006/relationships/slide" Target="/ppt/slides/slide17.xml" Id="Rac757ec7e36541bf" /><Relationship Type="http://schemas.openxmlformats.org/officeDocument/2006/relationships/slide" Target="/ppt/slides/slide18.xml" Id="Re2862983757b4ab3" /><Relationship Type="http://schemas.openxmlformats.org/officeDocument/2006/relationships/slide" Target="/ppt/slides/slide19.xml" Id="Rba9a8996806648af" /><Relationship Type="http://schemas.openxmlformats.org/officeDocument/2006/relationships/slide" Target="/ppt/slides/slide20.xml" Id="R0ce6dd0fa34545cb" /><Relationship Type="http://schemas.openxmlformats.org/officeDocument/2006/relationships/slide" Target="/ppt/slides/slide21.xml" Id="Rae97a04eaa5945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eb3709ff71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35f045b784ddf" /><Relationship Type="http://schemas.openxmlformats.org/officeDocument/2006/relationships/notesMaster" Target="/ppt/notesMasters/notesMaster1.xml" Id="Rfd6389253b10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e92ee4a5a4c59" /><Relationship Type="http://schemas.openxmlformats.org/officeDocument/2006/relationships/notesMaster" Target="/ppt/notesMasters/notesMaster1.xml" Id="Rf7ee7e690aee4d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0fc7083224dce" /><Relationship Type="http://schemas.openxmlformats.org/officeDocument/2006/relationships/notesMaster" Target="/ppt/notesMasters/notesMaster1.xml" Id="R104567b4c6d041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6a99cebe9140fe" /><Relationship Type="http://schemas.openxmlformats.org/officeDocument/2006/relationships/notesMaster" Target="/ppt/notesMasters/notesMaster1.xml" Id="Rba73886a63e948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159ec396534f8a" /><Relationship Type="http://schemas.openxmlformats.org/officeDocument/2006/relationships/notesMaster" Target="/ppt/notesMasters/notesMaster1.xml" Id="R1caddb5224df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3baca8f4244af8" /><Relationship Type="http://schemas.openxmlformats.org/officeDocument/2006/relationships/notesMaster" Target="/ppt/notesMasters/notesMaster1.xml" Id="R8ee4a682431942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217347dd542d6" /><Relationship Type="http://schemas.openxmlformats.org/officeDocument/2006/relationships/notesMaster" Target="/ppt/notesMasters/notesMaster1.xml" Id="Rf6c73bbb744e4e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b3c893eae442c3" /><Relationship Type="http://schemas.openxmlformats.org/officeDocument/2006/relationships/notesMaster" Target="/ppt/notesMasters/notesMaster1.xml" Id="R9576855e2b614e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78767dc6874155" /><Relationship Type="http://schemas.openxmlformats.org/officeDocument/2006/relationships/notesMaster" Target="/ppt/notesMasters/notesMaster1.xml" Id="R57e0a0f1c84c40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2653bc3f2d4bb8" /><Relationship Type="http://schemas.openxmlformats.org/officeDocument/2006/relationships/notesMaster" Target="/ppt/notesMasters/notesMaster1.xml" Id="R7bd65616c2fc47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385838588d4211" /><Relationship Type="http://schemas.openxmlformats.org/officeDocument/2006/relationships/notesMaster" Target="/ppt/notesMasters/notesMaster1.xml" Id="R1a8423bd9dd045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a4808aa4b64ea1" /><Relationship Type="http://schemas.openxmlformats.org/officeDocument/2006/relationships/notesMaster" Target="/ppt/notesMasters/notesMaster1.xml" Id="Rb439b9d6d11f4c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c2f041a0eb4beb" /><Relationship Type="http://schemas.openxmlformats.org/officeDocument/2006/relationships/notesMaster" Target="/ppt/notesMasters/notesMaster1.xml" Id="Rb63e2f8f0df940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34b2fc799d4519" /><Relationship Type="http://schemas.openxmlformats.org/officeDocument/2006/relationships/notesMaster" Target="/ppt/notesMasters/notesMaster1.xml" Id="Rd9c06ee176944c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c486a1628f4d9a" /><Relationship Type="http://schemas.openxmlformats.org/officeDocument/2006/relationships/notesMaster" Target="/ppt/notesMasters/notesMaster1.xml" Id="Rf7604442965d46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8b90af16df426d" /><Relationship Type="http://schemas.openxmlformats.org/officeDocument/2006/relationships/notesMaster" Target="/ppt/notesMasters/notesMaster1.xml" Id="R7c56f32f7de846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525c93784f4e93" /><Relationship Type="http://schemas.openxmlformats.org/officeDocument/2006/relationships/notesMaster" Target="/ppt/notesMasters/notesMaster1.xml" Id="Re88503c2c76042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2b353e86d246ed" /><Relationship Type="http://schemas.openxmlformats.org/officeDocument/2006/relationships/notesMaster" Target="/ppt/notesMasters/notesMaster1.xml" Id="R6f758bcc7d7e42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af23aaf52d4b43" /><Relationship Type="http://schemas.openxmlformats.org/officeDocument/2006/relationships/notesMaster" Target="/ppt/notesMasters/notesMaster1.xml" Id="Rf56fe010acda41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d3391788084d6e" /><Relationship Type="http://schemas.openxmlformats.org/officeDocument/2006/relationships/notesMaster" Target="/ppt/notesMasters/notesMaster1.xml" Id="R6f059bc2c37f43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535a0cfbf74bc2" /><Relationship Type="http://schemas.openxmlformats.org/officeDocument/2006/relationships/notesMaster" Target="/ppt/notesMasters/notesMaster1.xml" Id="R4f6fe6796f6d49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00:00—00:30分钟。</a:t>
            </a:r>
          </a:p>
          <a:p xmlns:a="http://schemas.openxmlformats.org/drawingml/2006/main">
            <a:r>
              <a:t>开场：上次用复数表示点，并看了乘i的旋转。今天学习两个复数怎样相加、相乘，记录自己需要怎样的提示。教师投屏操作AI，学生以纸笔为主。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00:30—04:00分钟。</a:t>
            </a:r>
          </a:p>
          <a:p xmlns:a="http://schemas.openxmlformats.org/drawingml/2006/main">
            <a:r>
              <a:t>让学生结合图像用1分钟写出i²、i(2+i)及点坐标，再请学生解释计算。图是回顾支架，本页不作独立达标证据。答案：−1，−1+2i，(−1,2)。绕原点逆时针90°，距离不变。若写成1+2i，定位i²替换；若坐标(2,−1)，检查横纵坐标与方向。图取自本课程教师用册配图，计算独立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04:00—06:00分钟。</a:t>
            </a:r>
          </a:p>
          <a:p xmlns:a="http://schemas.openxmlformats.org/drawingml/2006/main">
            <a:r>
              <a:t>教师展示可检验目标。让学生圈出自己最需要检查的一步：展开、替换、合并。今日只需正负数、分配律、合并同类项。三角形式、欧拉公式与微积分均可暂缓。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06:00—08:00分钟。</a:t>
            </a:r>
          </a:p>
          <a:p xmlns:a="http://schemas.openxmlformats.org/drawingml/2006/main">
            <a:r>
              <a:t>回顾定义而非重复整节复数引入。a、b为实数，虚数单位i满足i²=−1。b=0得到实数，复数包含实数。x²+1=0的两个解是±i，不漏−i。不要把实数根式的乘法规则推广到负数。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08:00—11:00分钟。</a:t>
            </a:r>
          </a:p>
          <a:p xmlns:a="http://schemas.openxmlformats.org/drawingml/2006/main">
            <a:r>
              <a:t>学生先做60秒再核对。①1；②6−3x；③3−2x。此页都是实数代数。将①与−i²连接，②与复数乘法分配律连接，③与带负号的括号连接。若不稳，先给2(3−x)补练，不加新知识。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11:00—14:00分钟。</a:t>
            </a:r>
          </a:p>
          <a:p xmlns:a="http://schemas.openxmlformats.org/drawingml/2006/main">
            <a:r>
              <a:t>主例来自总教案。先让学生指出可合并的项，再逐行展示。2+1=3，3+(−5)=−2。几何联系只口头说明：坐标分别相加，与上次点表示一致。a+bi+c+di=(a+c)+(b+d)i可口头归纳，不作为记忆门槛。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14:00—16:00分钟。</a:t>
            </a:r>
          </a:p>
          <a:p xmlns:a="http://schemas.openxmlformats.org/drawingml/2006/main">
            <a:r>
              <a:t>独立2分钟，不提前翻答案。①基础，考同类项；②基础，考负数和括号。预期方法均为分别合并两类项，易错为−2+5和1+(−3)。评价：每题实数项1分、i的系数1分，口头要求说明负号来源。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16:00—17:00分钟。</a:t>
            </a:r>
          </a:p>
          <a:p xmlns:a="http://schemas.openxmlformats.org/drawingml/2006/main">
            <a:r>
              <a:t>①2+3i，(2,3)；②−1+3i，(−1,3)。学生若只写答案正确但不会解释，要求说明哪两组数字合并。对照原始作答，用不同颜色改最早出错的一行。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17:00—18:00分钟。</a:t>
            </a:r>
          </a:p>
          <a:p xmlns:a="http://schemas.openxmlformats.org/drawingml/2006/main">
            <a:r>
              <a:t>先不计算结果。邀请学生说出第一个1分别乘2与−i，第二个i也分别乘2与−i，一共四个乘积。强调“两个实部相乘、两个虚部相乘”会漏交叉项。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18:00—21:00分钟。</a:t>
            </a:r>
          </a:p>
          <a:p xmlns:a="http://schemas.openxmlformats.org/drawingml/2006/main">
            <a:r>
              <a:t>主例来自总教案。学生跟写三行，每次追问当前使用的规则。四项2、−i、2i、−i²；用i²=−1得2−i+2i+1；最终3+i。一般公式可在学生追问时补充，不额外要求背诵。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21:00—23:00分钟。</a:t>
            </a:r>
          </a:p>
          <a:p xmlns:a="http://schemas.openxmlformats.org/drawingml/2006/main">
            <a:r>
              <a:t>对比先平方再取负与整体平方。−i²=−(i²)=1，而(−i)²=(−i)(−i)=i²=−1。先做实数类比−2²=−4与(−2)²=4，再返回i。重点是运算顺序，不说“负负得正”而省略括号。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23:00—25:00分钟。</a:t>
            </a:r>
          </a:p>
          <a:p xmlns:a="http://schemas.openxmlformats.org/drawingml/2006/main">
            <a:r>
              <a:t>教学自编错误样例，不冒充AI回答。待检查：(1+i)²=1+i²=0，第一等号漏掉2i。可用(1+1)²≠1²+1²唤起已有经验，说明平方须按两个相同括号相乘。正确结果1+2i+i²=2i。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25:00—28:00分钟。</a:t>
            </a:r>
          </a:p>
          <a:p xmlns:a="http://schemas.openxmlformats.org/drawingml/2006/main">
            <a:r>
              <a:t>主活动题来自总教案。先独立2分钟，再同桌指出卡点。基础组可先做(2+i)+(1−i)，结果3；之后参与乘法。此时不展示答案。目标是完整展开，难度中等，易错是最后i·(−i)=−i²。观察学生能否指出具体待检查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28:00—30:00分钟。</a:t>
            </a:r>
          </a:p>
          <a:p xmlns:a="http://schemas.openxmlformats.org/drawingml/2006/main">
            <a:r>
              <a:t>教师课前打开已登录的学校认可工具。只输入匿名算式与错误步骤，不含学生身份信息。选一段课堂步骤输入，若现场没有合适样例可用下一页预设错误，但明确为自编。提示词是行为请求，不能保证模型一定遵守。两分钟截止，无网直接口头使用同样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30:00—32:00分钟。</a:t>
            </a:r>
          </a:p>
          <a:p xmlns:a="http://schemas.openxmlformats.org/drawingml/2006/main">
            <a:r>
              <a:t>让学生指出红色等号两侧为何不等，再核对下方正确计算。自编错误把−i²算成−1。正确结果3−i。学生只记录一条实际提示，没用到AI则写同桌或教师提示，不能虚构真实AI记录。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32:00—36:00分钟。</a:t>
            </a:r>
          </a:p>
          <a:p xmlns:a="http://schemas.openxmlformats.org/drawingml/2006/main">
            <a:r>
              <a:t>保持4分钟独立时间，不看例题或AI。①基础加法，答案2+3i，2分：两类项各1分。②基础到中等乘法，答案1+3i，3分：完整展开1分、正确替换i²1分、合并1分。两题合计5分，仅作本课形成性检测，不冒充课程总评价。要求解释一个负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36:00—38:00分钟。</a:t>
            </a:r>
          </a:p>
          <a:p xmlns:a="http://schemas.openxmlformats.org/drawingml/2006/main">
            <a:r>
              <a:t>先让同桌仅核对指定步骤，再展示答案。①2+3i；②2+2i+i+i²=2+3i−1=1+3i。若①正确②漏交叉项，下次先补分配律；若展开正确但i²错误，回到定义。教师按证据记录，不把一题错误概括为“不会复数”。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38:00—40:00分钟。</a:t>
            </a:r>
          </a:p>
          <a:p xmlns:a="http://schemas.openxmlformats.org/drawingml/2006/main">
            <a:r>
              <a:t>连接上一课而不新增任意角旋转。由(1+i)²=1+2i−1=2i，对应(0,2)。错误答案0会把结果画在原点。点表示用于暴露和解释计算结果，本页不将“看起来对”作为独立证明。学生在纸上标出(1,1)与(0,2)，不要求理解一般乘法的角度与伸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40:00—42:00分钟。</a:t>
            </a:r>
          </a:p>
          <a:p xmlns:a="http://schemas.openxmlformats.org/drawingml/2006/main">
            <a:r>
              <a:t>两分钟独立写，随后收卡或留原始记录，不提前揭示答案。①i是满足i²=−1的虚数单位；x²+1=0两解±i，2分。②(1−i)²=−2i，展开替换各1分。③写出自己仍需检查的一步，形成下一次支持证据，不计对错分。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42:00—44:00分钟。</a:t>
            </a:r>
          </a:p>
          <a:p xmlns:a="http://schemas.openxmlformats.org/drawingml/2006/main">
            <a:r>
              <a:t>①i²=−1，x=±i，代入两个值均使平方加1为0。②(1−i)²=1−2i+i²=−2i。与上次结果i(2−i)=1+2i区分，说明今天会两个复数相乘。学生不抹原始错误，写出修改理由。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44:00—45:00分钟。</a:t>
            </a:r>
          </a:p>
          <a:p xmlns:a="http://schemas.openxmlformats.org/drawingml/2006/main">
            <a:r>
              <a:t>口头回收：我原来卡在……；提示让我注意……；现在能独立完成……。课后约8分钟，两题(2−i)+(−3+4i)=−1+3i，(1+2i)(1−i)=3+i，答案只在教师备注。选做i³=−i、i⁴=1，解释循环。下一课可接加法、伸缩与旋转组合，本页不替代后续课程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来源：../教学内容（暂定）.docx，第3课时；../AI伴学_18课时详细教案_40分钟教师用册.docx，第3课时；../第2课_复数与平面旋转/AI伴学_第二课.tex。依实际第2课内容调整顺序，45分钟方案为本次改编。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54b5f6d424a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521adc10441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6d712d9ae4e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b3664503e48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d5d45503c41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050e794a46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34BAA6-46CE-406F-AB14-452CECF9B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61A86A-BF0C-44AC-9162-B76842720A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E93F99-6D72-4281-8D10-A110F888C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26E04C-11F2-444B-9EDC-5E5D5FB78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9F26F7-F64B-4536-B210-8E6EDFBBC9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BC525E-C999-4405-A5FC-C765FE398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8F29B8-CDE6-4CB9-86A3-DA559D162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DF48C5-2072-4E68-8B67-6281978440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9AAE11-D069-4C48-B8D8-092A27A92E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D85DE9-64C0-4420-A986-0175ABC133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9127a715504b61" /><Relationship Type="http://schemas.openxmlformats.org/officeDocument/2006/relationships/slideLayout" Target="/ppt/slideLayouts/slideLayout1.xml" Id="R20671f4ced104520" /><Relationship Type="http://schemas.openxmlformats.org/officeDocument/2006/relationships/slideLayout" Target="/ppt/slideLayouts/slideLayout2.xml" Id="R03218c796cdc4675" /><Relationship Type="http://schemas.openxmlformats.org/officeDocument/2006/relationships/slideLayout" Target="/ppt/slideLayouts/slideLayout3.xml" Id="R8ebcaee667d4429a" /><Relationship Type="http://schemas.openxmlformats.org/officeDocument/2006/relationships/slideLayout" Target="/ppt/slideLayouts/slideLayout4.xml" Id="Rb0eabcc29d7740c1" /><Relationship Type="http://schemas.openxmlformats.org/officeDocument/2006/relationships/slideLayout" Target="/ppt/slideLayouts/slideLayout5.xml" Id="Rc5006964f72e418c" /><Relationship Type="http://schemas.openxmlformats.org/officeDocument/2006/relationships/slideLayout" Target="/ppt/slideLayouts/slideLayout6.xml" Id="R5569953616f8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71f4ced104520"/>
    <p:sldLayoutId xmlns:r="http://schemas.openxmlformats.org/officeDocument/2006/relationships" id="2147483650" r:id="R03218c796cdc4675"/>
    <p:sldLayoutId xmlns:r="http://schemas.openxmlformats.org/officeDocument/2006/relationships" id="2147483651" r:id="R8ebcaee667d4429a"/>
    <p:sldLayoutId xmlns:r="http://schemas.openxmlformats.org/officeDocument/2006/relationships" id="2147483652" r:id="Rb0eabcc29d7740c1"/>
    <p:sldLayoutId xmlns:r="http://schemas.openxmlformats.org/officeDocument/2006/relationships" id="2147483653" r:id="Rc5006964f72e418c"/>
    <p:sldLayoutId xmlns:r="http://schemas.openxmlformats.org/officeDocument/2006/relationships" id="2147483654" r:id="R5569953616f8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7c3a503ba4a94" /><Relationship Type="http://schemas.openxmlformats.org/officeDocument/2006/relationships/image" Target="/ppt/media/image.jpeg" Id="R144372e043014d94" /><Relationship Type="http://schemas.openxmlformats.org/officeDocument/2006/relationships/notesSlide" Target="/ppt/notesSlides/notesSlide1.xml" Id="Re89aac98836f4d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9a40fbcc045ef" /><Relationship Type="http://schemas.openxmlformats.org/officeDocument/2006/relationships/image" Target="/ppt/media/image.png" Id="Rc1078ebef0034579" /><Relationship Type="http://schemas.openxmlformats.org/officeDocument/2006/relationships/notesSlide" Target="/ppt/notesSlides/notesSlide2.xml" Id="R8ceac0197fc541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7be3b06d846c0" /><Relationship Type="http://schemas.openxmlformats.org/officeDocument/2006/relationships/notesSlide" Target="/ppt/notesSlides/notesSlide3.xml" Id="Rcd3ea60b9a2242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03a81c6a649dc" /><Relationship Type="http://schemas.openxmlformats.org/officeDocument/2006/relationships/notesSlide" Target="/ppt/notesSlides/notesSlide4.xml" Id="R4691f0a20b11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3cc251b68443a" /><Relationship Type="http://schemas.openxmlformats.org/officeDocument/2006/relationships/notesSlide" Target="/ppt/notesSlides/notesSlide5.xml" Id="R78f1908f106a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032a1e88244aa" /><Relationship Type="http://schemas.openxmlformats.org/officeDocument/2006/relationships/notesSlide" Target="/ppt/notesSlides/notesSlide6.xml" Id="R442839b7e2884b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6c0bbe0094fc3" /><Relationship Type="http://schemas.openxmlformats.org/officeDocument/2006/relationships/notesSlide" Target="/ppt/notesSlides/notesSlide7.xml" Id="Rd3f482d081e945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c8c51385c48bd" /><Relationship Type="http://schemas.openxmlformats.org/officeDocument/2006/relationships/notesSlide" Target="/ppt/notesSlides/notesSlide8.xml" Id="R7cf59c548fb24e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1ae5645ad4858" /><Relationship Type="http://schemas.openxmlformats.org/officeDocument/2006/relationships/notesSlide" Target="/ppt/notesSlides/notesSlide9.xml" Id="R09548c4e05e745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e03a807e0442c" /><Relationship Type="http://schemas.openxmlformats.org/officeDocument/2006/relationships/notesSlide" Target="/ppt/notesSlides/notesSlide10.xml" Id="R8cdf4ed0c1cd4b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ccf2e12074b01" /><Relationship Type="http://schemas.openxmlformats.org/officeDocument/2006/relationships/notesSlide" Target="/ppt/notesSlides/notesSlide11.xml" Id="Rf6994169be9c4b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785c8c9fc44ea" /><Relationship Type="http://schemas.openxmlformats.org/officeDocument/2006/relationships/notesSlide" Target="/ppt/notesSlides/notesSlide12.xml" Id="R0498bb87ff554f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de72f8d2a4a8a" /><Relationship Type="http://schemas.openxmlformats.org/officeDocument/2006/relationships/notesSlide" Target="/ppt/notesSlides/notesSlide13.xml" Id="R25ed89689fdd4e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2c254a9744f09" /><Relationship Type="http://schemas.openxmlformats.org/officeDocument/2006/relationships/notesSlide" Target="/ppt/notesSlides/notesSlide14.xml" Id="Rf0eff72fe72b49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a02907eec4af3" /><Relationship Type="http://schemas.openxmlformats.org/officeDocument/2006/relationships/notesSlide" Target="/ppt/notesSlides/notesSlide15.xml" Id="R32eb46d4c0284f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2ece5c9244184" /><Relationship Type="http://schemas.openxmlformats.org/officeDocument/2006/relationships/notesSlide" Target="/ppt/notesSlides/notesSlide16.xml" Id="R620f8ee988784f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3f4344781419a" /><Relationship Type="http://schemas.openxmlformats.org/officeDocument/2006/relationships/notesSlide" Target="/ppt/notesSlides/notesSlide17.xml" Id="R6c1e5f005e3e47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55e5ec1604326" /><Relationship Type="http://schemas.openxmlformats.org/officeDocument/2006/relationships/notesSlide" Target="/ppt/notesSlides/notesSlide18.xml" Id="R54be5191d03a4b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3ab3f72ee4dba" /><Relationship Type="http://schemas.openxmlformats.org/officeDocument/2006/relationships/notesSlide" Target="/ppt/notesSlides/notesSlide19.xml" Id="R313c6ec5108a48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fcf8ca1c24325" /><Relationship Type="http://schemas.openxmlformats.org/officeDocument/2006/relationships/notesSlide" Target="/ppt/notesSlides/notesSlide20.xml" Id="R86192313571849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cffcfaa4e447a" /><Relationship Type="http://schemas.openxmlformats.org/officeDocument/2006/relationships/notesSlide" Target="/ppt/notesSlides/notesSlide21.xml" Id="Ra556619348d447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BC1D0FCB-F29A-419F-95DE-47D6A16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00:00—00:30 分钟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C9554FE-15F6-4EC3-BAE0-A180F8A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871A2-4189-4916-BE66-AEE3FA110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372e043014d94"/>
          <a:stretch xmlns:a="http://schemas.openxmlformats.org/drawingml/2006/main"/>
        </p:blipFill>
        <p:spPr>
          <a:xfrm xmlns:a="http://schemas.openxmlformats.org/drawingml/2006/main">
            <a:off x="2154248" y="0"/>
            <a:ext cx="7883503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F4BDB0-1763-465C-8243-B0C0E42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复数的加法与乘法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23486E1-4C08-40D5-AD32-07287D99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AI伴学 · 第3课时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B7B9D9A-4539-4BDE-97E3-E72135E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华光辉　　45分钟</a:t>
            </a:r>
          </a:p>
        </p:txBody>
      </p:sp>
    </p:spTree>
    <p:extLst>
      <p:ext uri="{BB962C8B-B14F-4D97-AF65-F5344CB8AC3E}">
        <p14:creationId xmlns:p14="http://schemas.microsoft.com/office/powerpoint/2010/main" val="254561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57AF274D-399C-4832-BD29-C084837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上次的旋转，今天还能解释吗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567FF18-361C-4DBD-9BC5-08D4B59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00:30—04:00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14B3811-B8F2-41AF-9D1C-E0201FAA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5047D-A614-4930-A1C6-35B27E22F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78ebef0034579"/>
          <a:stretch xmlns:a="http://schemas.openxmlformats.org/drawingml/2006/main"/>
        </p:blipFill>
        <p:spPr>
          <a:xfrm xmlns:a="http://schemas.openxmlformats.org/drawingml/2006/main">
            <a:off x="5334000" y="1524000"/>
            <a:ext cx="60960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FE46C5-022D-462F-8954-7EFE50F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结合图像，补全算式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ABE03D-46BD-457D-8753-19845DB7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i² = 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B373F8-3F2F-4B05-A14A-DD0DAAC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4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i(2 + i) = 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21A58B7-84F8-4F9A-BF7B-FFC470BB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结果对应哪个点？</a:t>
            </a:r>
          </a:p>
          <a:p xmlns:a="http://schemas.openxmlformats.org/drawingml/2006/main">
            <a:pPr>
              <a:def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绕哪里、朝哪个方向转？</a:t>
            </a:r>
          </a:p>
        </p:txBody>
      </p:sp>
    </p:spTree>
    <p:extLst>
      <p:ext uri="{BB962C8B-B14F-4D97-AF65-F5344CB8AC3E}">
        <p14:creationId xmlns:p14="http://schemas.microsoft.com/office/powerpoint/2010/main" val="758200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ADC55DFF-7BB3-4FE1-BAD5-56E6E71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今天的目标与学习路径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8BD78D2-D853-45BA-B609-4364009C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04:00—06:00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3B7B54C-8D63-489A-ACE5-8AADDF1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1E363B2-37E7-491F-923A-5246033C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课末，你能独立完成一道加法和一道乘法。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0AFD7D2-B637-4A37-A742-7F830719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需要的基础：正负数、分配律、合并同类项。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80489E0-8335-468F-87F5-7E888A2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学习次序：回顾定义，尝试运算，用新题检验。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CE8EC96-6658-4469-8315-CE7034D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向AI求助时，能说清自己卡在哪一步。</a:t>
            </a:r>
          </a:p>
        </p:txBody>
      </p:sp>
    </p:spTree>
    <p:extLst>
      <p:ext uri="{BB962C8B-B14F-4D97-AF65-F5344CB8AC3E}">
        <p14:creationId xmlns:p14="http://schemas.microsoft.com/office/powerpoint/2010/main" val="30883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933EBF52-4D6B-421E-A00F-D4C50D27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一种新数，沿用熟悉的运算规则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F5FA446-04B1-40E4-9937-A2074005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06:00—08:00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904D69A-7814-4E0C-B1FC-452D353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BA2CD90-5B30-45FB-B2C2-C3024C4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52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i² = −1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869B28C-B033-4E6A-AFA5-9C6DF148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z = a + bi     (a, b ∈ ℝ)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C47B5F0-46E5-403D-8AB9-4891D708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3 − 2i 对应点 (3, −2)；5 也可以写成 5 + 0i。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FA66D1A-BBAF-439B-84A4-4683D973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x² + 1 = 0，在复数范围内有哪些解？</a:t>
            </a:r>
          </a:p>
        </p:txBody>
      </p:sp>
    </p:spTree>
    <p:extLst>
      <p:ext uri="{BB962C8B-B14F-4D97-AF65-F5344CB8AC3E}">
        <p14:creationId xmlns:p14="http://schemas.microsoft.com/office/powerpoint/2010/main" val="70840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792AF301-CA9D-49B6-A90E-547A2605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先修知识小检查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24B2FCD-914E-45EE-9981-BB49BC19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08:00—11:00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4B17628-0904-4F10-BC8A-D968894D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D92E479-7CA9-473E-B323-74C57E3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不用AI，每题写出一步理由。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655E6EC-1895-44A8-81B9-26CC5DD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①  −(−1)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A461391-EDAF-47F1-A3E3-2DDC50D8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②  3(2 − x)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ACDD730-4909-4DE5-90B9-189F1847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③  (2 − x) + (1 − x)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BA267BC-B73B-482F-A446-A89D175F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括号前的乘数，要乘到括号里的每一项。</a:t>
            </a:r>
          </a:p>
        </p:txBody>
      </p:sp>
    </p:spTree>
    <p:extLst>
      <p:ext uri="{BB962C8B-B14F-4D97-AF65-F5344CB8AC3E}">
        <p14:creationId xmlns:p14="http://schemas.microsoft.com/office/powerpoint/2010/main" val="21184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65711DF6-B963-4B4C-879A-8980CC8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复数加法：把两类项分别合并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F1D7E31-5D3D-416F-B509-B76FB1DC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11:00—14:00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7B726B4-9DF0-4B58-BD14-3DBB1AA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1173622-7CF8-4197-90B9-10D37086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(2 + 3i) + (1 − 5i)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ABCCB72-CA99-418C-8402-9362DBB0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(2 + 1) + (3 − 5)i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F594AFD-F562-48FC-9994-CC58A5FD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5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3 − 2i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14D547D-47C9-47C6-B42A-8DEAFEDB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实数项与实数项相加，含 i 的项合并系数。</a:t>
            </a:r>
          </a:p>
        </p:txBody>
      </p:sp>
    </p:spTree>
    <p:extLst>
      <p:ext uri="{BB962C8B-B14F-4D97-AF65-F5344CB8AC3E}">
        <p14:creationId xmlns:p14="http://schemas.microsoft.com/office/powerpoint/2010/main" val="951651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F04024E4-6A24-4617-AA09-FE9A8D12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加法练习：负号也要一起带上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C1541F7-CA40-4EB5-8599-0C918136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14:00—16:00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ADB2074-CE62-4F4A-AFB7-3BF7EA9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3628CE1-2117-4F8F-ACC7-7454DB16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先写算式，再写结果对应的点。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3F90936-1E5E-462B-9952-ADAB1778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7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①  (3 − 2i) + (−1 + 5i)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8DC5926-C539-4180-A67E-3FA5DE77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7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②  (2 − i) + (−3 + 4i)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07D9B31-AB04-41C3-87ED-5D6DB4D1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检查：3 − 2i 中，i 的系数是多少？</a:t>
            </a:r>
          </a:p>
        </p:txBody>
      </p:sp>
    </p:spTree>
    <p:extLst>
      <p:ext uri="{BB962C8B-B14F-4D97-AF65-F5344CB8AC3E}">
        <p14:creationId xmlns:p14="http://schemas.microsoft.com/office/powerpoint/2010/main" val="813318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32A1508-BFE7-4D30-9145-56BAEC16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核对：结果和坐标能否对上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468D31A-0BEE-4FFF-B62A-7FB6ECB9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16:00—17:00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DE8E2D3-E242-4337-95D2-0BFFCA1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4315118-50AA-4D18-8E37-C39EE71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①  2 + 3i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AE419FF-52F5-4ECE-A7C2-DA31469A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对应点 (2, 3)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6C5190B-0671-4C96-B3A2-60D21CA9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②  −1 + 3i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B6C151F-0826-44DD-9BAA-995DBD8E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对应点 (−1, 3)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B4EA743-2CF4-47F8-B3AE-BA17E691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改错时，保留自己的原始步骤。</a:t>
            </a:r>
          </a:p>
        </p:txBody>
      </p:sp>
    </p:spTree>
    <p:extLst>
      <p:ext uri="{BB962C8B-B14F-4D97-AF65-F5344CB8AC3E}">
        <p14:creationId xmlns:p14="http://schemas.microsoft.com/office/powerpoint/2010/main" val="715755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69B2DC41-8F9F-4E72-9232-EBB6CBA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两个复数相乘，会出现哪些项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D2DFC3B-7A77-4F02-966C-83E591EA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17:00—18:00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52D3D20-3614-4A5A-9C76-377CE4D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E3C70BB-D5F1-413B-90DB-7170D3B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54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54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(1 + i)(2 − i)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95BEAE4-F1AF-4B42-BB26-1070745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先不合并，写出展开后的四个乘积。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481DEFC-5614-4463-A239-C2BCDBE1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每个括号中的每一项，都要与另一括号各项相乘。</a:t>
            </a:r>
          </a:p>
        </p:txBody>
      </p:sp>
    </p:spTree>
    <p:extLst>
      <p:ext uri="{BB962C8B-B14F-4D97-AF65-F5344CB8AC3E}">
        <p14:creationId xmlns:p14="http://schemas.microsoft.com/office/powerpoint/2010/main" val="813869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E6B4F3A2-82BA-4D20-A3E2-8369F38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乘法：展开、替换，再合并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1F397C6-0A90-4A11-B920-90C07F76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18:00—21:00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AE36E67-F101-421B-83A0-9891CC9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EC3254E-10C9-464D-9259-11906298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(1 + i)(2 − i)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C21B20D-CD71-4F8C-B3EE-376DA663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2 − i + 2i − i²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D932824-EE61-4FA7-B73B-EA252ED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2 − i + 2i + 1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4BBB1E6-5971-4B0F-82B6-3F9C6C8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3 + i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2929E2C-3898-44FF-96E8-D720187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四项是否齐全？i² 换成了什么？</a:t>
            </a:r>
          </a:p>
        </p:txBody>
      </p:sp>
    </p:spTree>
    <p:extLst>
      <p:ext uri="{BB962C8B-B14F-4D97-AF65-F5344CB8AC3E}">
        <p14:creationId xmlns:p14="http://schemas.microsoft.com/office/powerpoint/2010/main" val="221532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A45A35E2-322C-4B05-B291-DAA8F93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最容易丢的负号：−i²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A768106-4D4E-4D1A-992A-3AEF2A0C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21:00—23:00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694A80F-BF20-47D3-8CF3-D2BA8F83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60BAE74-0B37-4734-885B-EE3110DB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−i² = −(−1) = 1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5433FD1-B489-4BD0-BD12-A035A74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defPPr>
            <a:lvl1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1pPr>
            <a:lvl2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2pPr>
            <a:lvl3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3pPr>
            <a:lvl4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4pPr>
            <a:lvl5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5pPr>
            <a:lvl6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6pPr>
            <a:lvl7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7pPr>
            <a:lvl8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8pPr>
            <a:lvl9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5541A"/>
                </a:solidFill>
                <a:latin typeface="Cambria"/>
                <a:ea typeface="Cambria"/>
                <a:cs typeface="Cambria"/>
              </a:defRPr>
            </a:pPr>
            <a:r>
              <a:rPr sz="4050" b="0">
                <a:solidFill>
                  <a:srgbClr val="A5541A"/>
                </a:solidFill>
                <a:latin typeface="Cambria"/>
                <a:ea typeface="Cambria"/>
                <a:cs typeface="Cambria"/>
              </a:rPr>
              <a:t>(−i)² = (−i)(−i) = −1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0603345-BD13-4DA0-B796-5A894F0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两式的括号不同。先确定平方作用于谁。</a:t>
            </a:r>
          </a:p>
        </p:txBody>
      </p:sp>
    </p:spTree>
    <p:extLst>
      <p:ext uri="{BB962C8B-B14F-4D97-AF65-F5344CB8AC3E}">
        <p14:creationId xmlns:p14="http://schemas.microsoft.com/office/powerpoint/2010/main" val="6968169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8917E909-03D0-4F89-8BEB-9D505D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平方中的交叉项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C67ADA1-5ADA-4FEC-ADB9-A6B97472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23:00—25:00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76D4AC0-F295-4AEC-AF5D-E73CB6D2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6F1E379-03DA-4BC9-AF5A-2624898C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待检查的算式（课堂自编错误样例）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E605072-76B1-4028-9A9F-E626BE82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defPPr>
            <a:lvl1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1pPr>
            <a:lvl2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2pPr>
            <a:lvl3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3pPr>
            <a:lvl4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4pPr>
            <a:lvl5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5pPr>
            <a:lvl6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6pPr>
            <a:lvl7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7pPr>
            <a:lvl8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8pPr>
            <a:lvl9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2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pPr>
            <a:r>
              <a:rPr sz="4200" b="0">
                <a:solidFill>
                  <a:srgbClr val="B43E35"/>
                </a:solidFill>
                <a:latin typeface="Cambria"/>
                <a:ea typeface="Cambria"/>
                <a:cs typeface="Cambria"/>
              </a:rPr>
              <a:t>(1 + i)² = 1 + i² = 0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B8C3A57-D0D8-4807-80C7-7F765282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最早出错的是哪一个等号？漏掉了什么？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B92580B-744B-4DCB-B242-7F3EB5F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提示：把平方写成两个相同的括号相乘。</a:t>
            </a:r>
          </a:p>
        </p:txBody>
      </p:sp>
    </p:spTree>
    <p:extLst>
      <p:ext uri="{BB962C8B-B14F-4D97-AF65-F5344CB8AC3E}">
        <p14:creationId xmlns:p14="http://schemas.microsoft.com/office/powerpoint/2010/main" val="10871426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60EDC82C-DB61-4B72-B0E0-1C97386C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先尝试，再决定要什么帮助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F4B65CB-F5E1-4840-B701-A1D9256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25:00—28:00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A7352B9-7215-41FC-A595-B059501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92BB3AD-0D97-423E-B9B0-02EBC6F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52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(2 + i)(1 − i)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66CEE16-A6D8-4867-8CC0-E4B98739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先独立算2分钟，保留所有步骤。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6C2BA76-BCF0-4F0B-B0A2-5579D91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卡住时圈出：展开、替换 i²，还是合并？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6F1CF0D-F6BC-40A7-92FB-0B73710A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已经完成：换一种展开次序检查。</a:t>
            </a:r>
          </a:p>
        </p:txBody>
      </p:sp>
    </p:spTree>
    <p:extLst>
      <p:ext uri="{BB962C8B-B14F-4D97-AF65-F5344CB8AC3E}">
        <p14:creationId xmlns:p14="http://schemas.microsoft.com/office/powerpoint/2010/main" val="10223697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C0FB1A64-4D2A-4AD7-899D-2CBE0BB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给AI的一次具体求助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FBBA487-CB2F-4787-B778-3200AB8B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28:00—30:00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E45020D-E313-43C0-97B1-BE5309FB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3DE3898-4056-40AC-9B6E-5CD390CB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“我只学过初中代数，知道 i² = −1。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1399393-AC10-4A05-A1B2-D5D2DE4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我在计算 (2 + i)(1 − i)，我的步骤是……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007615C-FE5C-43F0-893A-B4985690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请先检查最早出错的一步，只给一个提示。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47C671A-1DD3-4691-9CC7-E1F1B05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等我修改后再核验，先不要给完整答案。”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35269EA-645A-4731-9241-5E19632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记录：我原来怎么写、得到什么提示、为何修改。</a:t>
            </a:r>
          </a:p>
        </p:txBody>
      </p:sp>
    </p:spTree>
    <p:extLst>
      <p:ext uri="{BB962C8B-B14F-4D97-AF65-F5344CB8AC3E}">
        <p14:creationId xmlns:p14="http://schemas.microsoft.com/office/powerpoint/2010/main" val="15673462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BE3DC25-B7E5-4E4E-9B9D-43650EA7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一条提示之后，自己完成核验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7B00AAE-1A38-4776-BA0A-AFD37AD5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30:00—32:00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2AE7AF3-C95F-4073-AEB9-9E005946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D1E40E4-CDC3-4391-946F-81C2632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课堂自编错误样例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124DA4E-F8EC-4046-A283-54D177BA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B43E35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B43E35"/>
                </a:solidFill>
                <a:latin typeface="Cambria"/>
                <a:ea typeface="Cambria"/>
                <a:cs typeface="Cambria"/>
              </a:rPr>
              <a:t>2 − 2i + i − i² = 1 − i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DE26ECD-FE39-4873-9CC9-E762BED1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检查 −i² 这一项，然后自己改写：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8B6DDA3-3383-49C0-8A18-F4997904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0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2 − 2i + i + 1 = 3 − i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36B62885-D7D2-45CA-9801-852A116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核验依据：四个乘积齐全，且 i² = −1。</a:t>
            </a:r>
          </a:p>
        </p:txBody>
      </p:sp>
    </p:spTree>
    <p:extLst>
      <p:ext uri="{BB962C8B-B14F-4D97-AF65-F5344CB8AC3E}">
        <p14:creationId xmlns:p14="http://schemas.microsoft.com/office/powerpoint/2010/main" val="3575741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71B37079-CC1E-49B5-BBAF-ADAFFE78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合上AI，独立完成新题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BDAA852-C95D-406C-A114-6D5B6A1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32:00—36:00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9AA8D3C-7253-42E3-9BEC-001AA99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1CAAE40-69CD-4050-BF3F-4EDDB63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两题都写步骤，暂不讨论。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A5B1645-B05D-4155-AB6F-466540C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7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①  (4 − 3i) + (−2 + 6i)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7811659-B1D0-4729-A0BE-E9D4BF99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0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②  (2 + i)(1 + i)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9438628-3B43-4A35-AFD0-3232E8A8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在第二题中，标出使用 i² = −1 的那一步。</a:t>
            </a:r>
          </a:p>
        </p:txBody>
      </p:sp>
    </p:spTree>
    <p:extLst>
      <p:ext uri="{BB962C8B-B14F-4D97-AF65-F5344CB8AC3E}">
        <p14:creationId xmlns:p14="http://schemas.microsoft.com/office/powerpoint/2010/main" val="1026463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28AECF61-0B8F-4B12-B5BD-4DAAAEB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核对独立练习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4823A9F-D323-4101-90F3-F0F3F0D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36:00—38:00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0059909-73DC-499A-9727-594E4FB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0289A56-E9AB-4C98-9EDA-7AFD52C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5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①  2 + 3i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66E4449-75EE-4D26-B2B8-AD929D1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②  (2 + i)(1 + i)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84DEE31-B01B-4D46-BE63-9B088ED8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2 + 2i + i + i²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7E37441-5CBB-4FDC-A470-0423648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1 + 3i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3B16B0C6-8C02-48BD-AC55-F7F61A7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如果错了：最早是哪一行？属于哪一步？</a:t>
            </a:r>
          </a:p>
        </p:txBody>
      </p:sp>
    </p:spTree>
    <p:extLst>
      <p:ext uri="{BB962C8B-B14F-4D97-AF65-F5344CB8AC3E}">
        <p14:creationId xmlns:p14="http://schemas.microsoft.com/office/powerpoint/2010/main" val="1848090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2A19C510-6F5A-4C36-A931-82691B3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回到平面：平方的结果落在哪里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EC96A79-1418-427C-A349-C50B24D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38:00—40:00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1CD6171-75BF-41F9-806F-6BAD6AC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3BBF08F-4A56-4FEC-ACF4-1556112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(1 + i)² = 1 + 2i + i² = 2i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32BA7453-38CE-4C57-A92F-BAB53282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原来的数 1 + i，对应点 (1, 1)。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CC9A7CD-8314-4A4C-96AA-CBB43A2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运算结果 2i，对应点 (0, 2)。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58B9299-CCDF-4DDC-92A4-B94DBF8B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请在纸上标点。若算成0，结果会被画在哪里？</a:t>
            </a:r>
          </a:p>
        </p:txBody>
      </p:sp>
    </p:spTree>
    <p:extLst>
      <p:ext uri="{BB962C8B-B14F-4D97-AF65-F5344CB8AC3E}">
        <p14:creationId xmlns:p14="http://schemas.microsoft.com/office/powerpoint/2010/main" val="5938025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5D3E0487-FEDE-4A48-A4F3-A728717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离堂卡：能算，也能解释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305D8D9-7B93-4698-8656-133E2C6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40:00—42:00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311CB2B-992C-4330-8615-ED82FEC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CE161DD-6118-4EAC-9A5F-1DAC692E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① i 满足什么关系？x² + 1 = 0 的两个解是什么？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04360B7-645D-461D-81C2-653EEDB3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② 计算 (1 − i)²，并写出关键一步。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A77F844-E5BD-4DDE-B04B-2FD2EC1D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③ 下次遇到新运算，你会先检查哪一步？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14AE79E-06C4-437D-A243-9E3F9684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独立完成。用证据说明自己会了什么。</a:t>
            </a:r>
          </a:p>
        </p:txBody>
      </p:sp>
    </p:spTree>
    <p:extLst>
      <p:ext uri="{BB962C8B-B14F-4D97-AF65-F5344CB8AC3E}">
        <p14:creationId xmlns:p14="http://schemas.microsoft.com/office/powerpoint/2010/main" val="12535912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4BAE00F6-1C05-46BD-A1DD-CF0BDA5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最后核对一次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8B74016-ABA7-41D4-B07A-BAB3F1F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42:00—44:00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14A628F-5FB5-436A-8BC9-BFB4C51C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ED382EA-59BB-4A00-A229-95723FF8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i² = −1       x = i 或 x = −i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CBDE5A1-DC20-42C3-9AF2-4C18C689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(1 − i)² = 1 − 2i + i²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80F8E9C-FF15-477E-AF4F-D5BAC969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6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6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= −2i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26955A5-7D86-4B78-9171-B2304094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平方展开中，交叉项和 i² 的替换都要保留。</a:t>
            </a:r>
          </a:p>
        </p:txBody>
      </p:sp>
    </p:spTree>
    <p:extLst>
      <p:ext uri="{BB962C8B-B14F-4D97-AF65-F5344CB8AC3E}">
        <p14:creationId xmlns:p14="http://schemas.microsoft.com/office/powerpoint/2010/main" val="16507947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B105DF67-551C-4E47-A971-8B6E0BCF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留下自己的学习证据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FAA92D2-638A-46DB-A2E1-5FBD3C0B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44:00—45:00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7D1B831-1527-4FCD-8F1F-6B52ABD8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C30CF3D-8E66-4CB2-B716-E29D880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我原来卡在……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AB837A0-85C0-41A6-9C90-E3EEA2D8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一条有用的提示是……，因为……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EB4F7ED-4BE7-4CF9-99FC-E5271540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现在不看AI，我能独立完成……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AEDCEB2-F847-40B7-836E-EDC2C75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6B"/>
                </a:solidFill>
                <a:latin typeface="Microsoft YaHei"/>
                <a:ea typeface="Microsoft YaHei"/>
                <a:cs typeface="Microsoft YaHei"/>
              </a:rPr>
              <a:t>课后约8分钟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69DF4DD-313F-47AB-BBEC-520397D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defPPr>
            <a:lvl1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1pPr>
            <a:lvl2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2pPr>
            <a:lvl3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3pPr>
            <a:lvl4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4pPr>
            <a:lvl5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5pPr>
            <a:lvl6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6pPr>
            <a:lvl7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7pPr>
            <a:lvl8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8pPr>
            <a:lvl9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83025"/>
                </a:solidFill>
                <a:latin typeface="Cambria"/>
                <a:ea typeface="Cambria"/>
                <a:cs typeface="Cambria"/>
              </a:defRPr>
            </a:pPr>
            <a:r>
              <a:rPr sz="2775" b="0">
                <a:solidFill>
                  <a:srgbClr val="183025"/>
                </a:solidFill>
                <a:latin typeface="Cambria"/>
                <a:ea typeface="Cambria"/>
                <a:cs typeface="Cambria"/>
              </a:rPr>
              <a:t>(2 − i) + (−3 + 4i)     (1 + 2i)(1 − i)</a:t>
            </a:r>
          </a:p>
        </p:txBody>
      </p:sp>
    </p:spTree>
    <p:extLst>
      <p:ext uri="{BB962C8B-B14F-4D97-AF65-F5344CB8AC3E}">
        <p14:creationId xmlns:p14="http://schemas.microsoft.com/office/powerpoint/2010/main" val="129156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2026-10-23T00:36:32.8770000Z</dcterms:created>
  <dcterms:modified xsi:type="dcterms:W3CDTF">2026-10-23T00:36:32.8770000Z</dcterms:modified>
</coreProperties>
</file>