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82bf7e5f2247d1" /><Relationship Type="http://schemas.openxmlformats.org/officeDocument/2006/relationships/extended-properties" Target="/docProps/app.xml" Id="Re2fb8f604cb24c0a" /><Relationship Type="http://schemas.openxmlformats.org/officeDocument/2006/relationships/officeDocument" Target="/ppt/presentation.xml" Id="Rca81890bc7f046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42c92261ee43fc"/>
  </p:sldMasterIdLst>
  <p:notesMasterIdLst>
    <p:notesMasterId xmlns:r="http://schemas.openxmlformats.org/officeDocument/2006/relationships" r:id="R6dc5ae8bae6e4498"/>
  </p:notesMasterIdLst>
  <p:sldIdLst>
    <p:sldId xmlns:r="http://schemas.openxmlformats.org/officeDocument/2006/relationships" id="256" r:id="Ra8dc4c41617e43b1"/>
    <p:sldId xmlns:r="http://schemas.openxmlformats.org/officeDocument/2006/relationships" id="257" r:id="R606d627e18d44dbe"/>
    <p:sldId xmlns:r="http://schemas.openxmlformats.org/officeDocument/2006/relationships" id="258" r:id="R6db74cb8bcc54634"/>
    <p:sldId xmlns:r="http://schemas.openxmlformats.org/officeDocument/2006/relationships" id="259" r:id="Rb9b4e9ae711d4d83"/>
    <p:sldId xmlns:r="http://schemas.openxmlformats.org/officeDocument/2006/relationships" id="260" r:id="R4aa582f2404c4ada"/>
    <p:sldId xmlns:r="http://schemas.openxmlformats.org/officeDocument/2006/relationships" id="261" r:id="R9bd767e3ab534ccc"/>
    <p:sldId xmlns:r="http://schemas.openxmlformats.org/officeDocument/2006/relationships" id="262" r:id="Rb58cadece7a844d8"/>
    <p:sldId xmlns:r="http://schemas.openxmlformats.org/officeDocument/2006/relationships" id="263" r:id="R872135bda56e4088"/>
    <p:sldId xmlns:r="http://schemas.openxmlformats.org/officeDocument/2006/relationships" id="264" r:id="R3f11eca8c7ab403c"/>
    <p:sldId xmlns:r="http://schemas.openxmlformats.org/officeDocument/2006/relationships" id="265" r:id="R2b104ecd9067421a"/>
    <p:sldId xmlns:r="http://schemas.openxmlformats.org/officeDocument/2006/relationships" id="266" r:id="R135a0fc58f5845ee"/>
    <p:sldId xmlns:r="http://schemas.openxmlformats.org/officeDocument/2006/relationships" id="267" r:id="R05a3a553bbc84da0"/>
    <p:sldId xmlns:r="http://schemas.openxmlformats.org/officeDocument/2006/relationships" id="268" r:id="R19387466295c4b42"/>
    <p:sldId xmlns:r="http://schemas.openxmlformats.org/officeDocument/2006/relationships" id="269" r:id="R828263bd33b0417b"/>
    <p:sldId xmlns:r="http://schemas.openxmlformats.org/officeDocument/2006/relationships" id="270" r:id="R6246e206b3204321"/>
    <p:sldId xmlns:r="http://schemas.openxmlformats.org/officeDocument/2006/relationships" id="271" r:id="R72e5f0fcd38c4780"/>
    <p:sldId xmlns:r="http://schemas.openxmlformats.org/officeDocument/2006/relationships" id="272" r:id="R98b3f09b6fcb4647"/>
    <p:sldId xmlns:r="http://schemas.openxmlformats.org/officeDocument/2006/relationships" id="273" r:id="R59042475983642d7"/>
    <p:sldId xmlns:r="http://schemas.openxmlformats.org/officeDocument/2006/relationships" id="274" r:id="R694a5b064d6a47a4"/>
    <p:sldId xmlns:r="http://schemas.openxmlformats.org/officeDocument/2006/relationships" id="275" r:id="R49bb46ca25544139"/>
    <p:sldId xmlns:r="http://schemas.openxmlformats.org/officeDocument/2006/relationships" id="276" r:id="R7acbed6172ed4e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144fdd719041d8" /><Relationship Type="http://schemas.openxmlformats.org/officeDocument/2006/relationships/slideMaster" Target="/ppt/slideMasters/slideMaster1.xml" Id="R7e42c92261ee43fc" /><Relationship Type="http://schemas.openxmlformats.org/officeDocument/2006/relationships/notesMaster" Target="/ppt/notesMasters/notesMaster1.xml" Id="R6dc5ae8bae6e4498" /><Relationship Type="http://schemas.openxmlformats.org/officeDocument/2006/relationships/presProps" Target="/ppt/presProps.xml" Id="R9274b4a81c1d4702" /><Relationship Type="http://schemas.openxmlformats.org/officeDocument/2006/relationships/tableStyles" Target="/ppt/tableStyles.xml" Id="Re314cefdfd3f4a2a" /><Relationship Type="http://schemas.openxmlformats.org/officeDocument/2006/relationships/slide" Target="/ppt/slides/slide1.xml" Id="Ra8dc4c41617e43b1" /><Relationship Type="http://schemas.openxmlformats.org/officeDocument/2006/relationships/slide" Target="/ppt/slides/slide2.xml" Id="R606d627e18d44dbe" /><Relationship Type="http://schemas.openxmlformats.org/officeDocument/2006/relationships/slide" Target="/ppt/slides/slide3.xml" Id="R6db74cb8bcc54634" /><Relationship Type="http://schemas.openxmlformats.org/officeDocument/2006/relationships/slide" Target="/ppt/slides/slide4.xml" Id="Rb9b4e9ae711d4d83" /><Relationship Type="http://schemas.openxmlformats.org/officeDocument/2006/relationships/slide" Target="/ppt/slides/slide5.xml" Id="R4aa582f2404c4ada" /><Relationship Type="http://schemas.openxmlformats.org/officeDocument/2006/relationships/slide" Target="/ppt/slides/slide6.xml" Id="R9bd767e3ab534ccc" /><Relationship Type="http://schemas.openxmlformats.org/officeDocument/2006/relationships/slide" Target="/ppt/slides/slide7.xml" Id="Rb58cadece7a844d8" /><Relationship Type="http://schemas.openxmlformats.org/officeDocument/2006/relationships/slide" Target="/ppt/slides/slide8.xml" Id="R872135bda56e4088" /><Relationship Type="http://schemas.openxmlformats.org/officeDocument/2006/relationships/slide" Target="/ppt/slides/slide9.xml" Id="R3f11eca8c7ab403c" /><Relationship Type="http://schemas.openxmlformats.org/officeDocument/2006/relationships/slide" Target="/ppt/slides/slide10.xml" Id="R2b104ecd9067421a" /><Relationship Type="http://schemas.openxmlformats.org/officeDocument/2006/relationships/slide" Target="/ppt/slides/slide11.xml" Id="R135a0fc58f5845ee" /><Relationship Type="http://schemas.openxmlformats.org/officeDocument/2006/relationships/slide" Target="/ppt/slides/slide12.xml" Id="R05a3a553bbc84da0" /><Relationship Type="http://schemas.openxmlformats.org/officeDocument/2006/relationships/slide" Target="/ppt/slides/slide13.xml" Id="R19387466295c4b42" /><Relationship Type="http://schemas.openxmlformats.org/officeDocument/2006/relationships/slide" Target="/ppt/slides/slide14.xml" Id="R828263bd33b0417b" /><Relationship Type="http://schemas.openxmlformats.org/officeDocument/2006/relationships/slide" Target="/ppt/slides/slide15.xml" Id="R6246e206b3204321" /><Relationship Type="http://schemas.openxmlformats.org/officeDocument/2006/relationships/slide" Target="/ppt/slides/slide16.xml" Id="R72e5f0fcd38c4780" /><Relationship Type="http://schemas.openxmlformats.org/officeDocument/2006/relationships/slide" Target="/ppt/slides/slide17.xml" Id="R98b3f09b6fcb4647" /><Relationship Type="http://schemas.openxmlformats.org/officeDocument/2006/relationships/slide" Target="/ppt/slides/slide18.xml" Id="R59042475983642d7" /><Relationship Type="http://schemas.openxmlformats.org/officeDocument/2006/relationships/slide" Target="/ppt/slides/slide19.xml" Id="R694a5b064d6a47a4" /><Relationship Type="http://schemas.openxmlformats.org/officeDocument/2006/relationships/slide" Target="/ppt/slides/slide20.xml" Id="R49bb46ca25544139" /><Relationship Type="http://schemas.openxmlformats.org/officeDocument/2006/relationships/slide" Target="/ppt/slides/slide21.xml" Id="R7acbed6172ed4e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d97a55fe6a46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19229e47e54d2c" /><Relationship Type="http://schemas.openxmlformats.org/officeDocument/2006/relationships/notesMaster" Target="/ppt/notesMasters/notesMaster1.xml" Id="R662e1960fc6644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84102bb59f4d31" /><Relationship Type="http://schemas.openxmlformats.org/officeDocument/2006/relationships/notesMaster" Target="/ppt/notesMasters/notesMaster1.xml" Id="R90dd733ccee143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59aeaf2b334d13" /><Relationship Type="http://schemas.openxmlformats.org/officeDocument/2006/relationships/notesMaster" Target="/ppt/notesMasters/notesMaster1.xml" Id="Ra2a288fe60d448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fefd0dfe6e4a9c" /><Relationship Type="http://schemas.openxmlformats.org/officeDocument/2006/relationships/notesMaster" Target="/ppt/notesMasters/notesMaster1.xml" Id="R2f908c3510224a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2e628da7a44fda" /><Relationship Type="http://schemas.openxmlformats.org/officeDocument/2006/relationships/notesMaster" Target="/ppt/notesMasters/notesMaster1.xml" Id="Rfcc78f1a79664e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09ef3f494240ba" /><Relationship Type="http://schemas.openxmlformats.org/officeDocument/2006/relationships/notesMaster" Target="/ppt/notesMasters/notesMaster1.xml" Id="R436b06ade1d946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d3fe067a68477b" /><Relationship Type="http://schemas.openxmlformats.org/officeDocument/2006/relationships/notesMaster" Target="/ppt/notesMasters/notesMaster1.xml" Id="R780e279e85aa49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1f49e38a8f4200" /><Relationship Type="http://schemas.openxmlformats.org/officeDocument/2006/relationships/notesMaster" Target="/ppt/notesMasters/notesMaster1.xml" Id="Rae81073610fd41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5f88b3276d4ece" /><Relationship Type="http://schemas.openxmlformats.org/officeDocument/2006/relationships/notesMaster" Target="/ppt/notesMasters/notesMaster1.xml" Id="Rf4cfeabebaf048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f9bbb4507d4e9d" /><Relationship Type="http://schemas.openxmlformats.org/officeDocument/2006/relationships/notesMaster" Target="/ppt/notesMasters/notesMaster1.xml" Id="R356c204ad76945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427d2072c5416a" /><Relationship Type="http://schemas.openxmlformats.org/officeDocument/2006/relationships/notesMaster" Target="/ppt/notesMasters/notesMaster1.xml" Id="R80ee376332fd43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04173acad941c7" /><Relationship Type="http://schemas.openxmlformats.org/officeDocument/2006/relationships/notesMaster" Target="/ppt/notesMasters/notesMaster1.xml" Id="R34072a0eac8a42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a6013a70b464f8b" /><Relationship Type="http://schemas.openxmlformats.org/officeDocument/2006/relationships/notesMaster" Target="/ppt/notesMasters/notesMaster1.xml" Id="R9e90ffabe82e444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3aad9ef4d349a8" /><Relationship Type="http://schemas.openxmlformats.org/officeDocument/2006/relationships/notesMaster" Target="/ppt/notesMasters/notesMaster1.xml" Id="Rad9c400abc1c4b3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1867a8f9429482e" /><Relationship Type="http://schemas.openxmlformats.org/officeDocument/2006/relationships/notesMaster" Target="/ppt/notesMasters/notesMaster1.xml" Id="Rc9de71e931ec441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6c16ee2dad473e" /><Relationship Type="http://schemas.openxmlformats.org/officeDocument/2006/relationships/notesMaster" Target="/ppt/notesMasters/notesMaster1.xml" Id="Ra2c2f3cfe02c438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052e87d05ba4a51" /><Relationship Type="http://schemas.openxmlformats.org/officeDocument/2006/relationships/notesMaster" Target="/ppt/notesMasters/notesMaster1.xml" Id="R9abecd4253744ee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acd232dbd8940cd" /><Relationship Type="http://schemas.openxmlformats.org/officeDocument/2006/relationships/notesMaster" Target="/ppt/notesMasters/notesMaster1.xml" Id="R1a40b45b0e87457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3e47345e7234255" /><Relationship Type="http://schemas.openxmlformats.org/officeDocument/2006/relationships/notesMaster" Target="/ppt/notesMasters/notesMaster1.xml" Id="R3ddda097a5e146c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079b621269748d2" /><Relationship Type="http://schemas.openxmlformats.org/officeDocument/2006/relationships/notesMaster" Target="/ppt/notesMasters/notesMaster1.xml" Id="R76df46276b7a467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cb806e7094245db" /><Relationship Type="http://schemas.openxmlformats.org/officeDocument/2006/relationships/notesMaster" Target="/ppt/notesMasters/notesMaster1.xml" Id="R5c538f184cbc49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时间：00:00—00:30</a:t>
            </a:r>
          </a:p>
          <a:p xmlns:a="http://schemas.openxmlformats.org/drawingml/2006/main">
            <a:r>
              <a:t>本课以几何问题为主体。上次已经用乘i描述直角旋转，今天把这一动作与位移、中点组合起来。目标是解释一个对任意三角形都成立的关系。原运算版是上一轮初稿，本版按教师明确的几何主题重做。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参考：Tristan Needham, Visual Complex Analysis, 25th Anniversary Edition, OUP, 2023, §1.3.3, pp.18–22，尤其图1.12b；https://api.pageplace.de/preview/DT0400.9780192695451_A46510629/preview-9780192695451_A46510629.pdf。只节选图1.12的两个构型。以下坐标选择、代数推导、数值任务及45分钟教学组织为本次独立改编，不复制原书长篇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时间：00:30—04:00</a:t>
            </a:r>
          </a:p>
          <a:p xmlns:a="http://schemas.openxmlformats.org/drawingml/2006/main">
            <a:r>
              <a:t>图1.12b来自指定参考书。先读条件：非退化三角形的两边外侧分别作正方形，中心为p、s，第三边中点为m。图中已标直角，活动任务是解释它为何必然成立，不能当作盲测猜想。学生先用纸笔尝试连接中心、用全等或旋转分析1分钟。初等解法存在，不能宣称初中方法不可能解决。图中小写标号也用来表示点对应的复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参考：Tristan Needham, Visual Complex Analysis, 25th Anniversary Edition, OUP, 2023, §1.3.3, pp.18–22，尤其图1.12b；https://api.pageplace.de/preview/DT0400.9780192695451_A46510629/preview-9780192695451_A46510629.pdf。只节选图1.12的两个构型。以下坐标选择、代数推导、数值任务及45分钟教学组织为本次独立改编，不复制原书长篇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时间：04:00—07:00</a:t>
            </a:r>
          </a:p>
          <a:p xmlns:a="http://schemas.openxmlformats.org/drawingml/2006/main">
            <a:r>
              <a:t>回顾a+bi与点对应。点的位置是a、b，从A到B的有向位移是b−a，不是a−b。例A=1+i、B=4+3i，位移3+2i。口头说出向右3向上2。本页不引入向量公理；把位移理解为带方向的路。长度与方向的比较都应比较位移。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参考：Tristan Needham, Visual Complex Analysis, 25th Anniversary Edition, OUP, 2023, §1.3.3, pp.18–22，尤其图1.12b；https://api.pageplace.de/preview/DT0400.9780192695451_A46510629/preview-9780192695451_A46510629.pdf。只节选图1.12的两个构型。以下坐标选择、代数推导、数值任务及45分钟教学组织为本次独立改编，不复制原书长篇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时间：07:00—10:00</a:t>
            </a:r>
          </a:p>
          <a:p xmlns:a="http://schemas.openxmlformats.org/drawingml/2006/main">
            <a:r>
              <a:t>上次iz仅是绕原点逆时针90°。绕A(a)旋转：先计算z−a，再乘i，最后加a回到原坐标系。公式w=a+i(z−a)。以a=1+i,z=3+i举例，w=1+3i；错用iz会得−1+3i。来源为原书p.20旋转分解思想，本课只取90°，不需要指数或三角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参考：Tristan Needham, Visual Complex Analysis, 25th Anniversary Edition, OUP, 2023, §1.3.3, pp.18–22，尤其图1.12b；https://api.pageplace.de/preview/DT0400.9780192695451_A46510629/preview-9780192695451_A46510629.pdf。只节选图1.12的两个构型。以下坐标选择、代数推导、数值任务及45分钟教学组织为本次独立改编，不复制原书长篇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时间：10:00—12:00</a:t>
            </a:r>
          </a:p>
          <a:p xmlns:a="http://schemas.openxmlformats.org/drawingml/2006/main">
            <a:r>
              <a:t>自编基础题：A(1,1)，Z(3,1)，绕A逆时针90°的终点W(1,3)。先独立1分钟，随后口头核对，答案写在备注不提前显示。目标是识别位置与位移，难度基础。若得(−1,3)，说明误用了iz。评价：明确使用z−a，且最后加回a，各1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参考：Tristan Needham, Visual Complex Analysis, 25th Anniversary Edition, OUP, 2023, §1.3.3, pp.18–22，尤其图1.12b；https://api.pageplace.de/preview/DT0400.9780192695451_A46510629/preview-9780192695451_A46510629.pdf。只节选图1.12的两个构型。以下坐标选择、代数推导、数值任务及45分钟教学组织为本次独立改编，不复制原书长篇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时间：12:00—16:00</a:t>
            </a:r>
          </a:p>
          <a:p xmlns:a="http://schemas.openxmlformats.org/drawingml/2006/main">
            <a:r>
              <a:t>先以水平边作口头手势，再回到任意方向有向边AB。从A到边中点走(b−a)/2；中点到正方形中心的位移与半条边等长垂直。正方形在有向边AB左侧时取+i，右侧取−i。因此中心=(a+b)/2±i(b−a)/2。强调“左右”相对于有向边，不能只看屏幕上方或下方。此页为主问题唯一新构造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参考：Tristan Needham, Visual Complex Analysis, 25th Anniversary Edition, OUP, 2023, §1.3.3, pp.18–22，尤其图1.12b；https://api.pageplace.de/preview/DT0400.9780192695451_A46510629/preview-9780192695451_A46510629.pdf。只节选图1.12的两个构型。以下坐标选择、代数推导、数值任务及45分钟教学组织为本次独立改编，不复制原书长篇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时间：16:00—18:00</a:t>
            </a:r>
          </a:p>
          <a:p xmlns:a="http://schemas.openxmlformats.org/drawingml/2006/main">
            <a:r>
              <a:t>重新展示同一构型便于追踪，不把同一图当独立证据。三角形ABC按顺时针排列，A取作原点，B、C对应b、c；即Im(conj(b)c)&lt;0，只供教师理解，不给学生新术语。改变坐标原点不改变线段长度与夹角，因此选择a=0不损失一般性。图中A、B、C是本课加注，原书p、s、m标号保留。AB外侧在有向AB左侧，AC外侧在有向AC右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参考：Tristan Needham, Visual Complex Analysis, 25th Anniversary Edition, OUP, 2023, §1.3.3, pp.18–22，尤其图1.12b；https://api.pageplace.de/preview/DT0400.9780192695451_A46510629/preview-9780192695451_A46510629.pdf。只节选图1.12的两个构型。以下坐标选择、代数推导、数值任务及45分钟教学组织为本次独立改编，不复制原书长篇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时间：18:00—20:00</a:t>
            </a:r>
          </a:p>
          <a:p xmlns:a="http://schemas.openxmlformats.org/drawingml/2006/main">
            <a:r>
              <a:t>A=0，AB位移为b，左侧中心由b/2+i b/2得到。让学生分别解释两个加数，而不是只抄公式。外侧取+i因为ABC按顺时针，此处若改为逆时针，符号必须同步改变。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参考：Tristan Needham, Visual Complex Analysis, 25th Anniversary Edition, OUP, 2023, §1.3.3, pp.18–22，尤其图1.12b；https://api.pageplace.de/preview/DT0400.9780192695451_A46510629/preview-9780192695451_A46510629.pdf。只节选图1.12的两个构型。以下坐标选择、代数推导、数值任务及45分钟教学组织为本次独立改编，不复制原书长篇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时间：20:00—22:00</a:t>
            </a:r>
          </a:p>
          <a:p xmlns:a="http://schemas.openxmlformats.org/drawingml/2006/main">
            <a:r>
              <a:t>AC外侧位于有向AC右侧，故s=c/2−ic/2。顺时针90°对应−i，可用−i·1=−i检验。让学生对照图指出为什么此处不能沿用+i。目标为方向表达，难度中等，易错是两个中心都同号。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参考：Tristan Needham, Visual Complex Analysis, 25th Anniversary Edition, OUP, 2023, §1.3.3, pp.18–22，尤其图1.12b；https://api.pageplace.de/preview/DT0400.9780192695451_A46510629/preview-9780192695451_A46510629.pdf。只节选图1.12的两个构型。以下坐标选择、代数推导、数值任务及45分钟教学组织为本次独立改编，不复制原书长篇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时间：22:00—23:00</a:t>
            </a:r>
          </a:p>
          <a:p xmlns:a="http://schemas.openxmlformats.org/drawingml/2006/main">
            <a:r>
              <a:t>m=(b+c)/2，因为横纵坐标分别取平均。请学生把三个表达式放在同一张纸上，下一步要相减而不是比较p和s。避免将复数中点公式背成脱离坐标的规则。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参考：Tristan Needham, Visual Complex Analysis, 25th Anniversary Edition, OUP, 2023, §1.3.3, pp.18–22，尤其图1.12b；https://api.pageplace.de/preview/DT0400.9780192695451_A46510629/preview-9780192695451_A46510629.pdf。只节选图1.12的两个构型。以下坐标选择、代数推导、数值任务及45分钟教学组织为本次独立改编，不复制原书长篇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时间：23:00—25:00</a:t>
            </a:r>
          </a:p>
          <a:p xmlns:a="http://schemas.openxmlformats.org/drawingml/2006/main">
            <a:r>
              <a:t>MP的位移是p−m，MS的位移是s−m。本课方向下目标s−m=i(p−m)。非退化三角形保证这两段非零，故垂直有定义。由等式得两位移等长且相差逆时针90°。不能写s=ip，因为那会把旋转中心错设为原点。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参考：Tristan Needham, Visual Complex Analysis, 25th Anniversary Edition, OUP, 2023, §1.3.3, pp.18–22，尤其图1.12b；https://api.pageplace.de/preview/DT0400.9780192695451_A46510629/preview-9780192695451_A46510629.pdf。只节选图1.12的两个构型。以下坐标选择、代数推导、数值任务及45分钟教学组织为本次独立改编，不复制原书长篇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时间：25:00—28:00</a:t>
            </a:r>
          </a:p>
          <a:p xmlns:a="http://schemas.openxmlformats.org/drawingml/2006/main">
            <a:r>
              <a:t>学生先把p−m化简，教师再展示另一式。2(p−m)=b+ib−b−c=ib−c；2(s−m)=c−ic−b−c=−b−ic。乘i得i(ib−c)=−b−ic。只用分配律和i²=−1，不需一般复数乘法公式，不展开模长和斜率。保留学生补出−b这一项的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参考：Tristan Needham, Visual Complex Analysis, 25th Anniversary Edition, OUP, 2023, §1.3.3, pp.18–22，尤其图1.12b；https://api.pageplace.de/preview/DT0400.9780192695451_A46510629/preview-9780192695451_A46510629.pdf。只节选图1.12的两个构型。以下坐标选择、代数推导、数值任务及45分钟教学组织为本次独立改编，不复制原书长篇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时间：28:00—30:00</a:t>
            </a:r>
          </a:p>
          <a:p xmlns:a="http://schemas.openxmlformats.org/drawingml/2006/main">
            <a:r>
              <a:t>回到最初图形，邀请学生完整复述：从m到p的位移乘i，就得到从m到s的位移；长度不变，方向逆时针90°。学生必须说旋转中心m，不能说绕A。图中p与s本身不满足s=ip，除非m=0。此处构型重复是有意保持推导标号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参考：Tristan Needham, Visual Complex Analysis, 25th Anniversary Edition, OUP, 2023, §1.3.3, pp.18–22，尤其图1.12b；https://api.pageplace.de/preview/DT0400.9780192695451_A46510629/preview-9780192695451_A46510629.pdf。只节选图1.12的两个构型。以下坐标选择、代数推导、数值任务及45分钟教学组织为本次独立改编，不复制原书长篇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时间：30:00—33:00</a:t>
            </a:r>
          </a:p>
          <a:p xmlns:a="http://schemas.openxmlformats.org/drawingml/2006/main">
            <a:r>
              <a:t>自编支持练习，ABC顺时针非退化：A=0,B=4+2i,C=6−2i。先让学生独立算中心与中点；若困难，先只算p。参考p=1+3i,s=2−4i,m=5；p−m=−4+3i，s−m=−3−4i。难度中等。评价：三个位置各1分，位移相减与乘i关系各1分，说明一次数值核验不能替代一般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参考：Tristan Needham, Visual Complex Analysis, 25th Anniversary Edition, OUP, 2023, §1.3.3, pp.18–22，尤其图1.12b；https://api.pageplace.de/preview/DT0400.9780192695451_A46510629/preview-9780192695451_A46510629.pdf。只节选图1.12的两个构型。以下坐标选择、代数推导、数值任务及45分钟教学组织为本次独立改编，不复制原书长篇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时间：33:00—34:00</a:t>
            </a:r>
          </a:p>
          <a:p xmlns:a="http://schemas.openxmlformats.org/drawingml/2006/main">
            <a:r>
              <a:t>三个中心位置的计算参见上一页备注。位移−4+3i乘i得到−3−4i，平方长度均25，因此两线段都长5。长度核验可以佐证运算，但单凭等长不能说明垂直；真正解释方向的是乘i关系。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参考：Tristan Needham, Visual Complex Analysis, 25th Anniversary Edition, OUP, 2023, §1.3.3, pp.18–22，尤其图1.12b；https://api.pageplace.de/preview/DT0400.9780192695451_A46510629/preview-9780192695451_A46510629.pdf。只节选图1.12的两个构型。以下坐标选择、代数推导、数值任务及45分钟教学组织为本次独立改编，不复制原书长篇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时间：34:00—36:00</a:t>
            </a:r>
          </a:p>
          <a:p xmlns:a="http://schemas.openxmlformats.org/drawingml/2006/main">
            <a:r>
              <a:t>课堂自编错误样例，非真实AI回答。待检查“以m为中心逆时针旋转90°，所以s=ip”漏掉中心m。正确s−m=i(p−m)。教师投屏仅输入这句匿名样例，请求一个检查问题；最多等30秒，没网则教师直接问“i乘的是点的位置还是从m出发的位移？”不用学生身份和整本教材。回答是否可靠以旋转中心及算式为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参考：Tristan Needham, Visual Complex Analysis, 25th Anniversary Edition, OUP, 2023, §1.3.3, pp.18–22，尤其图1.12b；https://api.pageplace.de/preview/DT0400.9780192695451_A46510629/preview-9780192695451_A46510629.pdf。只节选图1.12的两个构型。以下坐标选择、代数推导、数值任务及45分钟教学组织为本次独立改编，不复制原书长篇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时间：36:00—39:00</a:t>
            </a:r>
          </a:p>
          <a:p xmlns:a="http://schemas.openxmlformats.org/drawingml/2006/main">
            <a:r>
              <a:t>独立3分钟，新数据A=0,B=4,C=2−2i，仍是顺时针非退化三角形。答案p=2+2i，s=−2i，m=3−i；p−m=−1+3i，s−m=−3−i。6分：三个位置各1分，两个位移共1分，关系1分，几何解释1分。基础支持仅给中心公式，不直接给数值；教师如提供公式应记录为有提示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参考：Tristan Needham, Visual Complex Analysis, 25th Anniversary Edition, OUP, 2023, §1.3.3, pp.18–22，尤其图1.12b；https://api.pageplace.de/preview/DT0400.9780192695451_A46510629/preview-9780192695451_A46510629.pdf。只节选图1.12的两个构型。以下坐标选择、代数推导、数值任务及45分钟教学组织为本次独立改编，不复制原书长篇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时间：39:00—40:00</a:t>
            </a:r>
          </a:p>
          <a:p xmlns:a="http://schemas.openxmlformats.org/drawingml/2006/main">
            <a:r>
              <a:t>学生保留原始步骤，再核对。三个位置与两位移见式。s−m=i(p−m)说明绕m逆时针90°，两线段等长且垂直。若中心同号错误，回到有向边左右侧；若位置对位移错，回到终点减起点。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参考：Tristan Needham, Visual Complex Analysis, 25th Anniversary Edition, OUP, 2023, §1.3.3, pp.18–22，尤其图1.12b；https://api.pageplace.de/preview/DT0400.9780192695451_A46510629/preview-9780192695451_A46510629.pdf。只节选图1.12的两个构型。以下坐标选择、代数推导、数值任务及45分钟教学组织为本次独立改编，不复制原书长篇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时间：40:00—42:00</a:t>
            </a:r>
          </a:p>
          <a:p xmlns:a="http://schemas.openxmlformats.org/drawingml/2006/main">
            <a:r>
              <a:t>来源原书图1.12a及第2课附加探究。这里明确是回扣，不当作全新定理。对逆时针凸四边形ABCD，在四边外侧作正方形，中心P,Q,R,S。取BD中点M：把四边形分成ABD与CBD，应用今日小结论有S−M=−i(P−M)，R−M=i(Q−M)，于是i(R−P)=S−Q。故PR与QS等长垂直。原书图方向、字母不同，只作构型展示，图中大写A,B是连线位移标记，并非本课顶点名；不要混用。课堂只口头介绍“沿对角线分成两个三角形”，完整拼接作为选做，避免超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参考：Tristan Needham, Visual Complex Analysis, 25th Anniversary Edition, OUP, 2023, §1.3.3, pp.18–22，尤其图1.12b；https://api.pageplace.de/preview/DT0400.9780192695451_A46510629/preview-9780192695451_A46510629.pdf。只节选图1.12的两个构型。以下坐标选择、代数推导、数值任务及45分钟教学组织为本次独立改编，不复制原书长篇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时间：42:00—44:00</a:t>
            </a:r>
          </a:p>
          <a:p xmlns:a="http://schemas.openxmlformats.org/drawingml/2006/main">
            <a:r>
              <a:t>离堂口头或纸面解释，不再加繁琐计算。①比较两条线段应写终点减起点；②带i的位移等式同时表示等长与90°；③中点条件使公式里b、c消去；④公式是对几何条件的翻译，画图与一般推导互相校验。请学生选择一条完整解释，不要求背五个公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参考：Tristan Needham, Visual Complex Analysis, 25th Anniversary Edition, OUP, 2023, §1.3.3, pp.18–22，尤其图1.12b；https://api.pageplace.de/preview/DT0400.9780192695451_A46510629/preview-9780192695451_A46510629.pdf。只节选图1.12的两个构型。以下坐标选择、代数推导、数值任务及45分钟教学组织为本次独立改编，不复制原书长篇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时间：44:00—45:00</a:t>
            </a:r>
          </a:p>
          <a:p xmlns:a="http://schemas.openxmlformats.org/drawingml/2006/main">
            <a:r>
              <a:t>必做约8分钟：用自己的图和语言解释中心公式与关键位移等式，标注AI支持部分和独立完成部分。选做：一般点T=t替代中点m，若s−t=i(p−t)，代入得(1−i)t=s−ip=(1−i)(b+c)/2，所以t=m，且三角形非退化。此为独立推导的进一步探究，不谎称原书练习原文。另可尝试前页四边形拼接。参考书仅作为教师拓展，不要求学生阅读整本英文教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参考：Tristan Needham, Visual Complex Analysis, 25th Anniversary Edition, OUP, 2023, §1.3.3, pp.18–22，尤其图1.12b；https://api.pageplace.de/preview/DT0400.9780192695451_A46510629/preview-9780192695451_A46510629.pdf。只节选图1.12的两个构型。以下坐标选择、代数推导、数值任务及45分钟教学组织为本次独立改编，不复制原书长篇正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bc4e5b669b42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78b3ac7d2241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5e41c394b546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1ce0d886cf47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4a86e85678490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ba52d2ab9f4a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E8BE32-2CD9-4918-AB86-31A4FE1C10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9635A44-CEA6-40DE-92E3-8105B6DBD15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C98E11F-DF89-4724-AB7D-34A3547599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2A4B6A-041E-433D-8BF4-F8A4E77B9B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562EFA2-0B42-4BE1-B125-5DFC9B6A33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C4A5C2-7A69-4F7E-8ECC-C62E519841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8687AD-EBD3-44A9-8053-FA76E03B54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9C83A3-6262-41E7-98BD-543045C865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AB48E3-0F32-43A1-BC68-AAB07B3EE7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B390DD-5278-4737-A6B4-E6AE1098C5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c8bff7df20487f" /><Relationship Type="http://schemas.openxmlformats.org/officeDocument/2006/relationships/slideLayout" Target="/ppt/slideLayouts/slideLayout1.xml" Id="R6caa3f64f6c14954" /><Relationship Type="http://schemas.openxmlformats.org/officeDocument/2006/relationships/slideLayout" Target="/ppt/slideLayouts/slideLayout2.xml" Id="R90e3d4cc42004907" /><Relationship Type="http://schemas.openxmlformats.org/officeDocument/2006/relationships/slideLayout" Target="/ppt/slideLayouts/slideLayout3.xml" Id="R9878da098b3e4655" /><Relationship Type="http://schemas.openxmlformats.org/officeDocument/2006/relationships/slideLayout" Target="/ppt/slideLayouts/slideLayout4.xml" Id="Rbb66678def874e0b" /><Relationship Type="http://schemas.openxmlformats.org/officeDocument/2006/relationships/slideLayout" Target="/ppt/slideLayouts/slideLayout5.xml" Id="Ra8cb10224d7a4911" /><Relationship Type="http://schemas.openxmlformats.org/officeDocument/2006/relationships/slideLayout" Target="/ppt/slideLayouts/slideLayout6.xml" Id="R647f17b4755f4f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aa3f64f6c14954"/>
    <p:sldLayoutId xmlns:r="http://schemas.openxmlformats.org/officeDocument/2006/relationships" id="2147483650" r:id="R90e3d4cc42004907"/>
    <p:sldLayoutId xmlns:r="http://schemas.openxmlformats.org/officeDocument/2006/relationships" id="2147483651" r:id="R9878da098b3e4655"/>
    <p:sldLayoutId xmlns:r="http://schemas.openxmlformats.org/officeDocument/2006/relationships" id="2147483652" r:id="Rbb66678def874e0b"/>
    <p:sldLayoutId xmlns:r="http://schemas.openxmlformats.org/officeDocument/2006/relationships" id="2147483653" r:id="Ra8cb10224d7a4911"/>
    <p:sldLayoutId xmlns:r="http://schemas.openxmlformats.org/officeDocument/2006/relationships" id="2147483654" r:id="R647f17b4755f4f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52ef1cee9e45a1" /><Relationship Type="http://schemas.openxmlformats.org/officeDocument/2006/relationships/image" Target="/ppt/media/image.jpeg" Id="R61a2ef0137e742e9" /><Relationship Type="http://schemas.openxmlformats.org/officeDocument/2006/relationships/notesSlide" Target="/ppt/notesSlides/notesSlide1.xml" Id="R7b6c23ff59e342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24ab8b7c2a485d" /><Relationship Type="http://schemas.openxmlformats.org/officeDocument/2006/relationships/image" Target="/ppt/media/image.png" Id="Ra4e498de607a4899" /><Relationship Type="http://schemas.openxmlformats.org/officeDocument/2006/relationships/notesSlide" Target="/ppt/notesSlides/notesSlide2.xml" Id="R93c4be70b07b4e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92e4ae9cc04b22" /><Relationship Type="http://schemas.openxmlformats.org/officeDocument/2006/relationships/notesSlide" Target="/ppt/notesSlides/notesSlide3.xml" Id="R86c6cc3b876949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56984b21834cf1" /><Relationship Type="http://schemas.openxmlformats.org/officeDocument/2006/relationships/notesSlide" Target="/ppt/notesSlides/notesSlide4.xml" Id="R868e9281ef924e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b759422190469d" /><Relationship Type="http://schemas.openxmlformats.org/officeDocument/2006/relationships/notesSlide" Target="/ppt/notesSlides/notesSlide5.xml" Id="R54d6b220f96a4b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87e276e819489f" /><Relationship Type="http://schemas.openxmlformats.org/officeDocument/2006/relationships/notesSlide" Target="/ppt/notesSlides/notesSlide6.xml" Id="R8252294fed3d43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0b327b49c1411a" /><Relationship Type="http://schemas.openxmlformats.org/officeDocument/2006/relationships/image" Target="/ppt/media/image2.png" Id="R47dbe08d49614f41" /><Relationship Type="http://schemas.openxmlformats.org/officeDocument/2006/relationships/notesSlide" Target="/ppt/notesSlides/notesSlide7.xml" Id="R009a63a12c784d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8a2a55aba141cd" /><Relationship Type="http://schemas.openxmlformats.org/officeDocument/2006/relationships/image" Target="/ppt/media/image3.png" Id="Ra00753de96624b78" /><Relationship Type="http://schemas.openxmlformats.org/officeDocument/2006/relationships/notesSlide" Target="/ppt/notesSlides/notesSlide8.xml" Id="R6344a28012c44a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38021bc08a4328" /><Relationship Type="http://schemas.openxmlformats.org/officeDocument/2006/relationships/image" Target="/ppt/media/image4.png" Id="Rbd1b3c404a8146c4" /><Relationship Type="http://schemas.openxmlformats.org/officeDocument/2006/relationships/notesSlide" Target="/ppt/notesSlides/notesSlide9.xml" Id="R6c9c3212bf0141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bec71492b2470a" /><Relationship Type="http://schemas.openxmlformats.org/officeDocument/2006/relationships/notesSlide" Target="/ppt/notesSlides/notesSlide10.xml" Id="R107ec671db0e45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2fa618b32d4fb7" /><Relationship Type="http://schemas.openxmlformats.org/officeDocument/2006/relationships/notesSlide" Target="/ppt/notesSlides/notesSlide11.xml" Id="R90581ee3ae7b4f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ffca109dc14b44" /><Relationship Type="http://schemas.openxmlformats.org/officeDocument/2006/relationships/notesSlide" Target="/ppt/notesSlides/notesSlide12.xml" Id="Re5cce97a7d2c4f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6290c99dbd4ae6" /><Relationship Type="http://schemas.openxmlformats.org/officeDocument/2006/relationships/image" Target="/ppt/media/image5.png" Id="R31393eabd0bb4e75" /><Relationship Type="http://schemas.openxmlformats.org/officeDocument/2006/relationships/notesSlide" Target="/ppt/notesSlides/notesSlide13.xml" Id="R96d2984c6df34e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dbd73a62154b12" /><Relationship Type="http://schemas.openxmlformats.org/officeDocument/2006/relationships/notesSlide" Target="/ppt/notesSlides/notesSlide14.xml" Id="R1244c8985aca405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48bafe6ac04e8b" /><Relationship Type="http://schemas.openxmlformats.org/officeDocument/2006/relationships/notesSlide" Target="/ppt/notesSlides/notesSlide15.xml" Id="Re89a5df59eea4fc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3359f01c864ede" /><Relationship Type="http://schemas.openxmlformats.org/officeDocument/2006/relationships/notesSlide" Target="/ppt/notesSlides/notesSlide16.xml" Id="Ra5731f2dab0b4ef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78593d6b6041ce" /><Relationship Type="http://schemas.openxmlformats.org/officeDocument/2006/relationships/notesSlide" Target="/ppt/notesSlides/notesSlide17.xml" Id="Re461dbda7b78425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187e12c63e40d1" /><Relationship Type="http://schemas.openxmlformats.org/officeDocument/2006/relationships/notesSlide" Target="/ppt/notesSlides/notesSlide18.xml" Id="R789221a9757a40b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425b5051a84459" /><Relationship Type="http://schemas.openxmlformats.org/officeDocument/2006/relationships/image" Target="/ppt/media/image6.png" Id="Ra8489d7fce3742f4" /><Relationship Type="http://schemas.openxmlformats.org/officeDocument/2006/relationships/notesSlide" Target="/ppt/notesSlides/notesSlide19.xml" Id="Re6c84438bcef4b0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e9259fcdb94763" /><Relationship Type="http://schemas.openxmlformats.org/officeDocument/2006/relationships/notesSlide" Target="/ppt/notesSlides/notesSlide20.xml" Id="R6860d41fa4c04bb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cd5ba294204801" /><Relationship Type="http://schemas.openxmlformats.org/officeDocument/2006/relationships/notesSlide" Target="/ppt/notesSlides/notesSlide21.xml" Id="R8197dbbb3a4541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132817EF-5768-4B79-8F1A-4AE0B362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00:00—00:30 分钟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B3AEA309-F242-4A4A-AEAF-5D4EACB7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575E5-2DEA-417C-92DB-22E833E113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2ef0137e742e9"/>
          <a:stretch xmlns:a="http://schemas.openxmlformats.org/drawingml/2006/main"/>
        </p:blipFill>
        <p:spPr>
          <a:xfrm xmlns:a="http://schemas.openxmlformats.org/drawingml/2006/main">
            <a:off x="2370235" y="0"/>
            <a:ext cx="7451531" cy="3286125"/>
          </a:xfrm>
          <a:prstGeom xmlns:a="http://schemas.openxmlformats.org/drawingml/2006/main" prst="rect">
            <a:avLst/>
          </a:prstGeom>
        </p:spPr>
      </p:pic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7EB89BB-3959-4B29-89FC-AAF38880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5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5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5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5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5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5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5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5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5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5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复数破解平面几何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5814261-59CB-4FB9-A6F9-096E4F3B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两个正方形，藏着什么关系？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72A63C8-7C31-4349-9519-52E55ADC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AI伴学 · 第3课时　　华光辉　　45分钟</a:t>
            </a:r>
          </a:p>
        </p:txBody>
      </p:sp>
    </p:spTree>
    <p:extLst>
      <p:ext uri="{BB962C8B-B14F-4D97-AF65-F5344CB8AC3E}">
        <p14:creationId xmlns:p14="http://schemas.microsoft.com/office/powerpoint/2010/main" val="6788669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68F9A926-23F6-4B6F-8FDA-A6C75717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任意三角形中的一个意外关系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246781B1-6FD0-4BBD-B071-7D91F010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00:30—04:00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07BFC534-8D77-4600-8D29-77BA515D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EAF64-AE47-4088-A86F-22A0E7AFC8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e498de607a4899"/>
          <a:stretch xmlns:a="http://schemas.openxmlformats.org/drawingml/2006/main"/>
        </p:blipFill>
        <p:spPr>
          <a:xfrm xmlns:a="http://schemas.openxmlformats.org/drawingml/2006/main">
            <a:off x="620024" y="1428750"/>
            <a:ext cx="3998703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61CFAE0-5F60-419F-8952-34358EDE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809750"/>
            <a:ext cx="609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两边外侧分别作正方形。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2B5BF68-CA42-4E5D-A909-66E642FE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67000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中心为 p、s，第三边中点为 m。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F00D832-5F8C-4EB9-A080-84D8F01B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714750"/>
            <a:ext cx="619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1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1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1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1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1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1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1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1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1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15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mp = ms，且 mp ⟂ ms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6760F36-9A86-4BA6-BA2E-A5EF7AF4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7625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为什么三角形怎样变化，</a:t>
            </a:r>
          </a:p>
          <a:p xmlns:a="http://schemas.openxmlformats.org/drawingml/2006/main">
            <a: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这个关系都成立？</a:t>
            </a:r>
          </a:p>
        </p:txBody>
      </p:sp>
    </p:spTree>
    <p:extLst>
      <p:ext uri="{BB962C8B-B14F-4D97-AF65-F5344CB8AC3E}">
        <p14:creationId xmlns:p14="http://schemas.microsoft.com/office/powerpoint/2010/main" val="176227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DDD6A313-15E7-41CB-A67C-5F44A61A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几何中的一段路，用复数相减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EF5C37F6-5C7F-4EA8-A639-5780928A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04:00—07:00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E7392219-1A74-4489-970A-F3E9F0D7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52B2133A-5F99-4636-95FD-3EFD6470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60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A(a)，B(b)    从 A 到 B：b − a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67EC5355-18FE-4B52-A926-170C8BED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90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(4 + 3i) − (1 + i) = 3 + 2i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7ADA2C7E-8052-4CD2-9022-4A1749EC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点的位置，与“从一个点怎样走到另一个点”不同。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2D2F6726-0EF3-4ED9-B7B6-359BB29A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要比较两条线段的方向，先把它们写成位移。</a:t>
            </a:r>
          </a:p>
        </p:txBody>
      </p:sp>
    </p:spTree>
    <p:extLst>
      <p:ext uri="{BB962C8B-B14F-4D97-AF65-F5344CB8AC3E}">
        <p14:creationId xmlns:p14="http://schemas.microsoft.com/office/powerpoint/2010/main" val="3597169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8E0A1BAA-4336-4D2B-B0A9-06276C74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旋转中心换了，先减再加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6F497DC2-C9B4-4448-8F12-1DC0EDD6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07:00—10:00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2612C07D-C0CC-47D0-A0D3-6E383BF5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B269E7E2-99EA-4A1C-A5A0-599426FD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52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525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w = a + i(z − a)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EE216E51-A754-498F-8942-D47D3D8E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z − a：从中心出发的位移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9C87299D-E349-4822-8F6F-C8F6C6CD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i(z − a)：把这段位移逆时针旋转90°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1F0DE68B-BFA1-49AA-8109-96487CDA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再加 a：得到旋转后终点的位置</a:t>
            </a:r>
          </a:p>
        </p:txBody>
      </p:sp>
    </p:spTree>
    <p:extLst>
      <p:ext uri="{BB962C8B-B14F-4D97-AF65-F5344CB8AC3E}">
        <p14:creationId xmlns:p14="http://schemas.microsoft.com/office/powerpoint/2010/main" val="967455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593CBE99-E73C-4CEB-AFC0-B540A5A0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小检查：中心不是原点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600EE9E-F006-4117-B1AD-B2D97D01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10:00—12:00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F7EDDD33-E1AF-4878-AEEA-F84997A3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55B066A5-4D9A-4E08-85E5-3F145D5A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以 A(1,1) 为中心，将 Z(3,1) 逆时针旋转90°。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44B6ED63-CDFC-46E6-B9E6-75631563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请先在纸上判断终点，再写复数算式。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A0C500BA-4ED0-4BBA-AD11-B7A881D3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90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a = 1 + i，z = 3 + i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C0748088-7061-4946-9EA6-2786CF95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检查：你最后有没有把中心的位置加回来？</a:t>
            </a:r>
          </a:p>
        </p:txBody>
      </p:sp>
    </p:spTree>
    <p:extLst>
      <p:ext uri="{BB962C8B-B14F-4D97-AF65-F5344CB8AC3E}">
        <p14:creationId xmlns:p14="http://schemas.microsoft.com/office/powerpoint/2010/main" val="10272702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4D9CF75D-06BD-439C-A440-C666D323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一个正方形的中心怎样表示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F47A9BB0-CA70-4616-9512-6495C27C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12:00—16:00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00103505-76D9-4B02-8773-3BABB9B3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FE97FAFC-8C44-4C3F-97D1-C0CFB7F1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沿有向边 AB，先走到中点，再向侧面走半条边。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293315A1-C157-4E0D-8C81-8865250A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52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52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52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52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52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52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52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52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52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52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52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525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边的中点：(a + b)/2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A3A91C29-30A1-463B-943E-909CDB54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45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左侧中心：(a + b)/2 + i(b − a)/2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45E838E0-C429-4AFF-87AC-C6804613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A65A1F"/>
                </a:solidFill>
                <a:latin typeface="Cambria"/>
                <a:ea typeface="Cambria"/>
                <a:cs typeface="Cambria"/>
              </a:defRPr>
            </a:defPPr>
            <a:lvl1pPr>
              <a:defRPr sz="3450" b="0">
                <a:solidFill>
                  <a:srgbClr val="A65A1F"/>
                </a:solidFill>
                <a:latin typeface="Cambria"/>
                <a:ea typeface="Cambria"/>
                <a:cs typeface="Cambria"/>
              </a:defRPr>
            </a:lvl1pPr>
            <a:lvl2pPr>
              <a:defRPr sz="3450" b="0">
                <a:solidFill>
                  <a:srgbClr val="A65A1F"/>
                </a:solidFill>
                <a:latin typeface="Cambria"/>
                <a:ea typeface="Cambria"/>
                <a:cs typeface="Cambria"/>
              </a:defRPr>
            </a:lvl2pPr>
            <a:lvl3pPr>
              <a:defRPr sz="3450" b="0">
                <a:solidFill>
                  <a:srgbClr val="A65A1F"/>
                </a:solidFill>
                <a:latin typeface="Cambria"/>
                <a:ea typeface="Cambria"/>
                <a:cs typeface="Cambria"/>
              </a:defRPr>
            </a:lvl3pPr>
            <a:lvl4pPr>
              <a:defRPr sz="3450" b="0">
                <a:solidFill>
                  <a:srgbClr val="A65A1F"/>
                </a:solidFill>
                <a:latin typeface="Cambria"/>
                <a:ea typeface="Cambria"/>
                <a:cs typeface="Cambria"/>
              </a:defRPr>
            </a:lvl4pPr>
            <a:lvl5pPr>
              <a:defRPr sz="3450" b="0">
                <a:solidFill>
                  <a:srgbClr val="A65A1F"/>
                </a:solidFill>
                <a:latin typeface="Cambria"/>
                <a:ea typeface="Cambria"/>
                <a:cs typeface="Cambria"/>
              </a:defRPr>
            </a:lvl5pPr>
            <a:lvl6pPr>
              <a:defRPr sz="3450" b="0">
                <a:solidFill>
                  <a:srgbClr val="A65A1F"/>
                </a:solidFill>
                <a:latin typeface="Cambria"/>
                <a:ea typeface="Cambria"/>
                <a:cs typeface="Cambria"/>
              </a:defRPr>
            </a:lvl6pPr>
            <a:lvl7pPr>
              <a:defRPr sz="3450" b="0">
                <a:solidFill>
                  <a:srgbClr val="A65A1F"/>
                </a:solidFill>
                <a:latin typeface="Cambria"/>
                <a:ea typeface="Cambria"/>
                <a:cs typeface="Cambria"/>
              </a:defRPr>
            </a:lvl7pPr>
            <a:lvl8pPr>
              <a:defRPr sz="3450" b="0">
                <a:solidFill>
                  <a:srgbClr val="A65A1F"/>
                </a:solidFill>
                <a:latin typeface="Cambria"/>
                <a:ea typeface="Cambria"/>
                <a:cs typeface="Cambria"/>
              </a:defRPr>
            </a:lvl8pPr>
            <a:lvl9pPr>
              <a:defRPr sz="3450" b="0">
                <a:solidFill>
                  <a:srgbClr val="A65A1F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A65A1F"/>
                </a:solidFill>
                <a:latin typeface="Cambria"/>
                <a:ea typeface="Cambria"/>
                <a:cs typeface="Cambria"/>
              </a:defRPr>
            </a:pPr>
            <a:r>
              <a:rPr sz="3450" b="0">
                <a:solidFill>
                  <a:srgbClr val="A65A1F"/>
                </a:solidFill>
                <a:latin typeface="Cambria"/>
                <a:ea typeface="Cambria"/>
                <a:cs typeface="Cambria"/>
              </a:rPr>
              <a:t>右侧中心：(a + b)/2 − i(b − a)/2</a:t>
            </a:r>
          </a:p>
        </p:txBody>
      </p:sp>
    </p:spTree>
    <p:extLst>
      <p:ext uri="{BB962C8B-B14F-4D97-AF65-F5344CB8AC3E}">
        <p14:creationId xmlns:p14="http://schemas.microsoft.com/office/powerpoint/2010/main" val="3497488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">
            <a:extLst xmlns:a="http://schemas.openxmlformats.org/drawingml/2006/main">
              <a:ext uri="{FF2B5EF4-FFF2-40B4-BE49-F238E27FC236}">
                <a16:creationId xmlns:a16="http://schemas.microsoft.com/office/drawing/2014/main" id="{8C8AC883-ACDC-43FC-B4C8-A7056DC9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主问题：把公共顶点取为原点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407AF9B6-B214-4D2A-831A-1368BB9A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16:00—18:00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D9F78149-B590-4173-B5B5-DB2D30D5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F3ACB-DB22-4459-BC30-11A1CE0488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be08d49614f41"/>
          <a:stretch xmlns:a="http://schemas.openxmlformats.org/drawingml/2006/main"/>
        </p:blipFill>
        <p:spPr>
          <a:xfrm xmlns:a="http://schemas.openxmlformats.org/drawingml/2006/main">
            <a:off x="620024" y="1428750"/>
            <a:ext cx="3998703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52749E9-F55C-41F0-B502-16CAE54B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670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A(0)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E418D4B-F395-4DEF-81C5-071FC488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847975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B(b)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71A9D2D-CE81-40D3-9AB8-5FF8955B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72050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C(c)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8CEB561-F83E-4566-A05B-57686B0D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14500"/>
            <a:ext cx="6334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A 取为原点，B、C 对应 b、c。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480DA87-30A8-4CC1-8E9D-FD190B05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71750"/>
            <a:ext cx="6334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A、B、C 按顺时针排列。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7617D8E-B797-4EC5-8805-8F81770D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6334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AB 上的外接正方形中心记 p。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29AF9540-F30E-4122-90E9-D8EC3FF1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86250"/>
            <a:ext cx="6334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AC 上的外接正方形中心记 s。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764CFF3-062F-4396-9697-A4DC663C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43500"/>
            <a:ext cx="6334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BC 的中点记 m。</a:t>
            </a:r>
          </a:p>
        </p:txBody>
      </p:sp>
    </p:spTree>
    <p:extLst>
      <p:ext uri="{BB962C8B-B14F-4D97-AF65-F5344CB8AC3E}">
        <p14:creationId xmlns:p14="http://schemas.microsoft.com/office/powerpoint/2010/main" val="15168606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">
            <a:extLst xmlns:a="http://schemas.openxmlformats.org/drawingml/2006/main">
              <a:ext uri="{FF2B5EF4-FFF2-40B4-BE49-F238E27FC236}">
                <a16:creationId xmlns:a16="http://schemas.microsoft.com/office/drawing/2014/main" id="{33B142E3-621E-46AF-A60C-90E2F428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第一个中心：半条边，再转直角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796AB3B5-3112-4E8A-BE06-83553CF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18:00—20:00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04EE53F6-F843-44DB-84E3-3931E4B5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80247-35EF-4684-9135-15FD4EB8A0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753de96624b78"/>
          <a:stretch xmlns:a="http://schemas.openxmlformats.org/drawingml/2006/main"/>
        </p:blipFill>
        <p:spPr>
          <a:xfrm xmlns:a="http://schemas.openxmlformats.org/drawingml/2006/main">
            <a:off x="620024" y="1428750"/>
            <a:ext cx="3998703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38D3A64-4292-4660-8390-BA44D59B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670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A(0)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6AB32BF-8B49-4B28-8646-3A855D91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847975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B(b)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7E8DB4F-7C08-4A27-9C8F-128E3C17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72050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C(c)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50FDC0D-D019-4EE8-A84F-ABD40349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809750"/>
            <a:ext cx="6334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AB 外侧在有向边 AB 左侧。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A249E9C-9AEB-4E3C-B75B-2C769A5C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048000"/>
            <a:ext cx="6334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60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p = b/2 + ib/2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5218C1E-64F8-492B-8351-DD049E7D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43375"/>
            <a:ext cx="6334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60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p = (b + ib)/2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729001BA-556E-4628-B631-FE0B9F77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381625"/>
            <a:ext cx="6334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先到中点，再向外侧走。</a:t>
            </a:r>
          </a:p>
        </p:txBody>
      </p:sp>
    </p:spTree>
    <p:extLst>
      <p:ext uri="{BB962C8B-B14F-4D97-AF65-F5344CB8AC3E}">
        <p14:creationId xmlns:p14="http://schemas.microsoft.com/office/powerpoint/2010/main" val="21256589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">
            <a:extLst xmlns:a="http://schemas.openxmlformats.org/drawingml/2006/main">
              <a:ext uri="{FF2B5EF4-FFF2-40B4-BE49-F238E27FC236}">
                <a16:creationId xmlns:a16="http://schemas.microsoft.com/office/drawing/2014/main" id="{A8DE8B76-81A6-4363-B93E-D0CF5CCB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第二个中心：这次向右转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9BED89ED-9D54-4EAD-B6C9-FA9357D2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20:00—22:00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22F01530-DF3D-483A-A0A0-C66DFE8F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3D8C1-5C1B-41BD-85BF-AA6312C08B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b3c404a8146c4"/>
          <a:stretch xmlns:a="http://schemas.openxmlformats.org/drawingml/2006/main"/>
        </p:blipFill>
        <p:spPr>
          <a:xfrm xmlns:a="http://schemas.openxmlformats.org/drawingml/2006/main">
            <a:off x="620024" y="1428750"/>
            <a:ext cx="3998703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BF353D8-DBAB-4986-816D-C87D03F3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670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A(0)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2C43048-91DA-4645-BACA-35C4F37C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847975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B(b)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A78CB08-8D0A-4C8A-B284-8CAFCB4F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72050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C(c)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92447CD-96DD-408A-A2C9-35782CEF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809750"/>
            <a:ext cx="6334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AC 外侧在有向边 AC 右侧。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4194FBA-AA02-4DAF-894A-D75812D5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048000"/>
            <a:ext cx="6334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60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s = c/2 − ic/2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6C9E109-B831-4D2D-B757-B6DB2B39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43375"/>
            <a:ext cx="6334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60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s = (c − ic)/2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FBC269E-3714-4154-B4D6-2F51C5C2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381625"/>
            <a:ext cx="6334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A65A1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A65A1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A65A1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A65A1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A65A1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A65A1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A65A1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A65A1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A65A1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A65A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A65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A65A1F"/>
                </a:solidFill>
                <a:latin typeface="Microsoft YaHei"/>
                <a:ea typeface="Microsoft YaHei"/>
                <a:cs typeface="Microsoft YaHei"/>
              </a:rPr>
              <a:t>顺时针90°，对应乘 −i。</a:t>
            </a:r>
          </a:p>
        </p:txBody>
      </p:sp>
    </p:spTree>
    <p:extLst>
      <p:ext uri="{BB962C8B-B14F-4D97-AF65-F5344CB8AC3E}">
        <p14:creationId xmlns:p14="http://schemas.microsoft.com/office/powerpoint/2010/main" val="1102769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27EC12E7-EB5A-4548-A56A-383C3CB1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第三边的中点，只需要平均数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2C1A25CE-047C-4CC2-AC80-26BDF318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22:00—23:00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759C33F0-7B2A-4CDD-A67D-5BE74617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1A1717AC-EA2E-4048-AE96-4BD51879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90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p = (b + ib)/2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FF0EE6F1-8B5B-40AE-B1DB-2BA70DE2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90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s = (c − ic)/2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F013E3CB-09DC-4F92-8E91-ECF2738D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45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450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m = (b + c)/2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8164D259-34BE-4DA2-90DA-20C77252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中点：横坐标取平均，纵坐标也取平均。</a:t>
            </a:r>
          </a:p>
        </p:txBody>
      </p:sp>
    </p:spTree>
    <p:extLst>
      <p:ext uri="{BB962C8B-B14F-4D97-AF65-F5344CB8AC3E}">
        <p14:creationId xmlns:p14="http://schemas.microsoft.com/office/powerpoint/2010/main" val="12077525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F7902F60-24BB-47B7-A8D7-FA2B1105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等长且垂直，合成一个目标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16422506-3BC5-4448-8C6D-5B78B0F6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23:00—25:00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F9B565C8-6FE1-4AE6-A4EC-4F0B3221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F3EC2327-5B90-49E6-91B9-119935B5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从 m 到 p：p − m；从 m 到 s：s − m。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B9F576EC-6B34-4EF1-9433-6D023B0D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51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51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51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51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51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51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51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51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51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51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51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510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s − m = i(p − m)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2BEBF69D-16D1-4D7F-A694-7284E891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如果这个等式成立，就同时得到：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19663F2E-6DA1-40E8-B8A0-BDB3C300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mp = ms，且 mp ⟂ ms。</a:t>
            </a:r>
          </a:p>
        </p:txBody>
      </p:sp>
    </p:spTree>
    <p:extLst>
      <p:ext uri="{BB962C8B-B14F-4D97-AF65-F5344CB8AC3E}">
        <p14:creationId xmlns:p14="http://schemas.microsoft.com/office/powerpoint/2010/main" val="9926796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C4131B64-BF57-451C-A366-8436E344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只算两段位移，不算长度和斜率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6BE00A1-D788-4D2E-8B30-BBB1A9E5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25:00—28:00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0161F38E-4FF2-45E8-AB51-B9E47300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513FE27E-A2F8-4B7A-B31A-BA3C64F8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90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2(p − m) = ib − c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7E0F9EF4-AB1B-4D88-A70C-5C887FDB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9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90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2(s − m) = −b − ic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2D7F6DB8-97C8-47C3-8E28-E94FDCE9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675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i(ib − c) = i²b − ic = −b − ic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E46E3856-6DA1-4ECF-8B71-C75282A8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同一个表达式出现了：s − m = i(p − m)。</a:t>
            </a:r>
          </a:p>
        </p:txBody>
      </p:sp>
    </p:spTree>
    <p:extLst>
      <p:ext uri="{BB962C8B-B14F-4D97-AF65-F5344CB8AC3E}">
        <p14:creationId xmlns:p14="http://schemas.microsoft.com/office/powerpoint/2010/main" val="8997825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1187B2E0-1DE9-486E-8278-81396104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一个等式，解释两个几何结论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1CA8DEE8-AE82-4B27-A9AE-E983DD56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28:00—30:00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B992B24-ADD2-4BB6-92CF-6B394F1E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49F80-EEF0-435B-9156-C917DFD1F9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393eabd0bb4e75"/>
          <a:stretch xmlns:a="http://schemas.openxmlformats.org/drawingml/2006/main"/>
        </p:blipFill>
        <p:spPr>
          <a:xfrm xmlns:a="http://schemas.openxmlformats.org/drawingml/2006/main">
            <a:off x="620024" y="1428750"/>
            <a:ext cx="3998703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3B5EAF1-F077-453B-AFA9-7147D299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38375"/>
            <a:ext cx="6334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45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s − m = i(p − m)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60BB866-7563-443A-8B6F-E6F3190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476625"/>
            <a:ext cx="6334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以 m 为中心，p 旋转90°后到 s。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E3260AB-2655-4F6F-8BEF-AE4E9CEA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524375"/>
            <a:ext cx="6334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所以 mp = ms，且 mp ⟂ ms。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478D3BE-0689-49BC-AD49-E4DAB6E1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381625"/>
            <a:ext cx="633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任意三角形都成立，</a:t>
            </a:r>
          </a:p>
          <a:p xmlns:a="http://schemas.openxmlformats.org/drawingml/2006/main">
            <a: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因为推导没有限定 b、c 的数值。</a:t>
            </a:r>
          </a:p>
        </p:txBody>
      </p:sp>
    </p:spTree>
    <p:extLst>
      <p:ext uri="{BB962C8B-B14F-4D97-AF65-F5344CB8AC3E}">
        <p14:creationId xmlns:p14="http://schemas.microsoft.com/office/powerpoint/2010/main" val="6024989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18F7E9EC-3F10-4C19-80D5-60AF5DC3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换一组数，检验你能否使用它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2D74CD9C-E5EA-4444-9380-E7E8AAFF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30:00—33:00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23347932-0227-404D-9140-68AA020E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E6793914-090F-4993-8163-1593286D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675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A：0，B：4 + 2i，C：6 − 2i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7624FD84-E242-4554-B2D6-460823C4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仍在 AB、AC 外侧作正方形，中心为 p、s。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30241DEA-50BC-4C44-8116-0D505C40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① 求 p、s，以及 BC 的中点 m。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CA855D19-502F-40C2-A42A-595A5A07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② 计算 p − m、s − m，检查旋转关系。</a:t>
            </a:r>
          </a:p>
        </p:txBody>
      </p:sp>
    </p:spTree>
    <p:extLst>
      <p:ext uri="{BB962C8B-B14F-4D97-AF65-F5344CB8AC3E}">
        <p14:creationId xmlns:p14="http://schemas.microsoft.com/office/powerpoint/2010/main" val="14108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02E5CFD5-4EE5-4F9E-A0F1-A4CA9204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核对：两条位移互相检查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9ABE0040-FCBA-4349-AB68-96D07B62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33:00—34:00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3FECD22A-02E4-431F-98A6-B9A8D6BB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F5838575-A356-43B9-B692-6664B40E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675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p = 1 + 3i，s = 2 − 4i，m = 5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55A88BA8-B219-4C09-BDA9-3FB720F6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975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p − m = −4 + 3i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C451CDE2-75F5-497A-911E-F979DB33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600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s − m = −3 − 4i = i(−4 + 3i)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6FD873FD-F31F-4933-8EAC-B6026827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这次算对了，不等于只凭一个例子证明了所有情况。</a:t>
            </a:r>
          </a:p>
        </p:txBody>
      </p:sp>
    </p:spTree>
    <p:extLst>
      <p:ext uri="{BB962C8B-B14F-4D97-AF65-F5344CB8AC3E}">
        <p14:creationId xmlns:p14="http://schemas.microsoft.com/office/powerpoint/2010/main" val="12652786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">
            <a:extLst xmlns:a="http://schemas.openxmlformats.org/drawingml/2006/main">
              <a:ext uri="{FF2B5EF4-FFF2-40B4-BE49-F238E27FC236}">
                <a16:creationId xmlns:a16="http://schemas.microsoft.com/office/drawing/2014/main" id="{461A466E-C685-4C82-B2F7-9993BB0A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请AI查错：漏掉的是什么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6AC17387-3BA1-42CD-8A74-39739DB0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34:00—36:00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732343D2-4BD5-48AC-AD63-0F638126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91444F6A-83F7-46EF-B007-68D4670E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课堂自编错误样例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4168A1C5-0FFF-44E4-A38E-7A866873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625" b="0">
                <a:solidFill>
                  <a:srgbClr val="AB38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AB38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AB38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AB38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AB38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AB38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AB38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AB38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AB38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AB38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AB38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AB3838"/>
                </a:solidFill>
                <a:latin typeface="Microsoft YaHei"/>
                <a:ea typeface="Microsoft YaHei"/>
                <a:cs typeface="Microsoft YaHei"/>
              </a:rPr>
              <a:t>“以 m 为中心，逆时针旋转90°。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BC4E806D-47D2-4B80-9B6E-A3909B27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75" b="0">
                <a:solidFill>
                  <a:srgbClr val="AB3838"/>
                </a:solidFill>
                <a:latin typeface="Cambria"/>
                <a:ea typeface="Cambria"/>
                <a:cs typeface="Cambria"/>
              </a:defRPr>
            </a:defPPr>
            <a:lvl1pPr>
              <a:defRPr sz="3975" b="0">
                <a:solidFill>
                  <a:srgbClr val="AB3838"/>
                </a:solidFill>
                <a:latin typeface="Cambria"/>
                <a:ea typeface="Cambria"/>
                <a:cs typeface="Cambria"/>
              </a:defRPr>
            </a:lvl1pPr>
            <a:lvl2pPr>
              <a:defRPr sz="3975" b="0">
                <a:solidFill>
                  <a:srgbClr val="AB3838"/>
                </a:solidFill>
                <a:latin typeface="Cambria"/>
                <a:ea typeface="Cambria"/>
                <a:cs typeface="Cambria"/>
              </a:defRPr>
            </a:lvl2pPr>
            <a:lvl3pPr>
              <a:defRPr sz="3975" b="0">
                <a:solidFill>
                  <a:srgbClr val="AB3838"/>
                </a:solidFill>
                <a:latin typeface="Cambria"/>
                <a:ea typeface="Cambria"/>
                <a:cs typeface="Cambria"/>
              </a:defRPr>
            </a:lvl3pPr>
            <a:lvl4pPr>
              <a:defRPr sz="3975" b="0">
                <a:solidFill>
                  <a:srgbClr val="AB3838"/>
                </a:solidFill>
                <a:latin typeface="Cambria"/>
                <a:ea typeface="Cambria"/>
                <a:cs typeface="Cambria"/>
              </a:defRPr>
            </a:lvl4pPr>
            <a:lvl5pPr>
              <a:defRPr sz="3975" b="0">
                <a:solidFill>
                  <a:srgbClr val="AB3838"/>
                </a:solidFill>
                <a:latin typeface="Cambria"/>
                <a:ea typeface="Cambria"/>
                <a:cs typeface="Cambria"/>
              </a:defRPr>
            </a:lvl5pPr>
            <a:lvl6pPr>
              <a:defRPr sz="3975" b="0">
                <a:solidFill>
                  <a:srgbClr val="AB3838"/>
                </a:solidFill>
                <a:latin typeface="Cambria"/>
                <a:ea typeface="Cambria"/>
                <a:cs typeface="Cambria"/>
              </a:defRPr>
            </a:lvl6pPr>
            <a:lvl7pPr>
              <a:defRPr sz="3975" b="0">
                <a:solidFill>
                  <a:srgbClr val="AB3838"/>
                </a:solidFill>
                <a:latin typeface="Cambria"/>
                <a:ea typeface="Cambria"/>
                <a:cs typeface="Cambria"/>
              </a:defRPr>
            </a:lvl7pPr>
            <a:lvl8pPr>
              <a:defRPr sz="3975" b="0">
                <a:solidFill>
                  <a:srgbClr val="AB3838"/>
                </a:solidFill>
                <a:latin typeface="Cambria"/>
                <a:ea typeface="Cambria"/>
                <a:cs typeface="Cambria"/>
              </a:defRPr>
            </a:lvl8pPr>
            <a:lvl9pPr>
              <a:defRPr sz="3975" b="0">
                <a:solidFill>
                  <a:srgbClr val="AB383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975" b="0">
                <a:solidFill>
                  <a:srgbClr val="AB3838"/>
                </a:solidFill>
                <a:latin typeface="Cambria"/>
                <a:ea typeface="Cambria"/>
                <a:cs typeface="Cambria"/>
              </a:defRPr>
            </a:pPr>
            <a:r>
              <a:rPr sz="3975" b="0">
                <a:solidFill>
                  <a:srgbClr val="AB3838"/>
                </a:solidFill>
                <a:latin typeface="Cambria"/>
                <a:ea typeface="Cambria"/>
                <a:cs typeface="Cambria"/>
              </a:rPr>
              <a:t>所以 s = ip。”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167146C4-7649-45A9-B505-EFC5E9DE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给AI的请求：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4BAF30D8-20FC-4B09-8E5F-3CCCDC72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“先问我一个关于旋转中心的问题，</a:t>
            </a:r>
          </a:p>
          <a:p xmlns:a="http://schemas.openxmlformats.org/drawingml/2006/main">
            <a: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帮助我检查这句话，不直接给完整证明。”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95C874E1-E588-4D2B-B81F-3C494183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核验依据：这里应比较点的位置，还是两段位移？</a:t>
            </a:r>
          </a:p>
        </p:txBody>
      </p:sp>
    </p:spTree>
    <p:extLst>
      <p:ext uri="{BB962C8B-B14F-4D97-AF65-F5344CB8AC3E}">
        <p14:creationId xmlns:p14="http://schemas.microsoft.com/office/powerpoint/2010/main" val="20221338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A647353E-3CDF-47A6-9C8F-A4F6C3B0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独立迁移：这次不看AI和例题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DDEBF9D8-3EB9-4435-84FF-C46B0BBB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36:00—39:00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B0D4ABCC-9B7B-4EB8-8345-FDE0F37C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0E4EF030-4339-4F16-B74E-4C036378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975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A：0，B：4，C：2 − 2i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4909D67B-A222-48AB-9E25-FA83BA7F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外接正方形中心仍记 p、s，BC 中点记 m。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CC4E79C5-1C19-4007-9D5A-CD7E1DB0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① 求 p、s、m，再求从 m 出发的两段位移。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BDF28ECA-A40C-4862-BE99-97FD563E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911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② 用一个等式说明两线段的长度与夹角关系。</a:t>
            </a:r>
          </a:p>
        </p:txBody>
      </p:sp>
    </p:spTree>
    <p:extLst>
      <p:ext uri="{BB962C8B-B14F-4D97-AF65-F5344CB8AC3E}">
        <p14:creationId xmlns:p14="http://schemas.microsoft.com/office/powerpoint/2010/main" val="145814929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A9D73EBA-394A-4488-A8EA-812824D6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核对：结论要回到图形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EC14955-D656-455D-BE7E-EAD197CD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39:00—40:00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49554A2A-532B-4EC1-B27B-49AA5018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F5262430-F667-4099-87CB-6F34656C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6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675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p = 2 + 2i，s = −2i，m = 3 − i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5ACC033F-EEBB-4960-AF4B-1EF5986A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97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975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p − m = −1 + 3i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5C99039E-E65B-4280-A883-45171582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82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defPPr>
            <a:lvl1pPr>
              <a:defRPr sz="382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1pPr>
            <a:lvl2pPr>
              <a:defRPr sz="382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2pPr>
            <a:lvl3pPr>
              <a:defRPr sz="382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3pPr>
            <a:lvl4pPr>
              <a:defRPr sz="382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4pPr>
            <a:lvl5pPr>
              <a:defRPr sz="382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5pPr>
            <a:lvl6pPr>
              <a:defRPr sz="382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6pPr>
            <a:lvl7pPr>
              <a:defRPr sz="382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7pPr>
            <a:lvl8pPr>
              <a:defRPr sz="382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8pPr>
            <a:lvl9pPr>
              <a:defRPr sz="382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>
              <a:defRPr sz="3825" b="0">
                <a:solidFill>
                  <a:srgbClr val="126831"/>
                </a:solidFill>
                <a:latin typeface="Cambria"/>
                <a:ea typeface="Cambria"/>
                <a:cs typeface="Cambria"/>
              </a:defRPr>
            </a:pPr>
            <a:r>
              <a:rPr sz="3825" b="0">
                <a:solidFill>
                  <a:srgbClr val="126831"/>
                </a:solidFill>
                <a:latin typeface="Cambria"/>
                <a:ea typeface="Cambria"/>
                <a:cs typeface="Cambria"/>
              </a:rPr>
              <a:t>s − m = −3 − i = i(p − m)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ED597770-72F9-4C8B-B775-C71B959D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旋转中心是 m。两条线段等长且垂直。</a:t>
            </a:r>
          </a:p>
        </p:txBody>
      </p:sp>
    </p:spTree>
    <p:extLst>
      <p:ext uri="{BB962C8B-B14F-4D97-AF65-F5344CB8AC3E}">
        <p14:creationId xmlns:p14="http://schemas.microsoft.com/office/powerpoint/2010/main" val="2381586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F396DC7A-E6FE-4F62-B1BC-5A9E9250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回看上次的四边形谜题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A7B9E0B7-0B1D-4F81-BCF7-C03938EB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40:00—42:00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E8C16B9-08CE-4A43-A0B4-244CFC70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22C7D-7EB9-4B42-A628-1E73BE75E6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489d7fce3742f4"/>
          <a:stretch xmlns:a="http://schemas.openxmlformats.org/drawingml/2006/main"/>
        </p:blipFill>
        <p:spPr>
          <a:xfrm xmlns:a="http://schemas.openxmlformats.org/drawingml/2006/main">
            <a:off x="701346" y="1714500"/>
            <a:ext cx="4836184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10C96D8-4B8B-4575-A227-F57C3D0B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5334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四条边外作正方形。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2A85290-77E2-4EBD-B8FD-7C7425B2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9875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相对中心的连线，</a:t>
            </a:r>
          </a:p>
          <a:p xmlns:a="http://schemas.openxmlformats.org/drawingml/2006/main">
            <a: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也等长且垂直。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FCF5508-53DC-45F7-B07A-090EF4C6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提示：沿一条对角线分开，</a:t>
            </a:r>
          </a:p>
          <a:p xmlns:a="http://schemas.openxmlformats.org/drawingml/2006/main">
            <a:pPr>
              <a:def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能否找到今天的两个小构型？</a:t>
            </a:r>
          </a:p>
        </p:txBody>
      </p:sp>
    </p:spTree>
    <p:extLst>
      <p:ext uri="{BB962C8B-B14F-4D97-AF65-F5344CB8AC3E}">
        <p14:creationId xmlns:p14="http://schemas.microsoft.com/office/powerpoint/2010/main" val="157405389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F52990C3-D3A2-4393-9BA8-E5A9604D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困难的几何关系，怎样变成算式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51B1E27D-2DF5-4F49-82C9-1D19ECAF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42:00—44:00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D22063A3-C5A5-4D6F-8431-E8A71D94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BDBC35BE-84B7-40D9-A1D4-9CF2E66F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位置相减，得到有向位移。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8400A648-782B-4EF1-BF87-04937876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中点取平均，直角旋转乘 i 或 −i。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BF4CF3FE-9F74-44EB-A3A5-C637576E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比较两段位移，用一个等式表达等长与垂直。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55E61ED0-B134-40CA-BBFC-BB7CC80A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离堂问题：为什么不能把 s − m = i(p − m)</a:t>
            </a:r>
          </a:p>
          <a:p xmlns:a="http://schemas.openxmlformats.org/drawingml/2006/main">
            <a: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随意改写成 s = ip？</a:t>
            </a:r>
          </a:p>
        </p:txBody>
      </p:sp>
    </p:spTree>
    <p:extLst>
      <p:ext uri="{BB962C8B-B14F-4D97-AF65-F5344CB8AC3E}">
        <p14:creationId xmlns:p14="http://schemas.microsoft.com/office/powerpoint/2010/main" val="90510535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676B95ED-20D4-430C-87F9-D6BD1F6E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课后可以留下怎样一份几何报告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4E5F0D50-2789-40A2-964B-AD9D3A45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44:00—45:00 分钟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F3DC318A-ADAD-403E-9E39-829A1D55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627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231644DF-E9EE-4365-84B9-151D6B14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必做：用一张图和关键等式，解释今天的结论。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855439E4-737D-4F35-BABC-6D964B5E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26831"/>
                </a:solidFill>
                <a:latin typeface="Microsoft YaHei"/>
                <a:ea typeface="Microsoft YaHei"/>
                <a:cs typeface="Microsoft YaHei"/>
              </a:rPr>
              <a:t>写清：哪个条件用在了哪一步？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13236250-A983-446B-9B10-940B616F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选做：把 m 换成 BC 上任意点 t。</a:t>
            </a:r>
          </a:p>
          <a:p xmlns:a="http://schemas.openxmlformats.org/drawingml/2006/main">
            <a:pPr>
              <a:def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025"/>
                </a:solidFill>
                <a:latin typeface="Microsoft YaHei"/>
                <a:ea typeface="Microsoft YaHei"/>
                <a:cs typeface="Microsoft YaHei"/>
              </a:rPr>
              <a:t>若仍有 s − t = i(p − t)，t 必须是中点吗？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9F55B438-6650-4468-B844-352257A2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参考：Needham《Visual Complex Analysis》</a:t>
            </a:r>
          </a:p>
          <a:p xmlns:a="http://schemas.openxmlformats.org/drawingml/2006/main">
            <a:pPr>
              <a:defRPr sz="1725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56B"/>
                </a:solidFill>
                <a:latin typeface="Microsoft YaHei"/>
                <a:ea typeface="Microsoft YaHei"/>
                <a:cs typeface="Microsoft YaHei"/>
              </a:rPr>
              <a:t>第1章 §1.3.3，图1.12及旋转的讨论</a:t>
            </a:r>
          </a:p>
        </p:txBody>
      </p:sp>
    </p:spTree>
    <p:extLst>
      <p:ext uri="{BB962C8B-B14F-4D97-AF65-F5344CB8AC3E}">
        <p14:creationId xmlns:p14="http://schemas.microsoft.com/office/powerpoint/2010/main" val="17218849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2026-10-23T05:36:39.3830000Z</dcterms:created>
  <dcterms:modified xsi:type="dcterms:W3CDTF">2026-10-23T05:36:39.3830000Z</dcterms:modified>
</coreProperties>
</file>