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d2a28f55d74ace" /><Relationship Type="http://schemas.openxmlformats.org/officeDocument/2006/relationships/extended-properties" Target="/docProps/app.xml" Id="R7305a0b02a554f92" /><Relationship Type="http://schemas.openxmlformats.org/officeDocument/2006/relationships/officeDocument" Target="/ppt/presentation.xml" Id="R34393c5c70b643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5184d23bed4e32"/>
  </p:sldMasterIdLst>
  <p:notesMasterIdLst>
    <p:notesMasterId xmlns:r="http://schemas.openxmlformats.org/officeDocument/2006/relationships" r:id="Re891f4661c0c4137"/>
  </p:notesMasterIdLst>
  <p:sldIdLst>
    <p:sldId xmlns:r="http://schemas.openxmlformats.org/officeDocument/2006/relationships" id="256" r:id="R2af90d466f2a4c6e"/>
    <p:sldId xmlns:r="http://schemas.openxmlformats.org/officeDocument/2006/relationships" id="257" r:id="R37fb6de879314ef9"/>
    <p:sldId xmlns:r="http://schemas.openxmlformats.org/officeDocument/2006/relationships" id="258" r:id="R88d2867b5cbf4672"/>
    <p:sldId xmlns:r="http://schemas.openxmlformats.org/officeDocument/2006/relationships" id="259" r:id="Rd0978818a93c4c17"/>
    <p:sldId xmlns:r="http://schemas.openxmlformats.org/officeDocument/2006/relationships" id="260" r:id="R48f7df5547fc4efd"/>
    <p:sldId xmlns:r="http://schemas.openxmlformats.org/officeDocument/2006/relationships" id="261" r:id="Rf3cd0336f1644f3b"/>
    <p:sldId xmlns:r="http://schemas.openxmlformats.org/officeDocument/2006/relationships" id="262" r:id="R8ed72fbefe434719"/>
    <p:sldId xmlns:r="http://schemas.openxmlformats.org/officeDocument/2006/relationships" id="263" r:id="Ra44b8967149a4f4a"/>
    <p:sldId xmlns:r="http://schemas.openxmlformats.org/officeDocument/2006/relationships" id="264" r:id="R6f3db13f4dc24556"/>
    <p:sldId xmlns:r="http://schemas.openxmlformats.org/officeDocument/2006/relationships" id="265" r:id="R7829fd6966ea4794"/>
    <p:sldId xmlns:r="http://schemas.openxmlformats.org/officeDocument/2006/relationships" id="266" r:id="R86894aa289e64a56"/>
    <p:sldId xmlns:r="http://schemas.openxmlformats.org/officeDocument/2006/relationships" id="267" r:id="R43b6e2845072408a"/>
    <p:sldId xmlns:r="http://schemas.openxmlformats.org/officeDocument/2006/relationships" id="268" r:id="R53148c8e0a9f4810"/>
    <p:sldId xmlns:r="http://schemas.openxmlformats.org/officeDocument/2006/relationships" id="269" r:id="R6ae70ab0f66449d7"/>
    <p:sldId xmlns:r="http://schemas.openxmlformats.org/officeDocument/2006/relationships" id="270" r:id="R223d8c6832404551"/>
    <p:sldId xmlns:r="http://schemas.openxmlformats.org/officeDocument/2006/relationships" id="271" r:id="R87968cd91da44ee3"/>
    <p:sldId xmlns:r="http://schemas.openxmlformats.org/officeDocument/2006/relationships" id="272" r:id="R352e94d7c21a49d6"/>
    <p:sldId xmlns:r="http://schemas.openxmlformats.org/officeDocument/2006/relationships" id="273" r:id="R9bd5fcd1177242b7"/>
    <p:sldId xmlns:r="http://schemas.openxmlformats.org/officeDocument/2006/relationships" id="274" r:id="Ra04f7f7d95d247b6"/>
    <p:sldId xmlns:r="http://schemas.openxmlformats.org/officeDocument/2006/relationships" id="275" r:id="R79ed7016ada643ee"/>
    <p:sldId xmlns:r="http://schemas.openxmlformats.org/officeDocument/2006/relationships" id="276" r:id="R47da4b50d1144205"/>
    <p:sldId xmlns:r="http://schemas.openxmlformats.org/officeDocument/2006/relationships" id="277" r:id="R6c9495c6c5004322"/>
    <p:sldId xmlns:r="http://schemas.openxmlformats.org/officeDocument/2006/relationships" id="278" r:id="R7a3808e2494c47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745143bfe4bde" /><Relationship Type="http://schemas.openxmlformats.org/officeDocument/2006/relationships/slideMaster" Target="/ppt/slideMasters/slideMaster1.xml" Id="R225184d23bed4e32" /><Relationship Type="http://schemas.openxmlformats.org/officeDocument/2006/relationships/notesMaster" Target="/ppt/notesMasters/notesMaster1.xml" Id="Re891f4661c0c4137" /><Relationship Type="http://schemas.openxmlformats.org/officeDocument/2006/relationships/presProps" Target="/ppt/presProps.xml" Id="Re0f377e83c4c4ca7" /><Relationship Type="http://schemas.openxmlformats.org/officeDocument/2006/relationships/tableStyles" Target="/ppt/tableStyles.xml" Id="Rf045ac1f43bf421d" /><Relationship Type="http://schemas.openxmlformats.org/officeDocument/2006/relationships/slide" Target="/ppt/slides/slide1.xml" Id="R2af90d466f2a4c6e" /><Relationship Type="http://schemas.openxmlformats.org/officeDocument/2006/relationships/slide" Target="/ppt/slides/slide2.xml" Id="R37fb6de879314ef9" /><Relationship Type="http://schemas.openxmlformats.org/officeDocument/2006/relationships/slide" Target="/ppt/slides/slide3.xml" Id="R88d2867b5cbf4672" /><Relationship Type="http://schemas.openxmlformats.org/officeDocument/2006/relationships/slide" Target="/ppt/slides/slide4.xml" Id="Rd0978818a93c4c17" /><Relationship Type="http://schemas.openxmlformats.org/officeDocument/2006/relationships/slide" Target="/ppt/slides/slide5.xml" Id="R48f7df5547fc4efd" /><Relationship Type="http://schemas.openxmlformats.org/officeDocument/2006/relationships/slide" Target="/ppt/slides/slide6.xml" Id="Rf3cd0336f1644f3b" /><Relationship Type="http://schemas.openxmlformats.org/officeDocument/2006/relationships/slide" Target="/ppt/slides/slide7.xml" Id="R8ed72fbefe434719" /><Relationship Type="http://schemas.openxmlformats.org/officeDocument/2006/relationships/slide" Target="/ppt/slides/slide8.xml" Id="Ra44b8967149a4f4a" /><Relationship Type="http://schemas.openxmlformats.org/officeDocument/2006/relationships/slide" Target="/ppt/slides/slide9.xml" Id="R6f3db13f4dc24556" /><Relationship Type="http://schemas.openxmlformats.org/officeDocument/2006/relationships/slide" Target="/ppt/slides/slide10.xml" Id="R7829fd6966ea4794" /><Relationship Type="http://schemas.openxmlformats.org/officeDocument/2006/relationships/slide" Target="/ppt/slides/slide11.xml" Id="R86894aa289e64a56" /><Relationship Type="http://schemas.openxmlformats.org/officeDocument/2006/relationships/slide" Target="/ppt/slides/slide12.xml" Id="R43b6e2845072408a" /><Relationship Type="http://schemas.openxmlformats.org/officeDocument/2006/relationships/slide" Target="/ppt/slides/slide13.xml" Id="R53148c8e0a9f4810" /><Relationship Type="http://schemas.openxmlformats.org/officeDocument/2006/relationships/slide" Target="/ppt/slides/slide14.xml" Id="R6ae70ab0f66449d7" /><Relationship Type="http://schemas.openxmlformats.org/officeDocument/2006/relationships/slide" Target="/ppt/slides/slide15.xml" Id="R223d8c6832404551" /><Relationship Type="http://schemas.openxmlformats.org/officeDocument/2006/relationships/slide" Target="/ppt/slides/slide16.xml" Id="R87968cd91da44ee3" /><Relationship Type="http://schemas.openxmlformats.org/officeDocument/2006/relationships/slide" Target="/ppt/slides/slide17.xml" Id="R352e94d7c21a49d6" /><Relationship Type="http://schemas.openxmlformats.org/officeDocument/2006/relationships/slide" Target="/ppt/slides/slide18.xml" Id="R9bd5fcd1177242b7" /><Relationship Type="http://schemas.openxmlformats.org/officeDocument/2006/relationships/slide" Target="/ppt/slides/slide19.xml" Id="Ra04f7f7d95d247b6" /><Relationship Type="http://schemas.openxmlformats.org/officeDocument/2006/relationships/slide" Target="/ppt/slides/slide20.xml" Id="R79ed7016ada643ee" /><Relationship Type="http://schemas.openxmlformats.org/officeDocument/2006/relationships/slide" Target="/ppt/slides/slide21.xml" Id="R47da4b50d1144205" /><Relationship Type="http://schemas.openxmlformats.org/officeDocument/2006/relationships/slide" Target="/ppt/slides/slide22.xml" Id="R6c9495c6c5004322" /><Relationship Type="http://schemas.openxmlformats.org/officeDocument/2006/relationships/slide" Target="/ppt/slides/slide23.xml" Id="R7a3808e2494c47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55f732c424a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977833efd4f3f" /><Relationship Type="http://schemas.openxmlformats.org/officeDocument/2006/relationships/notesMaster" Target="/ppt/notesMasters/notesMaster1.xml" Id="Rf40c71f3495746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b554e155714032" /><Relationship Type="http://schemas.openxmlformats.org/officeDocument/2006/relationships/notesMaster" Target="/ppt/notesMasters/notesMaster1.xml" Id="R8c2986255402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9e372667de46cc" /><Relationship Type="http://schemas.openxmlformats.org/officeDocument/2006/relationships/notesMaster" Target="/ppt/notesMasters/notesMaster1.xml" Id="R08a78dd8b8e64c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c26a5fea5a4d7b" /><Relationship Type="http://schemas.openxmlformats.org/officeDocument/2006/relationships/notesMaster" Target="/ppt/notesMasters/notesMaster1.xml" Id="R95c4434a7fc1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01646ebe4a41a4" /><Relationship Type="http://schemas.openxmlformats.org/officeDocument/2006/relationships/notesMaster" Target="/ppt/notesMasters/notesMaster1.xml" Id="Rbc135e24660241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f82008b02f4018" /><Relationship Type="http://schemas.openxmlformats.org/officeDocument/2006/relationships/notesMaster" Target="/ppt/notesMasters/notesMaster1.xml" Id="Re17f9abe3e844b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f5409574514fa1" /><Relationship Type="http://schemas.openxmlformats.org/officeDocument/2006/relationships/notesMaster" Target="/ppt/notesMasters/notesMaster1.xml" Id="R982659d6806547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8eadd40864924" /><Relationship Type="http://schemas.openxmlformats.org/officeDocument/2006/relationships/notesMaster" Target="/ppt/notesMasters/notesMaster1.xml" Id="Rb32e3831c91a4d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a880f9fd334698" /><Relationship Type="http://schemas.openxmlformats.org/officeDocument/2006/relationships/notesMaster" Target="/ppt/notesMasters/notesMaster1.xml" Id="Re5bd5cdbf3e846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90f1e200614f99" /><Relationship Type="http://schemas.openxmlformats.org/officeDocument/2006/relationships/notesMaster" Target="/ppt/notesMasters/notesMaster1.xml" Id="Reeafb2bdac994b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bb82419f9d4aad" /><Relationship Type="http://schemas.openxmlformats.org/officeDocument/2006/relationships/notesMaster" Target="/ppt/notesMasters/notesMaster1.xml" Id="Rd68b4d78d94e47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4bb0e89ee74554" /><Relationship Type="http://schemas.openxmlformats.org/officeDocument/2006/relationships/notesMaster" Target="/ppt/notesMasters/notesMaster1.xml" Id="R6ad72c94400a46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fcfea1975a49cf" /><Relationship Type="http://schemas.openxmlformats.org/officeDocument/2006/relationships/notesMaster" Target="/ppt/notesMasters/notesMaster1.xml" Id="R9130c48f5c4948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114745201b4912" /><Relationship Type="http://schemas.openxmlformats.org/officeDocument/2006/relationships/notesMaster" Target="/ppt/notesMasters/notesMaster1.xml" Id="Rc678e3ad4812498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c975277e6d427b" /><Relationship Type="http://schemas.openxmlformats.org/officeDocument/2006/relationships/notesMaster" Target="/ppt/notesMasters/notesMaster1.xml" Id="R09e8c63153de48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b363595644d4572" /><Relationship Type="http://schemas.openxmlformats.org/officeDocument/2006/relationships/notesMaster" Target="/ppt/notesMasters/notesMaster1.xml" Id="R1aa0b9b71c324d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9250d40fafc4000" /><Relationship Type="http://schemas.openxmlformats.org/officeDocument/2006/relationships/notesMaster" Target="/ppt/notesMasters/notesMaster1.xml" Id="Rcb482444708c481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d1032002dd4131" /><Relationship Type="http://schemas.openxmlformats.org/officeDocument/2006/relationships/notesMaster" Target="/ppt/notesMasters/notesMaster1.xml" Id="R7d3d9f5d1fd443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e5ec7b32fe4358" /><Relationship Type="http://schemas.openxmlformats.org/officeDocument/2006/relationships/notesMaster" Target="/ppt/notesMasters/notesMaster1.xml" Id="Rfeb8ba4566fc4f7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3253a72894541b5" /><Relationship Type="http://schemas.openxmlformats.org/officeDocument/2006/relationships/notesMaster" Target="/ppt/notesMasters/notesMaster1.xml" Id="Recc7624dcdf0419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fabfee5ee14d6f" /><Relationship Type="http://schemas.openxmlformats.org/officeDocument/2006/relationships/notesMaster" Target="/ppt/notesMasters/notesMaster1.xml" Id="R41b93cf2d6b942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8510140e854a42" /><Relationship Type="http://schemas.openxmlformats.org/officeDocument/2006/relationships/notesMaster" Target="/ppt/notesMasters/notesMaster1.xml" Id="R21013b0318b747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6afb2d44bf40a7" /><Relationship Type="http://schemas.openxmlformats.org/officeDocument/2006/relationships/notesMaster" Target="/ppt/notesMasters/notesMaster1.xml" Id="R76e77436fc27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给阿嬷的情书</a:t>
            </a:r>
          </a:p>
          <a:p xmlns:a="http://schemas.openxmlformats.org/drawingml/2006/main">
            <a:r>
              <a:t>课堂时间：0—1分钟（本页1分钟）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同学们，今天我们读一份围绕电影《给阿嬷的情书》的评论材料。没有看过电影也没有关系，课堂所需的情节和文字都会呈现。先看海报：年轻女子站在门内，年长者隔着车窗望向她。这里有怎样的距离？你可以先保留自己的判断。今天我们要追问的是：一封信，怎样让远方的人被看见，又怎样让一种文化被记住？我们最后要把读到的方法用到自己的写作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看海报，静默观察十秒。允许学生只描述画面，不必解释剧情。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海报：海南日报《乡音系家国》，2026-05-18。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一条消息，一封家书</a:t>
            </a:r>
          </a:p>
          <a:p xmlns:a="http://schemas.openxmlformats.org/drawingml/2006/main">
            <a:r>
              <a:t>课堂时间：1—3分钟（本页2分钟）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请看屏幕上的两段话。这两段都是我为课堂拟写的，不是电影台词。第一段说，我很好，你别担心。第二段多了收工、热饭和膝盖疼。请先自己选出最让你感到牵挂的词，再和旁边的同学交换理由。我们不急着说哪一种更高级，简短消息也能真诚。我想听的是，第二段增加的生活信息，让我们多看见了什么。比如，收工让我们知道寄信人有辛苦的劳动，记得膝盖疼说明他保存着对方生活中的细节。感情因此有了可感的依据。今天的阅读，就从找到这样的依据开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个人圈词二十秒，同桌交流三十秒，邀请两人各说一句理由。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若学生只说更感人，追问：是哪一个词，让你看见了谁在做什么？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两段文字均为教学原创。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今天的学习任务</a:t>
            </a:r>
          </a:p>
          <a:p xmlns:a="http://schemas.openxmlformats.org/drawingml/2006/main">
            <a:r>
              <a:t>课堂时间：3—4分钟（本页1分钟）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下课前，我们要留下两项可以看见的学习成果：一段有依据的口头分析，一段一百到一百五十字的家书。分析时不能停在很伟大、很感人，要指出人物做了什么，词句怎样让你感到这种品质。写作时也不必追求华丽，我们练习用一个生活细节，表达对一个具体人的牵挂。最后用同一套标准互相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提醒学生准备纸笔。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本课教学设计。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侨批连接着什么</a:t>
            </a:r>
          </a:p>
          <a:p xmlns:a="http://schemas.openxmlformats.org/drawingml/2006/main">
            <a:r>
              <a:t>课堂时间：4—6分钟（本页2分钟）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先补充一个阅读背景。侨批和银信包括海外移民与国内家人往来形成的书信、汇款凭证等文献。钱款维系家中生计，信中还会报告平安、询问近况、交代家事。联合国教科文组织在二〇一三年将侨批和银信列入世界记忆名录。注意，旁边这张照片拍摄于暨南大学世界华侨华人文献馆，展签标明它是一九〇七年的侨批，提醒我们这类信件首先来自具体人的真实生活。照片没有呈现足够清楚的正文，我们不据此猜读每个字。真实侨批可以提供普通人生活的一手线索，电影则以艺术叙事重新组织这些经验。我们读电影评论时，要分清文献、剧情和评论者的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请学生用一句话说明：为什么一封家书可能具有历史价值？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UNESCO，Qiaopi and Yinxin Correspondence and Remittance Documents from Overseas Chinese，登记年份2013。https://www.unesco.org/en/memory-world/qiaopi-and-yinxin-correspondence-and-remittance-documents-overseas-chinese?hub=1081</a:t>
            </a:r>
          </a:p>
          <a:p xmlns:a="http://schemas.openxmlformats.org/drawingml/2006/main">
            <a:r>
              <a:t>图片：人民网报道，暨南大学新闻网转载，2026-05-20。https://news.jnu.edu.cn/content/202605/19/c6222.html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三个人与一段漫长的守望</a:t>
            </a:r>
          </a:p>
          <a:p xmlns:a="http://schemas.openxmlformats.org/drawingml/2006/main">
            <a:r>
              <a:t>课堂时间：6—8分钟（本页2分钟）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接下来是理解材料所需的最小情节。郑木生离乡谋生，叶淑柔在故乡照顾家庭，家书和汇款连接着两地。木生离世后，谢南枝继续以他的名义寄信寄钱，持续十八年。这是电影的关键情节，我们今天会讨论这一选择，也会保留对它的追问。先不评价谁最伟大，请你用一个动词概括每个人的行动。可以是谋生、持家、接续。三个动词先把人物放回生活，再帮助我们理解情义的重量。这里的梗概来自评论材料，不等于完整影片，也不能直接当作历史人物传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三位学生各用一个动词概括人物行动。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若学生把谢南枝直接理解成爱情关系，提醒：仅凭梗概不足以下结论，先回到明确写出的行动。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所给PDF第1页，上半部《家国根脉，乡土羁绊》《人间烟火，情义担当》。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画面中的读信人</a:t>
            </a:r>
          </a:p>
          <a:p xmlns:a="http://schemas.openxmlformats.org/drawingml/2006/main">
            <a:r>
              <a:t>课堂时间：8—10分钟（本页2分钟）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现在看这张电影宣传剧照。请先描述，不急着解释人物心理。我们能看见两个人共同看向信纸，其中一人手指文字。仅凭画面，我们不能断定信中写了什么，却能观察到阅读与倾听如何把两个人联系起来。这也提醒我们，书信不总是一个人独自读的。有时需要识字者代读或代写，文字借助别人的声音进入家庭生活。请用一句话区分观察与推断，例如我看见人物指向信纸，我推测她正在向另一人说明信的内容。我们下一步就从画面回到材料，分析文字怎样承载持续的牵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静默观察十五秒，邀请两位学生分别描述动作与提出推断。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若学生直接复述网上剧情，追问：只凭这张图，哪些判断可以确认？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电影宣传剧照，人民网报道配图，暨南大学新闻网转载，2026-05-20。https://news.jnu.edu.cn/content/202605/19/c6222.html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细读一：一封封，一笔笔</a:t>
            </a:r>
          </a:p>
          <a:p xmlns:a="http://schemas.openxmlformats.org/drawingml/2006/main">
            <a:r>
              <a:t>课堂时间：10—12分钟（本页2分钟）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请先默读这一句，圈出量词和动词。我们把一封封改成一封，一笔笔改成一笔，再轻声读一遍。信息有什么变化？单独的一封信可以是偶然的帮助，反复出现的量词则提示行动持续发生。再看撑起，它把抽象的希望和实际的生活负担联系起来。请注意，文字中没有直接列出每一次付出的代价，但持续写信和汇款，使我们能够推知这份承担需要长期投入。这是有依据的推断。接下来用一句完整的话，把词语、行动和你的理解连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默读圈词三十秒，改词比较三十秒，邀请一位学生解释。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示例回应：一封封、一笔笔表现帮助的持续，撑起说明这些行动实际维系着家庭生活，因此可见责任。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所给PDF第1页，上半部左栏《家国根脉，乡土羁绊》。引文已对照页面图像。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情感判断需要文字依据</a:t>
            </a:r>
          </a:p>
          <a:p xmlns:a="http://schemas.openxmlformats.org/drawingml/2006/main">
            <a:r>
              <a:t>课堂时间：12—14分钟（本页2分钟）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两种表达都可以是真诚感受，但语文分析还需要回答，你为什么这样理解。第二段把长期寄信寄钱这一细节指出来，再解释反复量词的作用，最后才落到人物品质。我们现在练习口头补全一句话：我注意到材料中的什么，它表现了什么，因此我理解人物怎样。这里没有唯一标准句，解释能被词句支持就有价值。如果有人认为撑起还有支柱的意味，也可以提出，只要把它与维系家庭生活联系起来。不要把术语数量当作分析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学生自行组织一句分析，同桌检查是否同时包含依据与解释。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若学生只有修辞名称，追问：这种写法让持续付出怎样被读者感到？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依据上一页引文设计的教学分析。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细读二：留给远方的一碗饭</a:t>
            </a:r>
          </a:p>
          <a:p xmlns:a="http://schemas.openxmlformats.org/drawingml/2006/main">
            <a:r>
              <a:t>课堂时间：14—16分钟（本页2分钟）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所给材料没有在这里完整抄录电影中的信，只提到冬至留饭。我们就以材料确实提供的这个细节为起点。冬至本来是家人相聚的时间，给不在场的人留饭，意味着在日常生活里仍然为他保留位置。这种理解来自节日、食物和缺席者之间的关系。请不要立即把它概括成所有传统家庭都如此，我们讨论的是作品中的这个具体动作。旁边的宣传图里，人物低头读信，画面留着安静的空间。请注意图像可以帮助进入情境，却不能替代文本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请学生补全：留饭这个动作，让不在场的人仍然……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可接受多种有依据的解释，如被记得、被期待、属于这个家。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所给PDF第1页，上半部右栏《文字载情，文脉浸润人心》中的“冬至留饭”线索。配图：海南日报。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直说与含蓄表达</a:t>
            </a:r>
          </a:p>
          <a:p xmlns:a="http://schemas.openxmlformats.org/drawingml/2006/main">
            <a:r>
              <a:t>课堂时间：16—18分钟（本页2分钟）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这里还是两段课堂拟写的文字。请先找后一段的物件和动作：椅子，放在门边，还。它不直接说思念，却让一个位置持续保留着，读者由此参与理解。特别是还这个字，让过去与现在发生联系。但我们还要追问，含蓄表达是否永远优于直说？当然不能这样判断。安慰、道歉或紧急沟通时，清楚直接可能更合适。写作的选择要看对象与情境。今天我们练含蓄表达，是为了多掌握一种方法，也为了理解作品怎样组织情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邀请学生解释“还”的作用，再请另一位补充直说更适用的场合。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两段文字均为教学原创，不是影片台词。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海报里的距离与联系</a:t>
            </a:r>
          </a:p>
          <a:p xmlns:a="http://schemas.openxmlformats.org/drawingml/2006/main">
            <a:r>
              <a:t>课堂时间：18—20分钟（本页2分钟）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我们做一次图像阅读。先只说可观察事实：人物分散在不同位置，画面出现信纸和花瓣。然后才解释，这种分离可能对应空间上的远隔，信纸可能暗示彼此通过文字联系。为什么要把我看见和这可能意味着分开？因为观察和解释的可靠程度不同。另一个同学完全可以提出不同的象征解释，只要能回到画面。也请记住，宣传海报的视觉组织不能直接证明电影中的每一处情节。读图与读文共享一个习惯：先说明依据，再提出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二人接力：一人说观察事实，一人提出解释。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电影宣传海报，海南日报《乡音系家国》，2026-05-18。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  一次选择，两个需要</a:t>
            </a:r>
          </a:p>
          <a:p xmlns:a="http://schemas.openxmlformats.org/drawingml/2006/main">
            <a:r>
              <a:t>课堂时间：20—23分钟（本页3分钟）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现在讨论人物选择中的复杂性。南枝持续付出，为一个家庭提供生活支持，也维系着希望。同时，隐瞒死讯可能让淑柔长期生活在不完整的信息中，影响她对自己人生的判断。请四人一组，一半先说明这份选择保护了什么，另一半再说明可能的代价。两边都要说出依据，不把人物简单贴成伟大或欺骗的标签。我们是在理解一个被作品设置的艰难处境，不需要把它推成现实生活中普遍适用的行为准则。如果有人认为当时处境限制了选择，请继续说明是怎样的限制，又有哪些信息材料没有提供。承认证据有限，也是有分寸的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分组讨论九十秒，两位代表各发言二十秒，教师回扣依据。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示例追问：你说保护希望，具体保护了哪一种生活？你说造成代价，谁的选择可能受影响？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所给PDF第1页人物情节。问题及多角度解释为教学设计。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  家国根脉落在日常行动里</a:t>
            </a:r>
          </a:p>
          <a:p xmlns:a="http://schemas.openxmlformats.org/drawingml/2006/main">
            <a:r>
              <a:t>课堂时间：23—25分钟（本页2分钟）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材料把家国根脉与一些很具体的行动放在一起：汇款回乡，教孩子中文，助学，支持家乡建设。请在其中选一项，说清它连接了谁，又解决了怎样的需要。比如教中文，不只是认字，还使后辈有机会理解家书、听懂长辈的故事。这里应避免一个简单等式：会不会说某种方言，不足以单独判断一个人的文化认同。我们能确认的是，作品和材料通过语言、家书与生活行动，让文化传承变得可观察。写家国情怀时，也可以先把这一步写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两名学生分别解释一项行动与文化情感的联系。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所给PDF第1页，上半部左栏《家国根脉，乡土羁绊》。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  古诗中的家书</a:t>
            </a:r>
          </a:p>
          <a:p xmlns:a="http://schemas.openxmlformats.org/drawingml/2006/main">
            <a:r>
              <a:t>课堂时间：25—27分钟（本页2分钟）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我们把现代材料放到熟悉的古诗旁边。杜甫写烽火连三月，家书抵万金，战乱使消息难得，家书因而格外珍贵。张籍写复恐匆匆说不尽，行人临发又开封，一个又字，把担心遗漏、反复叮嘱的心情写在动作里。请你选择一句，与今天的材料建立一个明确联系。不能只说都表达思乡，要指出一个共同的表现方式，或者一个不同之处。比如张籍以开封这个细小动作承载复杂心情，与我们读到的留饭都有以动作传情的特点，但它们各有自己的时空处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学生选择一句，口头说出一个具体联系。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杜甫《春望》、张籍《秋思》，所引句为通行文本。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  书信与即时消息</a:t>
            </a:r>
          </a:p>
          <a:p xmlns:a="http://schemas.openxmlformats.org/drawingml/2006/main">
            <a:r>
              <a:t>课堂时间：27—29分钟（本页2分钟）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材料对快节奏交流有一种忧虑。我们可以理解这种忧虑，也要检验它有没有概括得太满。即时消息一定浅薄吗？一条认真回答对方困扰的语音，可能同样有分量。纸质书信一定深情吗？套话也可能出现在纸上。所以我们要区分媒介提供的条件与人实际作出的表达选择。书信往往让人等待和反复阅读，即时消息便于及时回应。请给出一个今天也可以做到的具体行动，例如记住对方说过的困难，在合适的时候询问近况。这样讨论，传统经验才与当下生活发生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邀请一位学生为即时消息举出有分量的表达例子，不要求透露私人聊天。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所给PDF第1页《文字载情，文脉浸润人心》，本页为辨析与延伸。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  评论中的判断要怎样检验</a:t>
            </a:r>
          </a:p>
          <a:p xmlns:a="http://schemas.openxmlformats.org/drawingml/2006/main">
            <a:r>
              <a:t>课堂时间：29—31分钟（本页2分钟）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所给材料还谈到方言作品的传播和突破。我们把其中的观点改写成一个可以讨论的判断：方言叙事能够产生更广泛的共情。作品里的人物和细节，可以帮助我们解释它为何可能打动人。但如果要证明不同地区的观众确实产生了共情，还需要观众反馈等作品之外的证据。更不能由一个作品推出所有小众创作必然成功。这里我们练的是评论阅读的边界：作品内的证据能支持到哪一步，哪些结论需要另外收集材料。我们欣赏一种表达，同时也可以审慎判断围绕它的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学生回答：若要证明跨地域共情，还应补充哪类材料？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所给PDF第1页，上半部与下半部《打破固有桎梏，平凡亦可闪光》。判断为教学概括，未引入实时评分或票房。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  阅读方法回看</a:t>
            </a:r>
          </a:p>
          <a:p xmlns:a="http://schemas.openxmlformats.org/drawingml/2006/main">
            <a:r>
              <a:t>课堂时间：31—32分钟（本页1分钟）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到这里，我们已经完成一次从感受到分析的练习。先找动作或物件，再解释它和人物处境的关系，最后形成有依据的主题理解。现在把这个方法转到写作。你不需要经历影片里的离散，也可以写一个自己确实留意过的生活瞬间。关键是让读信的人知道，你看见了他的具体生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口头过渡，不再新增概念。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本课方法归纳。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  写作任务：一封有细节的短信</a:t>
            </a:r>
          </a:p>
          <a:p xmlns:a="http://schemas.openxmlformats.org/drawingml/2006/main">
            <a:r>
              <a:t>课堂时间：32—34分钟（本页2分钟）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请写一封一百到一百五十字的短信，这里的短指篇幅，不限于手机消息形式。对象可以是一位长辈、亲友，也可以虚构，完全不需要公开家庭隐私。先想一个动作或物件，比如有人把你的水杯装满，或者一盏为晚归者亮着的灯。写清楚谁在什么情境下做了什么，最后给对方一句具体关心。可以直接说谢谢、想念或抱歉，不必强迫自己把所有情感藏起来。如果选择虚构，写作纸上注明虚构即可，不要把想象冒充真实经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先选对象与细节，教师说明可虚构、可不分享。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目标：以细节传情。方法：动作描写或物件描写。难点：避免只下结论。预计难度：基础到中等。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教学原创写作任务。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  一处细节怎样展开</a:t>
            </a:r>
          </a:p>
          <a:p xmlns:a="http://schemas.openxmlformats.org/drawingml/2006/main">
            <a:r>
              <a:t>课堂时间：34—36分钟（本页2分钟）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先看起点：外婆总关心我，我很感动。意思清楚，但读者暂时看不见这份关心发生在哪里。展开后的版本补进晚自习回家的时间、水杯的温度、杯沿的纸条和一句原话。它没有把事情写大，却让关心变得具体。结尾再把照顾返还给外婆，今晚也请你早点睡。这段是课堂原创示范，不是真实学生作品。请留意，它只是展示一种写法，等会儿不要照搬水杯、纸条和外婆，试着写你自己的场景。即使虚构，也要让动作和情境合乎生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请学生指出示例中最有效的一处细节，并说理由。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教学原创示范，不是电影台词或学生作品。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  独立写作</a:t>
            </a:r>
          </a:p>
          <a:p xmlns:a="http://schemas.openxmlformats.org/drawingml/2006/main">
            <a:r>
              <a:t>课堂时间：36—42分钟（本页6分钟）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接下来六分钟，请独立完成。第一分钟先把对象和细节定下来，再开始写。写到一半，可以检查一下，读者是否知道事情发生在什么情境里。最后一分钟，请找出一句只是重复情感标签的话，看看能否补成具体行动，或者直接删去。你也可以保留最需要直说的一句。此刻我会巡视，但不会要求你解释私人经历。如果你还没有思路，可以选择虚构场景：一个人在外求学，收到亲友寄来的日常物件，写信回应。注意写信的人要有自己的观察，避免把收信人写成只会付出的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0—1分钟定细节；1—5分钟成文；5—6分钟修改。巡视时只问：谁做了什么？这件事与收信人有什么关系？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学生卡住时提供场景支架，不替学生补造家庭经历。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教学活动。图：电影侨批道具展览，人民网记者王雅蝶摄，暨南大学新闻网转载，2026-05-20。https://news.jnu.edu.cn/content/202605/19/c6222.html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  同伴读者的三条反馈</a:t>
            </a:r>
          </a:p>
          <a:p xmlns:a="http://schemas.openxmlformats.org/drawingml/2006/main">
            <a:r>
              <a:t>课堂时间：42—44分钟（本页2分钟）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现在自愿交换作品。如果不愿分享，可以自评，效果同样有效。请读者先找出动作或物件，再说自己从哪里读出何种感情，最后提出一处具体修改建议。每项一分，共三分，每一个判断都要指出文字依据。这里的分数衡量的是本次写作要求完成得怎样，不评价谁的生活更动人，也不评价谁对家人更有感情。如果表达直白但恰当，依然可以得分。请把反馈说成我在这里读到了什么，而不是你写得不够感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自评或互评约一分钟，留三十秒落实一处修改。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【追问或参考回应】</a:t>
            </a:r>
          </a:p>
          <a:p xmlns:a="http://schemas.openxmlformats.org/drawingml/2006/main">
            <a:r>
              <a:t>评分：细节具体且合乎情境1分；情感能由文字支持1分；完成有针对性的修改1分。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本课形成性评价规则。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第22页  离堂前的一句话</a:t>
            </a:r>
          </a:p>
          <a:p xmlns:a="http://schemas.openxmlformats.org/drawingml/2006/main">
            <a:r>
              <a:t>课堂时间：44—45分钟（本页1分钟）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请在纸的末尾完成这句话：我会用什么细节，表达对谁的什么情感。这是今天的离堂记录，我会看你能否把细节和情感真正联系起来。今天我们读到，家书的分量常常来自具体生活：一笔寄回的钱，一个留下的位置，一次长期的照应。我们也保留了追问：善意怎样兼顾他人的选择，传统媒介怎样与今天的表达相接。愿你以后读到感人的文字，能够说清它怎样打动你；写给别人时，也能让关心落在对方的生活里。课后若愿意，可以把今天的文字交给收信人，不作统一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收集离堂记录。画面仅作结束情境，不要求据此复述剧情。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教学总结。配图为电影宣传海报，海南日报《乡音系家国》，2026-05-18。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第23页  阅读与图片来源</a:t>
            </a:r>
          </a:p>
          <a:p xmlns:a="http://schemas.openxmlformats.org/drawingml/2006/main">
            <a:r>
              <a:t>课堂时间：45—45分钟（本页0分钟）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【教师逐字稿】</a:t>
            </a:r>
          </a:p>
          <a:p xmlns:a="http://schemas.openxmlformats.org/drawingml/2006/main">
            <a:r>
              <a:t>本页供课后查阅，不计入课堂讲授时间。主要阅读来自用户所给PDF第1页所含两张报纸版面，不延展讲授第2、3页的其他热点。电影相关情节用于文学阅读，真实侨批文献与影视叙事分开说明。图片包括电影海报、宣传剧照、道具展览与真实侨批文献照片，已分别标明，版权归原权利人。课堂原创示例不作为影片原台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【活动与停顿】</a:t>
            </a:r>
          </a:p>
          <a:p xmlns:a="http://schemas.openxmlformats.org/drawingml/2006/main">
            <a:r>
              <a:t>备课与课后查阅页。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【来源与说明】</a:t>
            </a:r>
          </a:p>
          <a:p xmlns:a="http://schemas.openxmlformats.org/drawingml/2006/main">
            <a:r>
              <a:t>海南日报：https://news.hndaily.cn/h5/html5/2026-05/18/content_58485_19540937.htm</a:t>
            </a:r>
          </a:p>
          <a:p xmlns:a="http://schemas.openxmlformats.org/drawingml/2006/main">
            <a:r>
              <a:t>人民网报道（暨南大学新闻网转载）：https://news.jnu.edu.cn/content/202605/19/c6222.html</a:t>
            </a:r>
          </a:p>
          <a:p xmlns:a="http://schemas.openxmlformats.org/drawingml/2006/main">
            <a:r>
              <a:t>UNESCO：https://www.unesco.org/en/memory-world/qiaopi-and-yinxin-correspondence-and-remittance-documents-overseas-chinese?hub=1081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f3b9449d1d46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42959540a40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1a2eb82944c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7505dc96047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57132629f447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78cba316f94b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AEBA84-C3A5-45B9-AA97-89B8B40577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3EA435-39AC-48A3-9477-7760E0074B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11FF24-08B9-4AD4-8C6E-16B11EDB5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0E30C3-3369-43DA-9C98-6D53EFAA7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B8306B3-EB33-4AA9-A9AB-6D70E2DD9C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38858A-394F-4586-984B-D903D76530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D21DB5-B0E6-485A-BB37-83758C2077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0E8B25-6FCD-4D7A-B711-2C6805EBD8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6C9702-9094-4C4E-A316-9DE6802F5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488C38-F643-4351-903D-DD625E8BC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918b375062422a" /><Relationship Type="http://schemas.openxmlformats.org/officeDocument/2006/relationships/slideLayout" Target="/ppt/slideLayouts/slideLayout1.xml" Id="R34deb77c0c964b41" /><Relationship Type="http://schemas.openxmlformats.org/officeDocument/2006/relationships/slideLayout" Target="/ppt/slideLayouts/slideLayout2.xml" Id="Re77bddd023674983" /><Relationship Type="http://schemas.openxmlformats.org/officeDocument/2006/relationships/slideLayout" Target="/ppt/slideLayouts/slideLayout3.xml" Id="Red40077f8aa64602" /><Relationship Type="http://schemas.openxmlformats.org/officeDocument/2006/relationships/slideLayout" Target="/ppt/slideLayouts/slideLayout4.xml" Id="Rdf752cfbfcc648aa" /><Relationship Type="http://schemas.openxmlformats.org/officeDocument/2006/relationships/slideLayout" Target="/ppt/slideLayouts/slideLayout5.xml" Id="R6f96b522fcdf4b8a" /><Relationship Type="http://schemas.openxmlformats.org/officeDocument/2006/relationships/slideLayout" Target="/ppt/slideLayouts/slideLayout6.xml" Id="R9c26e67f663c49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eb77c0c964b41"/>
    <p:sldLayoutId xmlns:r="http://schemas.openxmlformats.org/officeDocument/2006/relationships" id="2147483650" r:id="Re77bddd023674983"/>
    <p:sldLayoutId xmlns:r="http://schemas.openxmlformats.org/officeDocument/2006/relationships" id="2147483651" r:id="Red40077f8aa64602"/>
    <p:sldLayoutId xmlns:r="http://schemas.openxmlformats.org/officeDocument/2006/relationships" id="2147483652" r:id="Rdf752cfbfcc648aa"/>
    <p:sldLayoutId xmlns:r="http://schemas.openxmlformats.org/officeDocument/2006/relationships" id="2147483653" r:id="R6f96b522fcdf4b8a"/>
    <p:sldLayoutId xmlns:r="http://schemas.openxmlformats.org/officeDocument/2006/relationships" id="2147483654" r:id="R9c26e67f663c49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38699bc5804801" /><Relationship Type="http://schemas.openxmlformats.org/officeDocument/2006/relationships/image" Target="/ppt/media/image.jpeg" Id="R5d573e2bd75548f5" /><Relationship Type="http://schemas.openxmlformats.org/officeDocument/2006/relationships/notesSlide" Target="/ppt/notesSlides/notesSlide1.xml" Id="Raceb34fa36d1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1cb199db064f64" /><Relationship Type="http://schemas.openxmlformats.org/officeDocument/2006/relationships/notesSlide" Target="/ppt/notesSlides/notesSlide2.xml" Id="R1eb0b51ae85748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63e07698e4117" /><Relationship Type="http://schemas.openxmlformats.org/officeDocument/2006/relationships/notesSlide" Target="/ppt/notesSlides/notesSlide3.xml" Id="Re5f2c41b1f0348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660ca7fd4a4701" /><Relationship Type="http://schemas.openxmlformats.org/officeDocument/2006/relationships/image" Target="/ppt/media/image2.jpeg" Id="Rf91cc9ecf1554b91" /><Relationship Type="http://schemas.openxmlformats.org/officeDocument/2006/relationships/notesSlide" Target="/ppt/notesSlides/notesSlide4.xml" Id="Re02f87e4e41f44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eb05c393a4c28" /><Relationship Type="http://schemas.openxmlformats.org/officeDocument/2006/relationships/notesSlide" Target="/ppt/notesSlides/notesSlide5.xml" Id="Rcd6451c73e5d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944a08f574aab" /><Relationship Type="http://schemas.openxmlformats.org/officeDocument/2006/relationships/image" Target="/ppt/media/image3.jpeg" Id="R503e848fe619486d" /><Relationship Type="http://schemas.openxmlformats.org/officeDocument/2006/relationships/notesSlide" Target="/ppt/notesSlides/notesSlide6.xml" Id="R6eb1376d81c743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373aa2353e4de7" /><Relationship Type="http://schemas.openxmlformats.org/officeDocument/2006/relationships/notesSlide" Target="/ppt/notesSlides/notesSlide7.xml" Id="R20f6bc633a1f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bfe0f58614181" /><Relationship Type="http://schemas.openxmlformats.org/officeDocument/2006/relationships/notesSlide" Target="/ppt/notesSlides/notesSlide8.xml" Id="R7a8a245453694b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39a91e5954f3a" /><Relationship Type="http://schemas.openxmlformats.org/officeDocument/2006/relationships/image" Target="/ppt/media/image4.jpeg" Id="R96af55a1741047df" /><Relationship Type="http://schemas.openxmlformats.org/officeDocument/2006/relationships/notesSlide" Target="/ppt/notesSlides/notesSlide9.xml" Id="R4cffb0f1d81545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4f683f9f746ca" /><Relationship Type="http://schemas.openxmlformats.org/officeDocument/2006/relationships/notesSlide" Target="/ppt/notesSlides/notesSlide10.xml" Id="Rf75860fb6d2d48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740e53a184188" /><Relationship Type="http://schemas.openxmlformats.org/officeDocument/2006/relationships/image" Target="/ppt/media/image5.jpeg" Id="R5d0fa0dd78de4685" /><Relationship Type="http://schemas.openxmlformats.org/officeDocument/2006/relationships/notesSlide" Target="/ppt/notesSlides/notesSlide11.xml" Id="R1fefff31b0594e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ddec9473845d0" /><Relationship Type="http://schemas.openxmlformats.org/officeDocument/2006/relationships/notesSlide" Target="/ppt/notesSlides/notesSlide12.xml" Id="R54ceb4dbec374f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923c14940b44aa" /><Relationship Type="http://schemas.openxmlformats.org/officeDocument/2006/relationships/notesSlide" Target="/ppt/notesSlides/notesSlide13.xml" Id="Rb6b75f397a1a408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8473a55dd4b78" /><Relationship Type="http://schemas.openxmlformats.org/officeDocument/2006/relationships/notesSlide" Target="/ppt/notesSlides/notesSlide14.xml" Id="R1da237e5d3af4e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6b0fdc7114eae" /><Relationship Type="http://schemas.openxmlformats.org/officeDocument/2006/relationships/notesSlide" Target="/ppt/notesSlides/notesSlide15.xml" Id="Rfd7c236c3a4b47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aaf6021c394a33" /><Relationship Type="http://schemas.openxmlformats.org/officeDocument/2006/relationships/notesSlide" Target="/ppt/notesSlides/notesSlide16.xml" Id="Rb924360d76254d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3bd07eedd4119" /><Relationship Type="http://schemas.openxmlformats.org/officeDocument/2006/relationships/notesSlide" Target="/ppt/notesSlides/notesSlide17.xml" Id="R67ebc0333bb74a0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86337d0864c90" /><Relationship Type="http://schemas.openxmlformats.org/officeDocument/2006/relationships/notesSlide" Target="/ppt/notesSlides/notesSlide18.xml" Id="R765f08cffd7d41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cc7629ba54fab" /><Relationship Type="http://schemas.openxmlformats.org/officeDocument/2006/relationships/notesSlide" Target="/ppt/notesSlides/notesSlide19.xml" Id="R992f10f7aac749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177bf0a11e409c" /><Relationship Type="http://schemas.openxmlformats.org/officeDocument/2006/relationships/image" Target="/ppt/media/image6.jpeg" Id="R94d7db3d92fd4b7d" /><Relationship Type="http://schemas.openxmlformats.org/officeDocument/2006/relationships/notesSlide" Target="/ppt/notesSlides/notesSlide20.xml" Id="R7bbfea98772c45b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c6f589e7b4002" /><Relationship Type="http://schemas.openxmlformats.org/officeDocument/2006/relationships/notesSlide" Target="/ppt/notesSlides/notesSlide21.xml" Id="Re7c8b30e700440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0191c24df74274" /><Relationship Type="http://schemas.openxmlformats.org/officeDocument/2006/relationships/image" Target="/ppt/media/image7.jpeg" Id="Rbabe742db0224f67" /><Relationship Type="http://schemas.openxmlformats.org/officeDocument/2006/relationships/notesSlide" Target="/ppt/notesSlides/notesSlide22.xml" Id="Rc6db1a47ee5643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e0acc188b48f3" /><Relationship Type="http://schemas.openxmlformats.org/officeDocument/2006/relationships/notesSlide" Target="/ppt/notesSlides/notesSlide23.xml" Id="R960a5a6cd2b843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972BAEA-8112-4823-885D-1F42E682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高中语文选修课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F43024D-BE63-46EB-AFD0-78CCACE0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给阿嬷的情书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8ECB6F3-09F0-425C-9604-4D287B0A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676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defPPr>
            <a:lvl1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1pPr>
            <a:lvl2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2pPr>
            <a:lvl3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3pPr>
            <a:lvl4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4pPr>
            <a:lvl5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5pPr>
            <a:lvl6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6pPr>
            <a:lvl7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7pPr>
            <a:lvl8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8pPr>
            <a:lvl9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775" b="0">
                <a:solidFill>
                  <a:srgbClr val="A14B37"/>
                </a:solidFill>
                <a:latin typeface="SimSun"/>
                <a:ea typeface="SimSun"/>
                <a:cs typeface="SimSun"/>
              </a:defRPr>
            </a:pPr>
            <a:r>
              <a:rPr sz="2775" b="0">
                <a:solidFill>
                  <a:srgbClr val="A14B37"/>
                </a:solidFill>
                <a:latin typeface="SimSun"/>
                <a:ea typeface="SimSun"/>
                <a:cs typeface="SimSun"/>
              </a:rPr>
              <a:t>侨批里的日常与深情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0268BE2-7CAE-48C2-91E2-DEE3D98C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一封信，怎样写出一个人的牵挂？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5B8C0-D2D2-4D3E-B2A8-2FD19F1DA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573e2bd75548f5"/>
          <a:stretch xmlns:a="http://schemas.openxmlformats.org/drawingml/2006/main"/>
        </p:blipFill>
        <p:spPr>
          <a:xfrm xmlns:a="http://schemas.openxmlformats.org/drawingml/2006/main">
            <a:off x="8477250" y="1109663"/>
            <a:ext cx="2952750" cy="4429125"/>
          </a:xfrm>
          <a:prstGeom xmlns:a="http://schemas.openxmlformats.org/drawingml/2006/main" prst="rect">
            <a:avLst/>
          </a:prstGeom>
        </p:spPr>
      </p:pic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2AF73750-648F-41F0-A3A3-B9A0E7FA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38853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E2CF7796-0D59-4B59-B1E7-B7417DCE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一条消息，一封家书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2A4D9A52-2514-474D-A85A-F2BFF378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429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defPPr>
            <a:lvl1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1pPr>
            <a:lvl2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2pPr>
            <a:lvl3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3pPr>
            <a:lvl4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4pPr>
            <a:lvl5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5pPr>
            <a:lvl6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6pPr>
            <a:lvl7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7pPr>
            <a:lvl8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8pPr>
            <a:lvl9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5D6760"/>
                </a:solidFill>
                <a:latin typeface="SimSun"/>
                <a:ea typeface="SimSun"/>
                <a:cs typeface="SimSun"/>
              </a:rPr>
              <a:t>我很好，你别担心。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666C0F2-BF82-401D-8EA8-0EE610D7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429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defPPr>
            <a:lvl1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1pPr>
            <a:lvl2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2pPr>
            <a:lvl3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3pPr>
            <a:lvl4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4pPr>
            <a:lvl5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5pPr>
            <a:lvl6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6pPr>
            <a:lvl7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7pPr>
            <a:lvl8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8pPr>
            <a:lvl9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今天收工晚，饭还热着。</a:t>
            </a:r>
          </a:p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你上回说膝盖疼，天凉记得加衣。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38A2B3A-A8C3-4868-8F59-AAFD3D01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哪一种表达让你更能感到牵挂？</a:t>
            </a:r>
          </a:p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说出一个具体词语。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1F257E5-A552-4889-9D1C-62EC1CBF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5251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6506A57E-4521-4769-9981-D409F94E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今天的学习任务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D2C8BA6-5F19-4899-A837-78200732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从材料里找出支撑判断的细节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74BFD4E-69DE-47F3-8CC5-BCE4B5BB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解释日常语言怎样表达深情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341D43A-A750-4768-992A-1665EAB5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写一段有细节、有分寸的家书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E67AAB3-5372-4ACA-81B0-24C69FD1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完成标准：每一个情感判断，都有文字依据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5BAFB17-D31B-4DDF-A0D7-72313861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44640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535762E6-7F55-41C9-A09B-E1DC26CB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侨批连接着什么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6F5B4-7EC5-4067-80FA-286E8D6A53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1cc9ecf1554b91"/>
          <a:stretch xmlns:a="http://schemas.openxmlformats.org/drawingml/2006/main"/>
        </p:blipFill>
        <p:spPr>
          <a:xfrm xmlns:a="http://schemas.openxmlformats.org/drawingml/2006/main">
            <a:off x="8515350" y="2576513"/>
            <a:ext cx="2857500" cy="2143125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C874B7D6-8729-46D9-BD33-85E0CE18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海外侨胞与故乡家人之间的书信、汇款等文献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482B43D1-0837-4C51-8845-D3095779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钱款照应生活，文字传递消息与情感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B2B3BE0F-2836-4AE4-B4FD-1A6F8509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2013 年，侨批和银信列入《世界记忆名录》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2900456E-9D5D-4A1F-B8BD-3B12FA07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读信时，也在读普通人的生活史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79471356-2004-435F-88C5-B42053E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16241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8E0367E0-2A90-4C86-88DF-BB73E512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三个人与一段漫长的守望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4B8B6DE7-CF62-47D7-8D83-43B4976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44C47F7-7F9C-495E-A4FD-DC26A42E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847850"/>
            <a:ext cx="938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郑木生：远赴南洋谋生，寄信、寄钱回乡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FD203ED-C82A-4D9D-9BD8-248022AB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5718692E-0D76-4FEF-8934-CBCD917A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938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叶淑柔：留在故乡，持家育儿，等待消息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2E6A815-DF2A-4FC6-A3C4-61E13EB9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84403FD8-FD16-400E-AEDA-D3D6DC2D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938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谢南枝：木生离世后，以他的名义继续寄信、寄钱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C0D35FF6-5757-475C-A47C-4688812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情节梗概：依据所给评论材料整理，涉及关键剧情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332EDA42-AAA0-4CC1-B3BC-23A9968FE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53885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5B04F29F-F5DC-4182-A60A-E095C20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画面中的读信人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77EAF-F6B1-407F-941D-4DFA81C333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e848fe619486d"/>
          <a:stretch xmlns:a="http://schemas.openxmlformats.org/drawingml/2006/main"/>
        </p:blipFill>
        <p:spPr>
          <a:xfrm xmlns:a="http://schemas.openxmlformats.org/drawingml/2006/main">
            <a:off x="742950" y="1574531"/>
            <a:ext cx="7524750" cy="4232813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6BC4AB7D-DE2F-47A9-B967-3E7D80D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762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读信，需要谁的声音？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A456530E-FF7C-4C09-8917-13C451D0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76625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画面里的动作怎样让信纸与人物产生联系？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BE7C3F27-63EE-445E-985F-9F17E375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3340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电影宣传剧照，不是历史影像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C05DD6CB-3804-49F0-8944-E99E77D3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6458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03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E85FBAF8-EF42-483A-B4FE-28C784A9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细读一：一封封，一笔笔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E2956FC-E61C-4ABB-B517-C3E791A5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038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defPPr>
            <a:lvl1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1pPr>
            <a:lvl2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2pPr>
            <a:lvl3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3pPr>
            <a:lvl4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4pPr>
            <a:lvl5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5pPr>
            <a:lvl6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6pPr>
            <a:lvl7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7pPr>
            <a:lvl8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8pPr>
            <a:lvl9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45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“用一封封家书、一笔笔银钱，</a:t>
            </a:r>
          </a:p>
          <a:p xmlns:a="http://schemas.openxmlformats.org/drawingml/2006/main">
            <a: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45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跨越万水千山，</a:t>
            </a:r>
          </a:p>
          <a:p xmlns:a="http://schemas.openxmlformats.org/drawingml/2006/main">
            <a:pPr>
              <a:defRPr sz="34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45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撑起远方一个家庭的希望。”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D02F012-96E5-4F92-A6CA-7E2EE846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圈出反复出现的量词。</a:t>
            </a:r>
          </a:p>
          <a:p xmlns:a="http://schemas.openxmlformats.org/drawingml/2006/main">
            <a:pPr>
              <a:def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它们写出了怎样的时间与行动？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4F9284A-8D07-4F0E-8C4E-A97FD21B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6871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0EA8492-679D-4F79-860C-A101EB1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情感判断需要文字依据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8A22779-A8C5-4F58-8A47-F030EE86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429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defPPr>
            <a:lvl1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1pPr>
            <a:lvl2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2pPr>
            <a:lvl3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3pPr>
            <a:lvl4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4pPr>
            <a:lvl5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5pPr>
            <a:lvl6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6pPr>
            <a:lvl7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7pPr>
            <a:lvl8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8pPr>
            <a:lvl9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5D6760"/>
                </a:solidFill>
                <a:latin typeface="SimSun"/>
                <a:ea typeface="SimSun"/>
                <a:cs typeface="SimSun"/>
              </a:rPr>
              <a:t>感受：谢南枝很善良，让人感动。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DD676A0-6CEF-48F5-B1D5-CBC35C88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429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defPPr>
            <a:lvl1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1pPr>
            <a:lvl2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2pPr>
            <a:lvl3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3pPr>
            <a:lvl4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4pPr>
            <a:lvl5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5pPr>
            <a:lvl6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6pPr>
            <a:lvl7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7pPr>
            <a:lvl8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8pPr>
            <a:lvl9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分析：材料写她长期寄信、寄钱。</a:t>
            </a:r>
          </a:p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重复的量词突出持续付出，</a:t>
            </a:r>
          </a:p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这使“善良”具有具体的行动依据。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6C6F5A4-9A71-484E-9168-1E48C67D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词句或细节 ＋ 表达作用 ＋ 人物理解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D6B784A-B13D-4F00-AB26-3CCE1F6B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66584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ACF579B-5B49-48AB-B9A1-781CDFA3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细读二：留给远方的一碗饭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8DC-E580-404E-AF2B-1F94B96303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f55a1741047df"/>
          <a:stretch xmlns:a="http://schemas.openxmlformats.org/drawingml/2006/main"/>
        </p:blipFill>
        <p:spPr>
          <a:xfrm xmlns:a="http://schemas.openxmlformats.org/drawingml/2006/main">
            <a:off x="742950" y="1530310"/>
            <a:ext cx="3143250" cy="4235529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1B48AEC1-8CB2-4463-BBC1-0AA9F78C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5260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材料提到“冬至留饭”的生活细节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197CE1EA-F7D4-4250-AD74-B3095AE2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6225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饭是日常食物，也是团聚的一个位置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691CD860-0E91-4DB2-BA8C-037CC40E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90950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未直说的感情，读者怎样读出来？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B5F2D8C9-44FF-4177-BEE9-026F5BB2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62550"/>
            <a:ext cx="685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本文本线索来自评论材料，配图为宣传图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C18A2275-CC8B-4C00-A14B-A6F56A10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47794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EFCECCC3-7EA6-48D7-B4A1-CF0D2E41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直说与含蓄表达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7DC1DF7-A1F7-4439-8B11-E37308C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429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defPPr>
            <a:lvl1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1pPr>
            <a:lvl2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2pPr>
            <a:lvl3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3pPr>
            <a:lvl4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4pPr>
            <a:lvl5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5pPr>
            <a:lvl6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6pPr>
            <a:lvl7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7pPr>
            <a:lvl8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8pPr>
            <a:lvl9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5D6760"/>
                </a:solidFill>
                <a:latin typeface="SimSun"/>
                <a:ea typeface="SimSun"/>
                <a:cs typeface="SimSun"/>
              </a:rPr>
              <a:t>我很想你，希望你早点回来。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8C57C23-FD5F-4710-906A-27CC2FCF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429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defPPr>
            <a:lvl1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1pPr>
            <a:lvl2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2pPr>
            <a:lvl3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3pPr>
            <a:lvl4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4pPr>
            <a:lvl5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5pPr>
            <a:lvl6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6pPr>
            <a:lvl7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7pPr>
            <a:lvl8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8pPr>
            <a:lvl9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你爱坐的那把椅子，</a:t>
            </a:r>
          </a:p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我还放在门边。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7701485-9258-4B08-8A4C-D205D636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后一段把情感放在哪里？</a:t>
            </a:r>
          </a:p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含蓄表达是否总比直说更好？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67BFED9-3456-407C-89A5-1BD68AC6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20571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606AB866-FCD0-41B0-9F30-4E5754F5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海报里的距离与联系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CA2B9-C636-4555-973F-5B780673E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0fa0dd78de4685"/>
          <a:stretch xmlns:a="http://schemas.openxmlformats.org/drawingml/2006/main"/>
        </p:blipFill>
        <p:spPr>
          <a:xfrm xmlns:a="http://schemas.openxmlformats.org/drawingml/2006/main">
            <a:off x="8515350" y="2576513"/>
            <a:ext cx="2857500" cy="2143125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E6C98803-D942-4224-B3ED-C6284DE1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人物分处画面不同位置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022B2EC9-B8D1-4559-98F9-1861BE95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信纸与花瓣连接起视觉空间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F58C620E-086B-48C2-AF8A-F2E77E36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画面观察：我看见……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65412585-3A01-406D-9C70-580B036A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解释推断：这可能意味着……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8974BD40-BB83-4E0D-B531-7642D4FD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04144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08ABA71E-7AA8-4A10-878E-98E45804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一次选择，两个需要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FD4CF0C-B37F-47EA-BD66-749AF121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谢南枝继续寄信、寄钱，守护了什么？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45EBE08-A240-4902-BFB0-F72C709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隐瞒木生离世的消息，可能留下什么代价？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5DA1561-700E-43A2-9465-E9208EAA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讨论依据：人物处境、行动后果、被隐瞒者的选择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1608666-0DA5-422F-A88E-A0EA73B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理解文学人物，也保留对选择的追问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88FD8EF-4278-4B0E-9644-A031A955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0580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26A646C1-EC2B-4B22-AF9A-53A349F0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家国根脉落在日常行动里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5578E55-5570-42AA-9EA2-18AA1020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寄钱回乡：对远方家人的照应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6CB5ADE-F996-40FD-A608-01F96BCA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教孩子中文、诵读古诗：语言与记忆的延续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B4358B7-6584-4DDC-ACCA-365066FB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助学、支持家乡建设：对共同生活的承担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F272383-EABA-4C2D-BF98-94252E4E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从具体行动出发，说明文化情感怎样发生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B084385-2757-4B3A-803A-854076B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37378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03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FC983BEA-BF1F-481A-B4AB-78BC05FB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古诗中的家书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4C41FF4-C5D2-4D51-8820-C139CCC4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057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defPPr>
            <a:lvl1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1pPr>
            <a:lvl2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2pPr>
            <a:lvl3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3pPr>
            <a:lvl4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4pPr>
            <a:lvl5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5pPr>
            <a:lvl6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6pPr>
            <a:lvl7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7pPr>
            <a:lvl8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8pPr>
            <a:lvl9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00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“烽火连三月，家书抵万金。”</a:t>
            </a:r>
          </a:p>
          <a:p xmlns:a="http://schemas.openxmlformats.org/drawingml/2006/main">
            <a: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00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杜甫《春望》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B7A935A-066B-4013-90DB-E7BE83E6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572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defPPr>
            <a:lvl1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1pPr>
            <a:lvl2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2pPr>
            <a:lvl3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3pPr>
            <a:lvl4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4pPr>
            <a:lvl5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5pPr>
            <a:lvl6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6pPr>
            <a:lvl7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7pPr>
            <a:lvl8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8pPr>
            <a:lvl9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00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“复恐匆匆说不尽，行人临发又开封。”</a:t>
            </a:r>
          </a:p>
          <a:p xmlns:a="http://schemas.openxmlformats.org/drawingml/2006/main">
            <a:pPr>
              <a:defRPr sz="30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00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张籍《秋思》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74DDD02-A4F7-47E0-BCBD-84A9F66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一处写家书的分量，一处写寄信人的动作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1B537BE-55FA-4DC5-BE74-4FF5FB80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756218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5040C5E-48AD-4E58-B778-F695E506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书信与即时消息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7528141-D552-4677-9BFB-F0906360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429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defPPr>
            <a:lvl1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1pPr>
            <a:lvl2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2pPr>
            <a:lvl3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3pPr>
            <a:lvl4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4pPr>
            <a:lvl5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5pPr>
            <a:lvl6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6pPr>
            <a:lvl7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7pPr>
            <a:lvl8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8pPr>
            <a:lvl9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5D6760"/>
                </a:solidFill>
                <a:latin typeface="SimSun"/>
                <a:ea typeface="SimSun"/>
                <a:cs typeface="SimSun"/>
              </a:rPr>
              <a:t>书信：往往需要等待，文字可反复保存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5FA1DF8-9165-4917-B708-8F3B8A6B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429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defPPr>
            <a:lvl1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1pPr>
            <a:lvl2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2pPr>
            <a:lvl3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3pPr>
            <a:lvl4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4pPr>
            <a:lvl5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5pPr>
            <a:lvl6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6pPr>
            <a:lvl7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7pPr>
            <a:lvl8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8pPr>
            <a:lvl9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即时消息：反馈迅速，也能保存声音与图像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81DA14C-AF96-4864-B0B9-6F418875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媒介改变了表达的条件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D277E4A-2D9F-4164-B7D4-D8AA0F4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429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认真回应与具体关心，都可以发生在今天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0DFF5D1-36DE-4664-BEA0-D65CB4FC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691846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4EC727B3-86A3-4717-9529-389036EE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评论中的判断要怎样检验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46B8B7F-C648-4973-B75B-DDAFE8C6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“方言叙事能够产生更广泛的共情”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759EEEC-816A-44F1-9BE8-4EAB687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作品内的证据：人物行动、生活细节、情感关系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AB2FDD8-0823-4D6B-AE74-DDFBC80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还需要的证据：不同观众的具体阅读与观看反馈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9028A8B-1F69-42E5-BF4F-EB44308F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一个作品的成功，不能证明所有小众创作都会成功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8463377C-346E-4EF1-B4C5-5721F4F6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248440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253E3C06-9564-499D-840F-8AFDD30A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阅读方法回看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FB6A149-9CBE-4EB7-8BC1-04C042F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抓住一个动作或物件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2AF3053-CD9E-4D73-A8F4-2AECF294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解释它怎样连接人物与处境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9289028-E101-465E-B76D-FC8D778E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让主题建立在具体证据上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3E2415-EE47-4D3F-9F18-82A03172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把读到的方法，写进自己的家书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3D20BA9E-3CD3-4F0A-BDE1-570EFEE0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619232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F893B007-779C-4231-9E24-653BE178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写作任务：一封有细节的短信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A962D210-3A9A-4878-BF9F-F2AE77FA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对象：一位长辈、亲友，或虚构的收信人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6B4769D-F0E6-4A5F-8702-7BDD3473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内容：一个真实记忆，或明确虚构的生活场景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F08BA10-01D7-4B53-A97E-FE2E88FD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要求：100—150 字，至少一个动作或物件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DA30A3F-1D8D-47A7-8266-77608A31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结尾写一句具体关心，允许直说情感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DC8F1CB-2194-49F0-87F7-AE79559E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223294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CD46A2C0-64F8-41B9-AA43-AEEF9A14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一处细节怎样展开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876A56D-7890-4DCC-8A36-E2CF9E29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429875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defPPr>
            <a:lvl1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1pPr>
            <a:lvl2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2pPr>
            <a:lvl3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3pPr>
            <a:lvl4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4pPr>
            <a:lvl5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5pPr>
            <a:lvl6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6pPr>
            <a:lvl7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7pPr>
            <a:lvl8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8pPr>
            <a:lvl9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D6760"/>
                </a:solidFill>
                <a:latin typeface="SimSun"/>
                <a:ea typeface="SimSun"/>
                <a:cs typeface="SimSun"/>
              </a:defRPr>
            </a:pPr>
            <a:r>
              <a:rPr sz="2475" b="0">
                <a:solidFill>
                  <a:srgbClr val="5D6760"/>
                </a:solidFill>
                <a:latin typeface="SimSun"/>
                <a:ea typeface="SimSun"/>
                <a:cs typeface="SimSun"/>
              </a:rPr>
              <a:t>起点：外婆总关心我，我很感动。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6C65360-7B68-4344-B9CB-638EB05A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429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defPPr>
            <a:lvl1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1pPr>
            <a:lvl2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2pPr>
            <a:lvl3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3pPr>
            <a:lvl4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4pPr>
            <a:lvl5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5pPr>
            <a:lvl6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6pPr>
            <a:lvl7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7pPr>
            <a:lvl8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8pPr>
            <a:lvl9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展开：晚自习回家，桌上的水杯还温着。</a:t>
            </a:r>
          </a:p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杯沿压着一张纸：别急，喝完再写。</a:t>
            </a:r>
          </a:p>
          <a:p xmlns:a="http://schemas.openxmlformats.org/drawingml/2006/main">
            <a:pPr>
              <a:defRPr sz="2700" b="0">
                <a:solidFill>
                  <a:srgbClr val="203E39"/>
                </a:solidFill>
                <a:latin typeface="SimSun"/>
                <a:ea typeface="SimSun"/>
                <a:cs typeface="SimSun"/>
              </a:defRPr>
            </a:pPr>
            <a:r>
              <a:rPr sz="2700" b="0">
                <a:solidFill>
                  <a:srgbClr val="203E39"/>
                </a:solidFill>
                <a:latin typeface="SimSun"/>
                <a:ea typeface="SimSun"/>
                <a:cs typeface="SimSun"/>
              </a:rPr>
              <a:t>外婆，今晚也请你早点睡。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CF3727B-C342-4A8D-B7A6-73794E8E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95900"/>
            <a:ext cx="10429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看得见的动作，能读出的关心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44CFD65-46B6-45DF-96CC-E8171CF4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101824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03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F86F79D3-DC8B-42D2-B810-9A5BE34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独立写作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6DA36-CBDC-4E2A-BCD9-BA2DD8D8B5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7db3d92fd4b7d"/>
          <a:stretch xmlns:a="http://schemas.openxmlformats.org/drawingml/2006/main"/>
        </p:blipFill>
        <p:spPr>
          <a:xfrm xmlns:a="http://schemas.openxmlformats.org/drawingml/2006/main">
            <a:off x="8096250" y="2369344"/>
            <a:ext cx="3333750" cy="2500313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EC0AD292-2D4B-42EA-8985-807810C9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defPPr>
            <a:lvl1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1pPr>
            <a:lvl2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2pPr>
            <a:lvl3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3pPr>
            <a:lvl4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4pPr>
            <a:lvl5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5pPr>
            <a:lvl6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6pPr>
            <a:lvl7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7pPr>
            <a:lvl8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8pPr>
            <a:lvl9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540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540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6 分钟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891F2CD8-D10B-461D-8724-6EFA5E80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写给一个具体的人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69D6362B-6CB5-4DAD-85DB-6CA4C41A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保留一个动作或物件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3DBFAC7B-02D1-464B-893C-DFCD485A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让一句关心落到生活里</a:t>
            </a:r>
          </a:p>
        </p:txBody>
      </p:sp>
      <p:sp>
        <p:nvSpPr>
          <p:cNvPr id="8" name="text-5">
            <a:extLst xmlns:a="http://schemas.openxmlformats.org/drawingml/2006/main">
              <a:ext uri="{FF2B5EF4-FFF2-40B4-BE49-F238E27FC236}">
                <a16:creationId xmlns:a16="http://schemas.microsoft.com/office/drawing/2014/main" id="{7D65B37E-EBCB-407F-AC99-61866A9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864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先写完，再删去没有作用的套话</a:t>
            </a:r>
          </a:p>
        </p:txBody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E2F1151F-FC6C-43FD-BBED-D5B562B0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5532664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3246D472-2EFF-442A-95B1-FDD4138D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同伴读者的三条反馈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EB47FEE-9DB3-415A-AB57-CE82226D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我看见了：一个具体动作或物件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6353039-4574-4379-AE60-10D7FABD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我读出了：一种有依据的情感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8C7E87F-2ED4-409B-AE12-A2F739D1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我建议改：一处空泛或不清楚的表达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0FFE49C-3C81-49E6-BCB6-87DA580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14B37"/>
                </a:solidFill>
                <a:latin typeface="Microsoft YaHei"/>
                <a:ea typeface="Microsoft YaHei"/>
                <a:cs typeface="Microsoft YaHei"/>
              </a:rPr>
              <a:t>每项 1 分，共 3 分，附一处文字依据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624519E8-4A25-4680-AC92-2F21F1E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177085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203E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99C88C55-F8CE-482C-A2A3-DBF010FB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离堂前的一句话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F3D2B-3CD5-4EBC-8002-750690BC0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e742db0224f67"/>
          <a:stretch xmlns:a="http://schemas.openxmlformats.org/drawingml/2006/main"/>
        </p:blipFill>
        <p:spPr>
          <a:xfrm xmlns:a="http://schemas.openxmlformats.org/drawingml/2006/main">
            <a:off x="8972550" y="1738576"/>
            <a:ext cx="2457450" cy="3704698"/>
          </a:xfrm>
          <a:prstGeom xmlns:a="http://schemas.openxmlformats.org/drawingml/2006/main" prst="rect">
            <a:avLst/>
          </a:prstGeom>
        </p:spPr>
      </p:pic>
      <p:sp>
        <p:nvSpPr>
          <p:cNvPr id="4" name="text-1">
            <a:extLst xmlns:a="http://schemas.openxmlformats.org/drawingml/2006/main">
              <a:ext uri="{FF2B5EF4-FFF2-40B4-BE49-F238E27FC236}">
                <a16:creationId xmlns:a16="http://schemas.microsoft.com/office/drawing/2014/main" id="{46DBD72E-14D6-4B96-9E25-1A6F93C8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43075"/>
            <a:ext cx="771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defPPr>
            <a:lvl1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1pPr>
            <a:lvl2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2pPr>
            <a:lvl3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3pPr>
            <a:lvl4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4pPr>
            <a:lvl5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5pPr>
            <a:lvl6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6pPr>
            <a:lvl7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7pPr>
            <a:lvl8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8pPr>
            <a:lvl9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>
              <a:defRPr sz="3750" b="0">
                <a:solidFill>
                  <a:srgbClr val="F4EFE4"/>
                </a:solidFill>
                <a:latin typeface="SimSun"/>
                <a:ea typeface="SimSun"/>
                <a:cs typeface="SimSun"/>
              </a:defRPr>
            </a:pPr>
            <a:r>
              <a:rPr sz="3750" b="0">
                <a:solidFill>
                  <a:srgbClr val="F4EFE4"/>
                </a:solidFill>
                <a:latin typeface="SimSun"/>
                <a:ea typeface="SimSun"/>
                <a:cs typeface="SimSun"/>
              </a:rPr>
              <a:t>深情怎样被读见？</a:t>
            </a:r>
          </a:p>
        </p:txBody>
      </p:sp>
      <p:sp>
        <p:nvSpPr>
          <p:cNvPr id="5" name="text-2">
            <a:extLst xmlns:a="http://schemas.openxmlformats.org/drawingml/2006/main">
              <a:ext uri="{FF2B5EF4-FFF2-40B4-BE49-F238E27FC236}">
                <a16:creationId xmlns:a16="http://schemas.microsoft.com/office/drawing/2014/main" id="{F7B554EB-4162-4845-88A3-E9FB9849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771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请写：我会用________这个细节，</a:t>
            </a:r>
          </a:p>
          <a:p xmlns:a="http://schemas.openxmlformats.org/drawingml/2006/main">
            <a:pPr>
              <a:def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0">
                <a:solidFill>
                  <a:srgbClr val="F4EFE4"/>
                </a:solidFill>
                <a:latin typeface="Microsoft YaHei"/>
                <a:ea typeface="Microsoft YaHei"/>
                <a:cs typeface="Microsoft YaHei"/>
              </a:rPr>
              <a:t>表达对________的________。</a:t>
            </a:r>
          </a:p>
        </p:txBody>
      </p:sp>
      <p:sp>
        <p:nvSpPr>
          <p:cNvPr id="6" name="text-3">
            <a:extLst xmlns:a="http://schemas.openxmlformats.org/drawingml/2006/main">
              <a:ext uri="{FF2B5EF4-FFF2-40B4-BE49-F238E27FC236}">
                <a16:creationId xmlns:a16="http://schemas.microsoft.com/office/drawing/2014/main" id="{694E9463-DD45-484F-BE10-3B0CFA0E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课后可选：把今天的文字认真交给收信人</a:t>
            </a:r>
          </a:p>
        </p:txBody>
      </p:sp>
      <p:sp>
        <p:nvSpPr>
          <p:cNvPr id="7" name="text-4">
            <a:extLst xmlns:a="http://schemas.openxmlformats.org/drawingml/2006/main">
              <a:ext uri="{FF2B5EF4-FFF2-40B4-BE49-F238E27FC236}">
                <a16:creationId xmlns:a16="http://schemas.microsoft.com/office/drawing/2014/main" id="{AEE1DDB4-D097-4846-8043-F03C09A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8D2B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949637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EF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16F8CA7-1B70-46B0-B281-5D377FBE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阅读与图片来源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00D49CA-322F-4FF1-BB6B-3AE6F49C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E39"/>
                </a:solidFill>
                <a:latin typeface="Microsoft YaHei"/>
                <a:ea typeface="Microsoft YaHei"/>
                <a:cs typeface="Microsoft YaHei"/>
              </a:rPr>
              <a:t>主要材料：所给《选修课〈阿嬷的情书〉》PDF 第1页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2F801AC-333C-48CA-BFAB-96B69AE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6025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原版面：《语文导报》高中版，2026年7月6日，第02—03版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607AE03-1F59-4ED0-BE8C-2DB989C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背景补充：UNESCO 侨批和银信条目（2013年入选）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1C2909FE-C9B4-42E8-BB97-28582ACC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电影海报：海南日报；剧照及文献照片：人民网报道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F59ADB1-0BE9-4CA3-B56B-48488D41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原创短信、示例与课堂问题均已在备注中说明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EEAFBF7C-4EE0-41C7-A1EF-E2202406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760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102742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2026-10-28T13:16:17.7790000Z</dcterms:created>
  <dcterms:modified xsi:type="dcterms:W3CDTF">2026-10-28T13:16:17.7790000Z</dcterms:modified>
</coreProperties>
</file>